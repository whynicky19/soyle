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0c0687b7454689" /><Relationship Type="http://schemas.openxmlformats.org/officeDocument/2006/relationships/extended-properties" Target="/docProps/app.xml" Id="R4e7402b7c12d4445" /><Relationship Type="http://schemas.openxmlformats.org/officeDocument/2006/relationships/officeDocument" Target="/ppt/presentation.xml" Id="Rdb8cdf59f5124c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eec2a81a7a448a"/>
  </p:sldMasterIdLst>
  <p:notesMasterIdLst>
    <p:notesMasterId xmlns:r="http://schemas.openxmlformats.org/officeDocument/2006/relationships" r:id="Raa3752edc05740e2"/>
  </p:notesMasterIdLst>
  <p:sldIdLst>
    <p:sldId xmlns:r="http://schemas.openxmlformats.org/officeDocument/2006/relationships" id="256" r:id="Rd328b85a67264cad"/>
    <p:sldId xmlns:r="http://schemas.openxmlformats.org/officeDocument/2006/relationships" id="257" r:id="Ra28911532dde41ba"/>
    <p:sldId xmlns:r="http://schemas.openxmlformats.org/officeDocument/2006/relationships" id="258" r:id="R48662ba3706c49d7"/>
    <p:sldId xmlns:r="http://schemas.openxmlformats.org/officeDocument/2006/relationships" id="259" r:id="R51e617f021904c55"/>
    <p:sldId xmlns:r="http://schemas.openxmlformats.org/officeDocument/2006/relationships" id="260" r:id="Rbf804f736a2e42dd"/>
    <p:sldId xmlns:r="http://schemas.openxmlformats.org/officeDocument/2006/relationships" id="261" r:id="Rd4201497deae40e1"/>
    <p:sldId xmlns:r="http://schemas.openxmlformats.org/officeDocument/2006/relationships" id="262" r:id="Raacad45d9d0d4df0"/>
    <p:sldId xmlns:r="http://schemas.openxmlformats.org/officeDocument/2006/relationships" id="263" r:id="Rff54cbf2c35746d5"/>
    <p:sldId xmlns:r="http://schemas.openxmlformats.org/officeDocument/2006/relationships" id="264" r:id="Reaeccc4285f043c2"/>
    <p:sldId xmlns:r="http://schemas.openxmlformats.org/officeDocument/2006/relationships" id="265" r:id="Rbc0583985fa94bc8"/>
    <p:sldId xmlns:r="http://schemas.openxmlformats.org/officeDocument/2006/relationships" id="266" r:id="R3f40b75f58374f86"/>
    <p:sldId xmlns:r="http://schemas.openxmlformats.org/officeDocument/2006/relationships" id="267" r:id="R4c7a5e0673504aa1"/>
    <p:sldId xmlns:r="http://schemas.openxmlformats.org/officeDocument/2006/relationships" id="268" r:id="Rdf49ffe354ec4bce"/>
    <p:sldId xmlns:r="http://schemas.openxmlformats.org/officeDocument/2006/relationships" id="269" r:id="R5ab789d075584980"/>
    <p:sldId xmlns:r="http://schemas.openxmlformats.org/officeDocument/2006/relationships" id="270" r:id="Rfe427fcb61a2495e"/>
    <p:sldId xmlns:r="http://schemas.openxmlformats.org/officeDocument/2006/relationships" id="271" r:id="Rb59e4e2f038048c9"/>
    <p:sldId xmlns:r="http://schemas.openxmlformats.org/officeDocument/2006/relationships" id="272" r:id="R5866e42042aa47bf"/>
    <p:sldId xmlns:r="http://schemas.openxmlformats.org/officeDocument/2006/relationships" id="273" r:id="R4db9e1867f0246c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599381ec8e483a" /><Relationship Type="http://schemas.openxmlformats.org/officeDocument/2006/relationships/slideMaster" Target="/ppt/slideMasters/slideMaster1.xml" Id="Re4eec2a81a7a448a" /><Relationship Type="http://schemas.openxmlformats.org/officeDocument/2006/relationships/notesMaster" Target="/ppt/notesMasters/notesMaster1.xml" Id="Raa3752edc05740e2" /><Relationship Type="http://schemas.openxmlformats.org/officeDocument/2006/relationships/presProps" Target="/ppt/presProps.xml" Id="R85e50da0231c43c1" /><Relationship Type="http://schemas.openxmlformats.org/officeDocument/2006/relationships/tableStyles" Target="/ppt/tableStyles.xml" Id="R4d55efea67e74c51" /><Relationship Type="http://schemas.openxmlformats.org/officeDocument/2006/relationships/slide" Target="/ppt/slides/slide1.xml" Id="Rd328b85a67264cad" /><Relationship Type="http://schemas.openxmlformats.org/officeDocument/2006/relationships/slide" Target="/ppt/slides/slide2.xml" Id="Ra28911532dde41ba" /><Relationship Type="http://schemas.openxmlformats.org/officeDocument/2006/relationships/slide" Target="/ppt/slides/slide3.xml" Id="R48662ba3706c49d7" /><Relationship Type="http://schemas.openxmlformats.org/officeDocument/2006/relationships/slide" Target="/ppt/slides/slide4.xml" Id="R51e617f021904c55" /><Relationship Type="http://schemas.openxmlformats.org/officeDocument/2006/relationships/slide" Target="/ppt/slides/slide5.xml" Id="Rbf804f736a2e42dd" /><Relationship Type="http://schemas.openxmlformats.org/officeDocument/2006/relationships/slide" Target="/ppt/slides/slide6.xml" Id="Rd4201497deae40e1" /><Relationship Type="http://schemas.openxmlformats.org/officeDocument/2006/relationships/slide" Target="/ppt/slides/slide7.xml" Id="Raacad45d9d0d4df0" /><Relationship Type="http://schemas.openxmlformats.org/officeDocument/2006/relationships/slide" Target="/ppt/slides/slide8.xml" Id="Rff54cbf2c35746d5" /><Relationship Type="http://schemas.openxmlformats.org/officeDocument/2006/relationships/slide" Target="/ppt/slides/slide9.xml" Id="Reaeccc4285f043c2" /><Relationship Type="http://schemas.openxmlformats.org/officeDocument/2006/relationships/slide" Target="/ppt/slides/slide10.xml" Id="Rbc0583985fa94bc8" /><Relationship Type="http://schemas.openxmlformats.org/officeDocument/2006/relationships/slide" Target="/ppt/slides/slide11.xml" Id="R3f40b75f58374f86" /><Relationship Type="http://schemas.openxmlformats.org/officeDocument/2006/relationships/slide" Target="/ppt/slides/slide12.xml" Id="R4c7a5e0673504aa1" /><Relationship Type="http://schemas.openxmlformats.org/officeDocument/2006/relationships/slide" Target="/ppt/slides/slide13.xml" Id="Rdf49ffe354ec4bce" /><Relationship Type="http://schemas.openxmlformats.org/officeDocument/2006/relationships/slide" Target="/ppt/slides/slide14.xml" Id="R5ab789d075584980" /><Relationship Type="http://schemas.openxmlformats.org/officeDocument/2006/relationships/slide" Target="/ppt/slides/slide15.xml" Id="Rfe427fcb61a2495e" /><Relationship Type="http://schemas.openxmlformats.org/officeDocument/2006/relationships/slide" Target="/ppt/slides/slide16.xml" Id="Rb59e4e2f038048c9" /><Relationship Type="http://schemas.openxmlformats.org/officeDocument/2006/relationships/slide" Target="/ppt/slides/slide17.xml" Id="R5866e42042aa47bf" /><Relationship Type="http://schemas.openxmlformats.org/officeDocument/2006/relationships/slide" Target="/ppt/slides/slide18.xml" Id="R4db9e1867f0246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60ae8e79f441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1bc9f04fd94fb5" /><Relationship Type="http://schemas.openxmlformats.org/officeDocument/2006/relationships/notesMaster" Target="/ppt/notesMasters/notesMaster1.xml" Id="Rc6c4aa3f55b342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d7a2426b114308" /><Relationship Type="http://schemas.openxmlformats.org/officeDocument/2006/relationships/notesMaster" Target="/ppt/notesMasters/notesMaster1.xml" Id="Raeb1e626d3f049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fba6da5549494b" /><Relationship Type="http://schemas.openxmlformats.org/officeDocument/2006/relationships/notesMaster" Target="/ppt/notesMasters/notesMaster1.xml" Id="Rc8b354dbfa694b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2a1a4873814289" /><Relationship Type="http://schemas.openxmlformats.org/officeDocument/2006/relationships/notesMaster" Target="/ppt/notesMasters/notesMaster1.xml" Id="Rac55a1d563e640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58e76d27a74b29" /><Relationship Type="http://schemas.openxmlformats.org/officeDocument/2006/relationships/notesMaster" Target="/ppt/notesMasters/notesMaster1.xml" Id="R5e0b9a48d34a48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cdc1ef00324b9a" /><Relationship Type="http://schemas.openxmlformats.org/officeDocument/2006/relationships/notesMaster" Target="/ppt/notesMasters/notesMaster1.xml" Id="Rfa8851bc7aea42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a88aef584246b3" /><Relationship Type="http://schemas.openxmlformats.org/officeDocument/2006/relationships/notesMaster" Target="/ppt/notesMasters/notesMaster1.xml" Id="R7f6b0684711342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99f8b8d0b244ea" /><Relationship Type="http://schemas.openxmlformats.org/officeDocument/2006/relationships/notesMaster" Target="/ppt/notesMasters/notesMaster1.xml" Id="R2ec681906ccd47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74252a3c9b4159" /><Relationship Type="http://schemas.openxmlformats.org/officeDocument/2006/relationships/notesMaster" Target="/ppt/notesMasters/notesMaster1.xml" Id="R9d3ec2a63b6e42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e8b6c8a1424f79" /><Relationship Type="http://schemas.openxmlformats.org/officeDocument/2006/relationships/notesMaster" Target="/ppt/notesMasters/notesMaster1.xml" Id="R89a142908cbc48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480f19606b4c28" /><Relationship Type="http://schemas.openxmlformats.org/officeDocument/2006/relationships/notesMaster" Target="/ppt/notesMasters/notesMaster1.xml" Id="Raaa71e37167945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0791b74d0849e5" /><Relationship Type="http://schemas.openxmlformats.org/officeDocument/2006/relationships/notesMaster" Target="/ppt/notesMasters/notesMaster1.xml" Id="Rf0411c3191e54f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56f240e2aa49f3" /><Relationship Type="http://schemas.openxmlformats.org/officeDocument/2006/relationships/notesMaster" Target="/ppt/notesMasters/notesMaster1.xml" Id="R10605a390ece40e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a4fca83aa94877" /><Relationship Type="http://schemas.openxmlformats.org/officeDocument/2006/relationships/notesMaster" Target="/ppt/notesMasters/notesMaster1.xml" Id="R3099fb3f439040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3eb695e710482f" /><Relationship Type="http://schemas.openxmlformats.org/officeDocument/2006/relationships/notesMaster" Target="/ppt/notesMasters/notesMaster1.xml" Id="R975420ee8e7f41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d1025e75474ce8" /><Relationship Type="http://schemas.openxmlformats.org/officeDocument/2006/relationships/notesMaster" Target="/ppt/notesMasters/notesMaster1.xml" Id="Rb6115cf8a7f748c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7cd5839408f47ce" /><Relationship Type="http://schemas.openxmlformats.org/officeDocument/2006/relationships/notesMaster" Target="/ppt/notesMasters/notesMaster1.xml" Id="R3e72023e5be74e1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9c7986ebe174b3b" /><Relationship Type="http://schemas.openxmlformats.org/officeDocument/2006/relationships/notesMaster" Target="/ppt/notesMasters/notesMaster1.xml" Id="Rbb1f064718bc4d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Söyle организует домашнюю практику и коммуникацию. Приложение не ставит диагноз и не заменяет логопеда. Визуальная система сохраняет синий цвет актуального приложения и добавляет тёплый фон, мятный и коралловый акценты.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README.md; frontend/components/SoyleApp.tsx; frontend/public/soyle-icon.png; child-home.png, aac.png.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Потребности описаны как продуктовые задачи, а не как результаты пользовательского исследования. Изображение из существующих материалов проекта служит иллюстрацией домашней практики, а не фотографией участника пилота. Частоту и цели практики определяют семья и специалист с учётом состояния ребёнка.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README.md; backend/app/practice_goals.py; frontend/components/SoyleApp.tsx; ASHA AAC Practice Portal https://www.asha.org/practice-portal/professional-issues/augmentative-and-alternative-communication/; family-hero.webp из frontend/public/landing/.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Схема показывает потенциальные разрывы процесса, а не измеренную частоту проблем. Специалист пока участвует вне приложения.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Продуктовый анализ текущих процессов; backend/app/practice_goals.py; backend/app/main.py sessions/progress.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текущей версии работают ребёнок, родитель и администратор. Вход specialist запрещён сервером. Общая цель описывает продуктовую концепцию, не реализованный трёхсторонний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frontend/components/SoyleApp.tsx; frontend/components/GoalsAndPractice.tsx; backend/app/security.py get_current_user.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создавался вымышленный интерфейс специалиста. Будущий кабинет отмечен текстом как план. Админ-панель не подменяет кабинет логопеда.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frontend/components/SoyleApp.tsx type Screen; backend/app/security.py; backend/app/main.py legacy specialist routes.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реального задания «Домашние животные». После ответа интерфейс даёт обратную связь и позволяет продолжить. Подсказки и статус попытки регистрируются отдельно. Упражнение относится к демонстрационному каталогу, не к методически утверждённому курсу.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frontend/components/SoyleApp.tsx SensoryGame, focus-safety-actions; frontend/lib/exerciseRuntime.ts; exercise.png.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Родитель выбирает одну из шести домашних целей, указывает исходное наблюдение и помощь, меняет статус цели, сохраняет наблюдения, отмечает предпочтительные и исключённые задания, подготавливает план и читает причины. Цели родительские, не профессиональные назначения. История цифровых заданий не равна клинической динамике.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frontend/components/GoalsAndPractice.tsx; backend/app/practice_goals.py; backend/app/adaptive_planner.py; frontend/components/FamilyPractice.tsx.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Админ имеет черновики, предварительный просмотр, формы проверок и контроль публикации. Специалист не может войти. Локальная проверка отдельной seeded SQLite: 13 доступных демозаданий, 0 при SOYLE_ALLOW_UNREVIEWED_DEMO_CONTENT=false. Статус review_status=approved у старых демоверсий не подтверждает независимую методическую проверку. Скриншот админ-панели не используется без разрешения на вход.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frontend/components/ContentReviewWorkspace.tsx; frontend/components/SoyleApp.tsx AdminScreen; backend/app/exercise_engine.py published_exercise_rows, publish_version, submit_content_review; backend/app/security.py.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Окно до 8 завершённых результатов с response_owner=child и support_context independent/caregiver_supported. Веса линейно от 2.0 у нового до 1.0 у старого. Отдельно взвешиваются точность и самостоятельность. Уровень 2: минимум 3 результата, точность ≥76%, минимум 3 самостоятельных завершения, самостоятельность ≥50%. Уровень 3: 6 результатов, ≥88%, минимум 3 самостоятельных завершения, ≥80%. Эти пороги инженерные, клиническая валидность не доказана. Отказ, перерыв и technical_error не являются ошибками. Последнее бытовое with_help консервативно снижает уровень. Новые и реже назначенные упражнения приоритетны, предпочтения учитываются, исключения фильтруются. Сохраняются версии, параметры и причины. Быстрый план на 3/5/10 минут использует отдельную ротацию, не все пороги этого планировщика.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backend/app/adaptive_planner.py RULES_VERSION p2.2-weighted-rotation-1, _evidence, _difficulty, create_plan; backend/app/main.py; frontend/components/GoalsAndPractice.tsx.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AAC означает альтернативную и дополнительную коммуникацию. В проекте есть свободный режим без оценки, быстрые сообщения, карточки, избранное и озвучивание. В seeded базе 64 базовые карточки. Русская грамматика ограничена поддерживаемыми шаблонами. Наличие функций не доказывает индивидуальную пригодность системы AAC: подбор и оценка доступности требуют специалиста.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frontend/components/SoyleApp.tsx PhraseGame freeMode, quickCommunicationMessages; frontend/lib/aacGrammar.ts; backend/app/aac_grammar.py; backend/app/database.py aac_cards; https://www.asha.org/practice-portal/professional-issues/augmentative-and-alternative-communication/.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Реалистичный сценарий текущей реализации. В демонстрации создана родительская цель на тестовых данных. Специалист может рекомендовать цель вне платформы. Новый результат влияет на следующий сгенерированный план, а не самовольно изменяет текущий. Предпросмотр взрослого исключается из детского результата. Не представлены вымышленные достижения ребёнка.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backend/app/practice_goals.py; backend/app/adaptive_planner.py; backend/app/main.py adaptive-plans, learning-sessions, sessions; frontend/components/GoalsAndPractice.tsx.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Актуальный стек, не Nuxt/Vue и не Flutter. Схема показывает реализованные компоненты, не доказанную production-готовность. В тестовой базе 36 прикладных таблиц и схема миграции 16. Предпросмотр камеры MediaPipe остаётся внутренним прототипом, исключённым из публичного каталога. Адаптивная логика не отправляет данные внешней AI API. Подготовленное аудио и Web Speech API обслуживают озвучку, возможности зависят от устройства и браузера.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frontend/package.json; frontend/lib/api.ts; backend/requirements.txt; backend/app/main.py; database.py; migrations.py; security.py; adaptive_planner.py; tts_library.py.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Контроли реализованы, но это не юридическое заключение, сертификация или доказательство полной безопасности. Текущий код уже исключает adult_preview из сохранённых детских результатов и содержит миграции/readiness; старые аудиты описывают исторический срез и не должны переноситься буквально. Русский — единственный включённый интерфейсный язык. Нужна независимая методическая проверка и работа с доступностью на реальных устройствах.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backend/app/security.py; backend/app/main.py; frontend/lib/api.ts; backend/tests/test_workflows.py; test_p1.py; test_p21.py; SOYLE_ALALIA_AND_PLATFORM_AUDIT_2026-10-16.md; SOYLE_UI_UX_AUDIT_2026-10-16.md.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 заданий = 10 guided_aac и 3 auditory_choice в локальном деморежиме. Не включены 11 черновиков и 6 камерных прототипов. Базовые AAC-карточки посчитаны в отдельной seeded SQLite-базе после миграций. Три уровня заданы правилами, реальные параметры зависят от версии контента. 101 = 52 backend + 49 frontend unit/regression, не E2E. Тесты не доказывают клиническую эффективность или production-готовность. При строгом фильтре методической публикации доступных заданий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Локальная инвентаризация 18.10.2026: published_exercise_rows; aac_cards; practice_goal_templates; adaptive_planner.py; frontend/lib/i18n.ts. pytest -q: 52 passed; npm test: 49 passed.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Предложение: B2B SaaS, распространяемый по модели B2B2C. Пользуются ребёнок, родитель и будущий специалист. Решение и оплата у владельца/руководителя центра. Ценность подписки предполагается за повторяющуюся организацию домашней практики, поддержку и обновление проверенного контента. В продукте нет коммерческого биллинга, мультиорганизационного кабинета и работающего специалистского workflow. Для запуска нужны организация/tenant, назначения, согласия на обмен и коммерческие функции.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Бизнес-гипотеза на основе продуктовой архитектуры.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числа подписки гипотетические и требуют интервью о готовности платить. Сценарии различаются одновременно количеством организаций и средним платежом, это не прогноз роста и не фиксированная лестница тарифов. Малый кабинет: гипотеза 20 тыс. ₸, средний центр 35 тыс. ₸, организация с несколькими специалистами 50 тыс. ₸ в месяц. Прайсы логопедических занятий дают контекст расходов семьи, не оценку стоимости SaaS, размера рынка или готовности центра платить. MRR = 10×20000=200000; 30×35000=1050000; 60×50000=3000000. Разовые внедрения, скидки, налоги, churn, CAC и себестоимость не моделировались. B2B плюс: понятный плательщик, профессиональное сопровождение; минус: длиннее продажи и требования к доступам. B2B2C плюс: доступ семьям через доверенный центр; риск: зависимость активности от специалиста. B2C возможен позднее, но требует поддержки семей и отдельных затрат привлечения.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Сценарная модель автора. Рыночный контекст: https://logoped.dzeytova.kz/ (прайс 7 000 ₸ за 30 минут); https://www.logopedy.kz/ceny/ (от 5 100 ₸ за занятие), проверено поиском 18.10.2026.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пилота сначала нужен формальный допуск после методической, юридической, технической проверки и проверки доступности. В пилоте следует измерять выполнимость сценариев, корректность сохранения помощи и отказов, трудозатраты взрослого, использование семей и проблемы поддержки. Речевые/клинические эффекты требуют отдельного корректного исследования. Готовность платить и принятие B2B2C не доказаны. Казахскую локализацию можно включать после самостоятельной языковой и методической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План развития, не обязательства и не состоявшиеся партнёрства. README.md privacy restrictions; текущие ограничения specialist role, строгая фильтрация контента.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Söyle — вспомогательная система, не медицинская помощь, не диагностика и не лечение алалии. Доказательства клинической эффективности отсутствуют. Цель продукта — доступная коммуникация, организация практики и понятная поддержка семьи.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README.md; подтверждённые функции, ограничения и бизнес-гипотезы в слайдах 5, 8, 13–17.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baed7e9ede4c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2ae07aa7c47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716fec44643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4148d36ad4455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32905403c49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3e2ac15ea48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D52E24-30A3-47B1-A857-A0E47D4B17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C42A12-F992-4496-A890-1592A36B6B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1B44ECC-E387-4935-9146-5481819DEB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5D6B95-7361-4333-AFA8-5D83E998E3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C7F2F63-7315-4D0F-8C09-A1CA15ECC5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B71322-1E9C-42E9-B68B-5D3DC2F6C0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ACADD7-1F48-466F-B42F-15FCC1C95C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E50B79-C1F6-41E5-8E18-236586EB02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CC6BE7-F92E-47C0-99B3-8977FA8318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EFBC5C-23C2-439D-9B87-CCE814AC73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c89fd202c04487" /><Relationship Type="http://schemas.openxmlformats.org/officeDocument/2006/relationships/slideLayout" Target="/ppt/slideLayouts/slideLayout1.xml" Id="R34d9d045d3ec4c2b" /><Relationship Type="http://schemas.openxmlformats.org/officeDocument/2006/relationships/slideLayout" Target="/ppt/slideLayouts/slideLayout2.xml" Id="R3e29ad5c54c14e1f" /><Relationship Type="http://schemas.openxmlformats.org/officeDocument/2006/relationships/slideLayout" Target="/ppt/slideLayouts/slideLayout3.xml" Id="R20d57ffd5db840fe" /><Relationship Type="http://schemas.openxmlformats.org/officeDocument/2006/relationships/slideLayout" Target="/ppt/slideLayouts/slideLayout4.xml" Id="R539b1514885a4cd2" /><Relationship Type="http://schemas.openxmlformats.org/officeDocument/2006/relationships/slideLayout" Target="/ppt/slideLayouts/slideLayout5.xml" Id="Ra85086b725a542df" /><Relationship Type="http://schemas.openxmlformats.org/officeDocument/2006/relationships/slideLayout" Target="/ppt/slideLayouts/slideLayout6.xml" Id="R5954afac3e414f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d9d045d3ec4c2b"/>
    <p:sldLayoutId xmlns:r="http://schemas.openxmlformats.org/officeDocument/2006/relationships" id="2147483650" r:id="R3e29ad5c54c14e1f"/>
    <p:sldLayoutId xmlns:r="http://schemas.openxmlformats.org/officeDocument/2006/relationships" id="2147483651" r:id="R20d57ffd5db840fe"/>
    <p:sldLayoutId xmlns:r="http://schemas.openxmlformats.org/officeDocument/2006/relationships" id="2147483652" r:id="R539b1514885a4cd2"/>
    <p:sldLayoutId xmlns:r="http://schemas.openxmlformats.org/officeDocument/2006/relationships" id="2147483653" r:id="Ra85086b725a542df"/>
    <p:sldLayoutId xmlns:r="http://schemas.openxmlformats.org/officeDocument/2006/relationships" id="2147483654" r:id="R5954afac3e414f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5cce4a6fd742d1" /><Relationship Type="http://schemas.openxmlformats.org/officeDocument/2006/relationships/image" Target="/ppt/media/image.png" Id="Rf82da7120419454f" /><Relationship Type="http://schemas.openxmlformats.org/officeDocument/2006/relationships/image" Target="/ppt/media/image2.png" Id="Rb43ca628faef4fd6" /><Relationship Type="http://schemas.openxmlformats.org/officeDocument/2006/relationships/image" Target="/ppt/media/image3.png" Id="Rbe53dbffa78d464a" /><Relationship Type="http://schemas.openxmlformats.org/officeDocument/2006/relationships/notesSlide" Target="/ppt/notesSlides/notesSlide1.xml" Id="R4f89a67ee4ae43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55f3e339e3448e" /><Relationship Type="http://schemas.openxmlformats.org/officeDocument/2006/relationships/image" Target="/ppt/media/image.bin" Id="R6e5a298ff6a543a0" /><Relationship Type="http://schemas.openxmlformats.org/officeDocument/2006/relationships/notesSlide" Target="/ppt/notesSlides/notesSlide2.xml" Id="Rfd4ddce6523849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d6488469064633" /><Relationship Type="http://schemas.openxmlformats.org/officeDocument/2006/relationships/notesSlide" Target="/ppt/notesSlides/notesSlide3.xml" Id="R97855dd6ee6c4b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edb4811d0746a4" /><Relationship Type="http://schemas.openxmlformats.org/officeDocument/2006/relationships/image" Target="/ppt/media/image4.png" Id="Rd8d1ade28966496b" /><Relationship Type="http://schemas.openxmlformats.org/officeDocument/2006/relationships/notesSlide" Target="/ppt/notesSlides/notesSlide4.xml" Id="R6816bb9612d34f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fad0f5051e46a3" /><Relationship Type="http://schemas.openxmlformats.org/officeDocument/2006/relationships/image" Target="/ppt/media/image5.png" Id="R673c55956fee4781" /><Relationship Type="http://schemas.openxmlformats.org/officeDocument/2006/relationships/image" Target="/ppt/media/image6.png" Id="R4267beaccc3e4aa8" /><Relationship Type="http://schemas.openxmlformats.org/officeDocument/2006/relationships/notesSlide" Target="/ppt/notesSlides/notesSlide5.xml" Id="Rc631e799eb094a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9d03840f73412b" /><Relationship Type="http://schemas.openxmlformats.org/officeDocument/2006/relationships/image" Target="/ppt/media/image7.png" Id="R06ac029ec623423f" /><Relationship Type="http://schemas.openxmlformats.org/officeDocument/2006/relationships/notesSlide" Target="/ppt/notesSlides/notesSlide6.xml" Id="R421d84cf3ff64b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9866ff9d9c484d" /><Relationship Type="http://schemas.openxmlformats.org/officeDocument/2006/relationships/image" Target="/ppt/media/image8.png" Id="R733154ec3d1f435c" /><Relationship Type="http://schemas.openxmlformats.org/officeDocument/2006/relationships/image" Target="/ppt/media/image9.png" Id="R8c8f6c0518d44315" /><Relationship Type="http://schemas.openxmlformats.org/officeDocument/2006/relationships/notesSlide" Target="/ppt/notesSlides/notesSlide7.xml" Id="R59eea9f6a09c4c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266d6b404d4924" /><Relationship Type="http://schemas.openxmlformats.org/officeDocument/2006/relationships/notesSlide" Target="/ppt/notesSlides/notesSlide8.xml" Id="R28ed27977e2a4d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2cc8e4a8d748b6" /><Relationship Type="http://schemas.openxmlformats.org/officeDocument/2006/relationships/image" Target="/ppt/media/image10.png" Id="Rdb92008b21f64531" /><Relationship Type="http://schemas.openxmlformats.org/officeDocument/2006/relationships/notesSlide" Target="/ppt/notesSlides/notesSlide9.xml" Id="Ra32ca27b4a474d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7fa049e1b54cc0" /><Relationship Type="http://schemas.openxmlformats.org/officeDocument/2006/relationships/image" Target="/ppt/media/image11.png" Id="R6614d61c98ce463b" /><Relationship Type="http://schemas.openxmlformats.org/officeDocument/2006/relationships/notesSlide" Target="/ppt/notesSlides/notesSlide10.xml" Id="R45823a7ea76c4e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b18b6a0b03463b" /><Relationship Type="http://schemas.openxmlformats.org/officeDocument/2006/relationships/image" Target="/ppt/media/image12.png" Id="R10d1baa915044e01" /><Relationship Type="http://schemas.openxmlformats.org/officeDocument/2006/relationships/image" Target="/ppt/media/image13.png" Id="R4aaac55628684705" /><Relationship Type="http://schemas.openxmlformats.org/officeDocument/2006/relationships/image" Target="/ppt/media/image14.png" Id="R978fd5e58ff2426f" /><Relationship Type="http://schemas.openxmlformats.org/officeDocument/2006/relationships/notesSlide" Target="/ppt/notesSlides/notesSlide11.xml" Id="R0a32c2ecaf6742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f800ebd569433a" /><Relationship Type="http://schemas.openxmlformats.org/officeDocument/2006/relationships/notesSlide" Target="/ppt/notesSlides/notesSlide12.xml" Id="Reac4debd736040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7cb2e2f79d41bd" /><Relationship Type="http://schemas.openxmlformats.org/officeDocument/2006/relationships/notesSlide" Target="/ppt/notesSlides/notesSlide13.xml" Id="R7c334b504d6347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6f4af635ab4dd0" /><Relationship Type="http://schemas.openxmlformats.org/officeDocument/2006/relationships/notesSlide" Target="/ppt/notesSlides/notesSlide14.xml" Id="R3b2c211224d44c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82b889bb2c4ae4" /><Relationship Type="http://schemas.openxmlformats.org/officeDocument/2006/relationships/notesSlide" Target="/ppt/notesSlides/notesSlide15.xml" Id="R545a5c129d3e4f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ff4ccdf45649a0" /><Relationship Type="http://schemas.openxmlformats.org/officeDocument/2006/relationships/notesSlide" Target="/ppt/notesSlides/notesSlide16.xml" Id="R5c65e750508141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b7998916a443d3" /><Relationship Type="http://schemas.openxmlformats.org/officeDocument/2006/relationships/notesSlide" Target="/ppt/notesSlides/notesSlide17.xml" Id="Rb7c60065f77241d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5cd1acbe6b4de5" /><Relationship Type="http://schemas.openxmlformats.org/officeDocument/2006/relationships/image" Target="/ppt/media/image15.png" Id="R94ad93040ed94936" /><Relationship Type="http://schemas.openxmlformats.org/officeDocument/2006/relationships/image" Target="/ppt/media/image16.png" Id="R8121f9da8087414b" /><Relationship Type="http://schemas.openxmlformats.org/officeDocument/2006/relationships/notesSlide" Target="/ppt/notesSlides/notesSlide18.xml" Id="R037cbff89ef648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ACFEE-6BE3-4D71-BE4F-D9669643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B6419-92B5-4887-AE31-58AFED71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HUMAN-CENTERED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62BAF-0DE3-455F-AA2F-1FC15DD1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246EE-2905-447E-A305-9133FCD197C8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6F1B4-2893-4BA3-AE5E-A92D10E5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458DD-41EB-46A9-AC2E-BB0CFC5E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C46BC-98CD-48AA-AE49-C558E4AF6C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da7120419454f"/>
          <a:stretch xmlns:a="http://schemas.openxmlformats.org/drawingml/2006/main"/>
        </p:blipFill>
        <p:spPr>
          <a:xfrm xmlns:a="http://schemas.openxmlformats.org/drawingml/2006/main">
            <a:off x="609600" y="1190625"/>
            <a:ext cx="857250" cy="857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2B853-7F69-4A69-8FA8-9EDD0986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F2E26-134F-4C15-ADDB-D68C3E4E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57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Every voice</a:t>
            </a:r>
          </a:p>
          <a:p xmlns:a="http://schemas.openxmlformats.org/drawingml/2006/main">
            <a: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matters.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49DEC-B80A-4561-89A2-A9D619EE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Домашняя практика и доступная</a:t>
            </a:r>
          </a:p>
          <a:p xmlns:a="http://schemas.openxmlformats.org/drawingml/2006/main">
            <a: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коммуникация для ребёнка и семьи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20C06-D7A3-42A9-8294-C25104E236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ca628faef4fd6"/>
          <a:stretch xmlns:a="http://schemas.openxmlformats.org/drawingml/2006/main"/>
        </p:blipFill>
        <p:spPr>
          <a:xfrm xmlns:a="http://schemas.openxmlformats.org/drawingml/2006/main" rot="-240000">
            <a:off x="7572375" y="2666250"/>
            <a:ext cx="3524250" cy="35448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DF4BA-6E69-4571-8BC7-55CA15CA6C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3dbffa78d464a"/>
          <a:stretch xmlns:a="http://schemas.openxmlformats.org/drawingml/2006/main"/>
        </p:blipFill>
        <p:spPr>
          <a:xfrm xmlns:a="http://schemas.openxmlformats.org/drawingml/2006/main" rot="240000">
            <a:off x="10620375" y="3026346"/>
            <a:ext cx="3762375" cy="3853309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31890-C323-4BAF-87F4-67F412B7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2961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РАБОТАЮЩИЙ ЛОКАЛЬНЫЙ MVP</a:t>
            </a:r>
          </a:p>
        </p:txBody>
      </p:sp>
    </p:spTree>
    <p:extLst>
      <p:ext uri="{BB962C8B-B14F-4D97-AF65-F5344CB8AC3E}">
        <p14:creationId xmlns:p14="http://schemas.microsoft.com/office/powerpoint/2010/main" val="10286107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6FEDE-353F-49AB-9FDB-9B299622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88A10-7C1B-451F-ACA5-46B397DB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DF9B8-41CD-447C-AAD2-038FBB6F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1CD86-6F42-4964-A19C-6B0160560219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14C3A-93FA-4A4C-AA5A-D5D3FCE6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21292-9E06-43EC-A3C1-75582D8B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67993-5B0E-4C0A-AE99-7C4983521B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a298ff6a543a0"/>
          <a:srcRect xmlns:a="http://schemas.openxmlformats.org/drawingml/2006/main" l="11385" t="0" r="113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066800"/>
            <a:ext cx="7381875" cy="63722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45305-0D40-4915-9E5E-5C00FBC7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600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Развитие общения</a:t>
            </a:r>
          </a:p>
          <a:p xmlns:a="http://schemas.openxmlformats.org/drawingml/2006/main">
            <a: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продолжается дома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A0750-52AF-442A-9125-D59E91F7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81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РОДИТЕЛЬ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17A5C-A802-48EC-934F-12FF3FE7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433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Какие задания выбрать</a:t>
            </a:r>
          </a:p>
          <a:p xmlns:a="http://schemas.openxmlformats.org/drawingml/2006/main">
            <a: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и сколько помощи дать?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48D4A-A398-4BB7-A2AD-5EEADAEB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149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E774D-4162-4888-852F-1D4DB85C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7685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Что происходит с практикой</a:t>
            </a:r>
          </a:p>
          <a:p xmlns:a="http://schemas.openxmlformats.org/drawingml/2006/main">
            <a: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между встречами?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BEC15-5D9A-45F2-B9BB-BA8A40E9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29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РЕБЁНОК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976A0-E62D-4B2C-B9E6-BB3DF96D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80085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Как сказать «помоги»,</a:t>
            </a:r>
          </a:p>
          <a:p xmlns:a="http://schemas.openxmlformats.org/drawingml/2006/main">
            <a: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«не хочу» или «перерыв»?</a:t>
            </a:r>
          </a:p>
        </p:txBody>
      </p:sp>
    </p:spTree>
    <p:extLst>
      <p:ext uri="{BB962C8B-B14F-4D97-AF65-F5344CB8AC3E}">
        <p14:creationId xmlns:p14="http://schemas.microsoft.com/office/powerpoint/2010/main" val="10797440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5C6A5D-2441-4B06-AAF3-ED589858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D4F45-C499-4835-9A77-7960562F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КОНТЕКСТ ПРАКТИКИ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E2741-0B50-4E88-B58F-F410EA72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CF0C2-2289-4B94-AD09-29F54AE44319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B8E7E-0F9D-4BED-9648-5DAD25B9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8373C-D43F-434A-8E22-A049831D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9E415-D400-4443-B904-553F48A1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Между заданием и обратной связью</a:t>
            </a:r>
          </a:p>
          <a:p xmlns:a="http://schemas.openxmlformats.org/drawingml/2006/main">
            <a: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легко потерять контекст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4A72C-FB54-4AEA-801D-D016DF21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C5F10-BBA8-439C-811D-C9AF7D0A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FD888-D6C1-4475-B38C-EF207EA3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38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Определяет цель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F62E0-7284-402E-AE27-76698FC4722F}"/>
              </a:ext>
            </a:extLst>
          </p:cNvPr>
          <p:cNvCxnSpPr/>
          <p:nvPr/>
        </p:nvCxnSpPr>
        <p:spPr>
          <a:xfrm xmlns:a="http://schemas.openxmlformats.org/drawingml/2006/main">
            <a:off x="3038475" y="4000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BC4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A2A05-EBEA-49D1-B242-938FCBB2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B9100-042D-47C3-B20D-2648BFDB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71900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Задание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3A49C-2782-4CBF-9F23-831A545D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81550"/>
            <a:ext cx="2438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Нужно понять инструкцию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016ED-6BE8-4B3D-9A28-2C5E956FDFF6}"/>
              </a:ext>
            </a:extLst>
          </p:cNvPr>
          <p:cNvCxnSpPr/>
          <p:nvPr/>
        </p:nvCxnSpPr>
        <p:spPr>
          <a:xfrm xmlns:a="http://schemas.openxmlformats.org/drawingml/2006/main">
            <a:off x="5915025" y="4000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F967E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C081C-EA48-46BE-86C9-1014468E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6D8F8-2594-4693-A5E6-0D87A3EB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71900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Родитель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088FA-AD37-4C65-B363-6C648C2B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81550"/>
            <a:ext cx="2438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Организует практику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7445B-D03A-44C7-9DB9-C58DD22DE0C2}"/>
              </a:ext>
            </a:extLst>
          </p:cNvPr>
          <p:cNvCxnSpPr/>
          <p:nvPr/>
        </p:nvCxnSpPr>
        <p:spPr>
          <a:xfrm xmlns:a="http://schemas.openxmlformats.org/drawingml/2006/main">
            <a:off x="8791575" y="4000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BC4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5A3926-FE1C-4C2E-8814-570BA156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B07D70-FFDA-491A-8AD4-6A045786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71900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Ребёнок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F26804-66F2-4CD3-A4F6-DFDC6277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81550"/>
            <a:ext cx="2438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Отвечает доступным способом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609FEC-1C0D-4955-9EBD-A453341436E9}"/>
              </a:ext>
            </a:extLst>
          </p:cNvPr>
          <p:cNvCxnSpPr/>
          <p:nvPr/>
        </p:nvCxnSpPr>
        <p:spPr>
          <a:xfrm xmlns:a="http://schemas.openxmlformats.org/drawingml/2006/main">
            <a:off x="11668125" y="4000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F967E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B93EB5-DD91-4801-8C21-2E9FFD8C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333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B0AC89-8D07-4904-8BF3-32A63141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771900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Обратная</a:t>
            </a:r>
          </a:p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связь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B710E5-1600-41B6-B349-D94E4E72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781550"/>
            <a:ext cx="2438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Нужен контекст помощи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E908C8-D738-4B8B-8F06-57BDAA732DBC}"/>
              </a:ext>
            </a:extLst>
          </p:cNvPr>
          <p:cNvCxnSpPr/>
          <p:nvPr/>
        </p:nvCxnSpPr>
        <p:spPr>
          <a:xfrm xmlns:a="http://schemas.openxmlformats.org/drawingml/2006/main">
            <a:off x="609600" y="6667500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5D0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DE2E8C-0259-44BE-ACFB-1B3E67B0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72300"/>
            <a:ext cx="1352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Теряются детали: что выбрано, как выполнено,</a:t>
            </a:r>
          </a:p>
          <a:p xmlns:a="http://schemas.openxmlformats.org/drawingml/2006/main">
            <a: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где понадобилась помощь и что попробовать дальше.</a:t>
            </a:r>
          </a:p>
        </p:txBody>
      </p:sp>
    </p:spTree>
    <p:extLst>
      <p:ext uri="{BB962C8B-B14F-4D97-AF65-F5344CB8AC3E}">
        <p14:creationId xmlns:p14="http://schemas.microsoft.com/office/powerpoint/2010/main" val="13023855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2B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9181A-5357-4060-BA81-0AE5FD6A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284D6-DDB2-4CE7-B552-5C3BEFFD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6395A-FCDE-46DC-BB75-4A86BCC3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18709-087F-4F8D-9087-B08F2AB6B613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6506C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3C1F6-EACD-4482-802A-233250D7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2EDEC-D341-4A5B-85DD-CDC0A131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09F8A-585C-48F4-9C2A-C2DB07D2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33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Одна система.</a:t>
            </a:r>
          </a:p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Общая цель.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CFF45-3B23-4C3C-806D-4172D090AD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1ade28966496b"/>
          <a:stretch xmlns:a="http://schemas.openxmlformats.org/drawingml/2006/main"/>
        </p:blipFill>
        <p:spPr>
          <a:xfrm xmlns:a="http://schemas.openxmlformats.org/drawingml/2006/main">
            <a:off x="8480977" y="1143000"/>
            <a:ext cx="5326546" cy="5619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18724-272D-4848-AE14-2F521145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957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РЕБЁНОК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31A50-A78E-4210-8646-6E100597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5767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Короткие задания и AAC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9B614-5813-4627-BDB7-D8105C34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911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РОДИТЕЛЬ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47BA3-E80C-4D70-B01B-D7CCB771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530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Цель, наблюдения, следующий шаг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9531B-97AB-44C5-B761-72D3082E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4699E-BC1B-4448-8D68-D0B5A111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8389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Сопровождение вне приложения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80A38-5933-4942-8E2C-DD50F41D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0866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Цифровой кабинет специалиста — следующий этап</a:t>
            </a:r>
          </a:p>
        </p:txBody>
      </p:sp>
    </p:spTree>
    <p:extLst>
      <p:ext uri="{BB962C8B-B14F-4D97-AF65-F5344CB8AC3E}">
        <p14:creationId xmlns:p14="http://schemas.microsoft.com/office/powerpoint/2010/main" val="6512482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3F238-65C0-43E8-9C27-EA5B72EA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9E0F7-C191-4915-87AC-2865FA8F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ЭКОСИСТЕМА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CE6FA-047C-4CC4-BBE3-AA18F8BA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9C3F7-36C7-441C-B898-2743D4039FF5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CFE7B-BDCB-44D9-A800-571E13BC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8487D-0EDF-40C7-B4A3-E603F349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70956-56C2-4CDD-8727-26CB6512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Семья уже работает в продукте.</a:t>
            </a:r>
          </a:p>
          <a:p xmlns:a="http://schemas.openxmlformats.org/drawingml/2006/main">
            <a: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Специалист пока остаётся вне него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4A3B3-D4F2-40B5-A917-45497E34D1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c55956fee4781"/>
          <a:stretch xmlns:a="http://schemas.openxmlformats.org/drawingml/2006/main"/>
        </p:blipFill>
        <p:spPr>
          <a:xfrm xmlns:a="http://schemas.openxmlformats.org/drawingml/2006/main">
            <a:off x="847173" y="2762250"/>
            <a:ext cx="4477854" cy="46672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BE475-A159-4DF3-B29C-2E208CE108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7beaccc3e4aa8"/>
          <a:stretch xmlns:a="http://schemas.openxmlformats.org/drawingml/2006/main"/>
        </p:blipFill>
        <p:spPr>
          <a:xfrm xmlns:a="http://schemas.openxmlformats.org/drawingml/2006/main">
            <a:off x="5762211" y="3429000"/>
            <a:ext cx="3791778" cy="4000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F2A1A-09CB-41FF-88FF-6D03FD3D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14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CHILD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0834C-C027-433F-9FA9-40D3D242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575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PARENT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FC4C7-3A8E-4915-8E62-127D1F823A2E}"/>
              </a:ext>
            </a:extLst>
          </p:cNvPr>
          <p:cNvCxnSpPr/>
          <p:nvPr/>
        </p:nvCxnSpPr>
        <p:spPr>
          <a:xfrm xmlns:a="http://schemas.openxmlformats.org/drawingml/2006/main">
            <a:off x="10001250" y="2857500"/>
            <a:ext cx="0" cy="4591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5D0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7AD48-DF53-437F-AB4A-BF837759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670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SPECIALIST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372B5-76BE-496C-A86A-1EAEDB24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7187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Отдельного</a:t>
            </a:r>
          </a:p>
          <a:p xmlns:a="http://schemas.openxmlformats.org/drawingml/2006/main">
            <a: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кабинета пока нет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8CE69-144C-4027-8347-C3C6C281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0673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Личные рекомендации</a:t>
            </a:r>
          </a:p>
          <a:p xmlns:a="http://schemas.openxmlformats.org/drawingml/2006/main">
            <a: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связь с семьёй проходят</a:t>
            </a:r>
          </a:p>
          <a:p xmlns:a="http://schemas.openxmlformats.org/drawingml/2006/main">
            <a: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вне Söyle.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2402E-DA0D-4DAB-B856-450DFB1F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524625"/>
            <a:ext cx="381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План: назначения, доступ</a:t>
            </a:r>
          </a:p>
          <a:p xmlns:a="http://schemas.openxmlformats.org/drawingml/2006/main">
            <a: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к закреплённым детям</a:t>
            </a:r>
          </a:p>
          <a:p xmlns:a="http://schemas.openxmlformats.org/drawingml/2006/main">
            <a: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и согласованная обратная связь.</a:t>
            </a:r>
          </a:p>
        </p:txBody>
      </p:sp>
    </p:spTree>
    <p:extLst>
      <p:ext uri="{BB962C8B-B14F-4D97-AF65-F5344CB8AC3E}">
        <p14:creationId xmlns:p14="http://schemas.microsoft.com/office/powerpoint/2010/main" val="4121840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960CA-CB7B-417B-89C9-392CFC71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FC2F0-7701-4C6A-8978-FDFBD9D4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ДЕТСКИЙ ОПЫТ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19388-24D0-4474-B5A3-F4865D0A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0A3D9-423E-4A7C-95AA-B7DC96420648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8DE60-97FA-4250-9672-0801F13E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B62D6-6AE9-4421-876A-085E239B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B8E38-D191-4F40-BC55-F7FB9C54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Один шаг. Понятный выбор.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B064D-5E5D-4A4A-A712-021EA51A28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c029ec623423f"/>
          <a:stretch xmlns:a="http://schemas.openxmlformats.org/drawingml/2006/main"/>
        </p:blipFill>
        <p:spPr>
          <a:xfrm xmlns:a="http://schemas.openxmlformats.org/drawingml/2006/main">
            <a:off x="1921599" y="2428875"/>
            <a:ext cx="6567626" cy="5048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98EE5-928A-420E-BC1F-1207BD8C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527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01 / ПОСЛУШАТЬ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A36E4-F323-4CC0-AC2A-70316CFB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2417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Аудиоинструкция</a:t>
            </a:r>
          </a:p>
          <a:p xmlns:a="http://schemas.openxmlformats.org/drawingml/2006/main">
            <a: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и повтор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159C8-39BE-498B-9B11-264A5DA8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243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02 / ПОКАЗАТЬ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27A95-A8C8-433B-A6D0-7EEC802A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9582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Ответ касанием</a:t>
            </a:r>
          </a:p>
          <a:p xmlns:a="http://schemas.openxmlformats.org/drawingml/2006/main">
            <a: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по изображению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61565-9E43-4C9A-AFD2-E77CEF98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03 / ПОЛУЧИТЬ ПОДДЕРЖКУ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A2EC5-CFDB-4013-9EF9-5FCEDAD3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Подсказка, перерыв</a:t>
            </a:r>
          </a:p>
          <a:p xmlns:a="http://schemas.openxmlformats.org/drawingml/2006/main">
            <a: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и отказ без штрафа</a:t>
            </a:r>
          </a:p>
        </p:txBody>
      </p:sp>
    </p:spTree>
    <p:extLst>
      <p:ext uri="{BB962C8B-B14F-4D97-AF65-F5344CB8AC3E}">
        <p14:creationId xmlns:p14="http://schemas.microsoft.com/office/powerpoint/2010/main" val="4900577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3FBD8-53E3-462F-B46F-16D201BA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3DC81-0FC0-4F82-BAC3-6FFEF336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РОДИТЕЛЬСКИЙ КАБИНЕТ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21F3D-C985-4E9B-B0E5-0BCB5559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F6A0A-F0EB-4BA8-8617-827C361B7CC0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32FF1-FB2D-400E-A3DC-E195D04F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2F846-C10E-4CDF-94FC-19B3730A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95860-EE26-4F22-BA0C-9D18AC6E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38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Каждый шаг</a:t>
            </a:r>
          </a:p>
          <a:p xmlns:a="http://schemas.openxmlformats.org/drawingml/2006/main">
            <a: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виден семье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B0522-1A56-44B8-8C38-BACFC161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Домашняя цель задаёт смысл.</a:t>
            </a:r>
          </a:p>
          <a:p xmlns:a="http://schemas.openxmlformats.org/drawingml/2006/main">
            <a: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История показывает участие</a:t>
            </a:r>
          </a:p>
          <a:p xmlns:a="http://schemas.openxmlformats.org/drawingml/2006/main">
            <a: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использованную помощь.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D6A2D-9B42-4ABA-8485-C0D8E39A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6267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НАБЛЮДЕНИЯ ОТДЕЛЬНО ОТ ИГРОВОГО БАЛЛА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F55F9-8E26-4D3C-999E-ED4E0305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Предпочтения ребёнка влияют</a:t>
            </a:r>
          </a:p>
          <a:p xmlns:a="http://schemas.openxmlformats.org/drawingml/2006/main">
            <a: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на следующий подготовленный план.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726C5-699F-4A93-8E33-3E1D11B189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154ec3d1f435c"/>
          <a:stretch xmlns:a="http://schemas.openxmlformats.org/drawingml/2006/main"/>
        </p:blipFill>
        <p:spPr>
          <a:xfrm xmlns:a="http://schemas.openxmlformats.org/drawingml/2006/main">
            <a:off x="8083175" y="1219200"/>
            <a:ext cx="5455400" cy="55054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D3DDF-C185-4BE4-8B08-E9E5E87312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f6c0518d44315"/>
          <a:stretch xmlns:a="http://schemas.openxmlformats.org/drawingml/2006/main"/>
        </p:blipFill>
        <p:spPr>
          <a:xfrm xmlns:a="http://schemas.openxmlformats.org/drawingml/2006/main">
            <a:off x="8550473" y="5572125"/>
            <a:ext cx="4282678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3323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DEF6A7-428C-48E3-9D7C-4E1EFEA9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25A40-B3C8-476F-A146-404C22BC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СПЕЦИАЛИСТ И УПРАВЛЕНИЕ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FBCE8-4103-47AF-9435-75DEAFA5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C22DD-0357-4FFF-AECA-6DCD6DC9529A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E2839-A359-4130-90F9-E0F9B679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D40AA-B6B6-458C-ABF8-62D9A7A0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87EB9-2813-4709-BCC9-B2C8B466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Контент проходит проверку.</a:t>
            </a:r>
          </a:p>
          <a:p xmlns:a="http://schemas.openxmlformats.org/drawingml/2006/main">
            <a: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Кабинет специалиста ещё предстоит создать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ADE2C-FC0F-42CC-9FDD-A339D6CF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РЕАЛИЗОВАНО В АДМИНИСТРИРОВАНИИ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6DEFE-70CF-4140-9AE0-FCAB54AD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80FE0-5AB8-4929-BBE3-1DB4AB89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Черновик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8C8F7-A83F-418D-A2A5-A81DAD52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Механика, стимулы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методическая карточка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022C3-448C-4E35-BE31-2FDC2BBCBA89}"/>
              </a:ext>
            </a:extLst>
          </p:cNvPr>
          <p:cNvCxnSpPr/>
          <p:nvPr/>
        </p:nvCxnSpPr>
        <p:spPr>
          <a:xfrm xmlns:a="http://schemas.openxmlformats.org/drawingml/2006/main">
            <a:off x="3714750" y="41243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F3C88-BB7F-4541-B9E2-E456BDB0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766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3ED91-9798-43C2-8BBC-EC92B1A9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91477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Предпросмотр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1DD2B-29B1-4927-8420-46FCCAC4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244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Проверка структуры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прохождения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52365-90E7-40CE-83E9-E841F40BB2FC}"/>
              </a:ext>
            </a:extLst>
          </p:cNvPr>
          <p:cNvCxnSpPr/>
          <p:nvPr/>
        </p:nvCxnSpPr>
        <p:spPr>
          <a:xfrm xmlns:a="http://schemas.openxmlformats.org/drawingml/2006/main">
            <a:off x="7305675" y="41243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A96FF-6202-44CA-8308-0515734B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766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251F2-8540-4559-B0C5-958E1027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1477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Проверки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1275C-3D36-4C55-B696-A802C1C5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244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Методика, доступность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разрешение релиза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73EE4-A104-4A44-87A4-4DFAD3FCE774}"/>
              </a:ext>
            </a:extLst>
          </p:cNvPr>
          <p:cNvCxnSpPr/>
          <p:nvPr/>
        </p:nvCxnSpPr>
        <p:spPr>
          <a:xfrm xmlns:a="http://schemas.openxmlformats.org/drawingml/2006/main">
            <a:off x="10896600" y="41243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47FB62-F8FD-42EE-A1F8-D60AB026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4766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CB26A-E551-4CF1-AD43-6815B2E4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91477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Публикация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FF48DE-85E4-45B6-96A4-466C3AA3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9244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Контроль статусов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версии материала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18CC87-1C3F-4332-B13D-AA00292C1635}"/>
              </a:ext>
            </a:extLst>
          </p:cNvPr>
          <p:cNvCxnSpPr/>
          <p:nvPr/>
        </p:nvCxnSpPr>
        <p:spPr>
          <a:xfrm xmlns:a="http://schemas.openxmlformats.org/drawingml/2006/main">
            <a:off x="609600" y="6515100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5D0"/>
            </a:solidFill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4A3494-79D2-45FD-868B-1A91DE51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294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rPr>
              <a:t>ТЕКУЩАЯ ГРАНИЦА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0F7B50-A5D5-401B-891A-57CD73C0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10425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13 демозаданий доступны локально. При строгой методической фильтрации</a:t>
            </a:r>
          </a:p>
          <a:p xmlns:a="http://schemas.openxmlformats.org/drawingml/2006/main">
            <a:pPr>
              <a:defRPr sz="21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каталог пуст: независимое одобрение контента пока не подтверждено.</a:t>
            </a:r>
          </a:p>
        </p:txBody>
      </p:sp>
    </p:spTree>
    <p:extLst>
      <p:ext uri="{BB962C8B-B14F-4D97-AF65-F5344CB8AC3E}">
        <p14:creationId xmlns:p14="http://schemas.microsoft.com/office/powerpoint/2010/main" val="13375028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2B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9513ED-44F8-4565-A1C9-A5CEFD19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5DE45-6B39-4A5C-8638-8C7D83B6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ПЕРСОНАЛИЗАЦИЯ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536E4-7EC9-420F-8B9F-B13FDEC1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13DAC-78AE-4610-9741-68112E8900C7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6506C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B4ABF-2BFB-4028-961F-F6E7E092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1A382-B707-4CF8-B8FD-B899AF61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A3CAD-B20E-46C8-B835-777DDEAF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104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Адаптация, которую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можно объяснить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6D3CB-A159-41C2-BF5C-D7ECA6BC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13CE7-B07E-4FDA-B71E-F541CCE3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9090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последних завершённых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результатов по навыку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29C2A-1C43-4B97-8CAF-BFF8EB42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1.0—2.0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AB61F-5592-4CF6-BFFE-65DC86B7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2455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веса: новые результаты влияют сильнее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06279-44BE-4424-8C02-797F9EC8C6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2008b21f64531"/>
          <a:stretch xmlns:a="http://schemas.openxmlformats.org/drawingml/2006/main"/>
        </p:blipFill>
        <p:spPr>
          <a:xfrm xmlns:a="http://schemas.openxmlformats.org/drawingml/2006/main">
            <a:off x="8705850" y="3025983"/>
            <a:ext cx="5905500" cy="2730084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95FA3-8F97-449E-A3A1-B2A13FF5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91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Результаты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159A86-E4C8-4531-8CE1-A2EEA80395F7}"/>
              </a:ext>
            </a:extLst>
          </p:cNvPr>
          <p:cNvCxnSpPr/>
          <p:nvPr/>
        </p:nvCxnSpPr>
        <p:spPr>
          <a:xfrm xmlns:a="http://schemas.openxmlformats.org/drawingml/2006/main">
            <a:off x="3152775" y="71628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EFD84-C68E-417E-BB59-BF2B06BF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991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Точность и помощь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F3073-FC94-4614-9119-6F980F6F4668}"/>
              </a:ext>
            </a:extLst>
          </p:cNvPr>
          <p:cNvCxnSpPr/>
          <p:nvPr/>
        </p:nvCxnSpPr>
        <p:spPr>
          <a:xfrm xmlns:a="http://schemas.openxmlformats.org/drawingml/2006/main">
            <a:off x="6010275" y="71628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C047C-7710-4F5D-BC74-8D242C8D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991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Правила уровня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5D967-B517-4FFF-9FD9-F28B9CA09A16}"/>
              </a:ext>
            </a:extLst>
          </p:cNvPr>
          <p:cNvCxnSpPr/>
          <p:nvPr/>
        </p:nvCxnSpPr>
        <p:spPr>
          <a:xfrm xmlns:a="http://schemas.openxmlformats.org/drawingml/2006/main">
            <a:off x="8867775" y="71628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21ED7-1A33-4130-8138-9A2EEEC8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991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Ротация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AA55D-5343-42F8-9DA9-AAD5E605A909}"/>
              </a:ext>
            </a:extLst>
          </p:cNvPr>
          <p:cNvCxnSpPr/>
          <p:nvPr/>
        </p:nvCxnSpPr>
        <p:spPr>
          <a:xfrm xmlns:a="http://schemas.openxmlformats.org/drawingml/2006/main">
            <a:off x="11725275" y="71628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946C41-155A-4CB8-94A8-8391663C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991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Задание с причиной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D366E5-EEC0-476E-B2DD-38F3182A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134100"/>
            <a:ext cx="581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Детерминированные правила. Без LLM и внешнего AI API.</a:t>
            </a:r>
          </a:p>
        </p:txBody>
      </p:sp>
    </p:spTree>
    <p:extLst>
      <p:ext uri="{BB962C8B-B14F-4D97-AF65-F5344CB8AC3E}">
        <p14:creationId xmlns:p14="http://schemas.microsoft.com/office/powerpoint/2010/main" val="7098293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6DCF3-E4DB-4237-9BAA-0A57AD17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FC8CC-A338-4231-8A46-2356BC2B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КОММУНИКАЦИЯ AAC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6FF28-3906-417E-9A1A-F55025B2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41BC8-37B9-4F1B-B2D1-D22A97E121D6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BA204-F3BE-487D-A430-68923767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68D3D-3701-4BC9-A83A-FA5E598D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3C5E3-895A-4410-8B6D-983BA2CF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143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Быть услышанным</a:t>
            </a:r>
          </a:p>
          <a:p xmlns:a="http://schemas.openxmlformats.org/drawingml/2006/main">
            <a: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можно уже сейчас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A46CD-5ADF-42DA-BD26-29054FB8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«Помоги». «Стоп». «Перерыв».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749E5-C64D-4422-BC5D-AA498F66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9675"/>
            <a:ext cx="6572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Быстрые сообщения доступны</a:t>
            </a:r>
          </a:p>
          <a:p xmlns:a="http://schemas.openxmlformats.org/drawingml/2006/main">
            <a: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отдельно от занятия.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Карточки помогают собрать</a:t>
            </a:r>
          </a:p>
          <a:p xmlns:a="http://schemas.openxmlformats.org/drawingml/2006/main">
            <a: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озвучить собственную фразу.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73982-6F4A-4BF8-8FC1-D1D4989844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4d61c98ce463b"/>
          <a:stretch xmlns:a="http://schemas.openxmlformats.org/drawingml/2006/main"/>
        </p:blipFill>
        <p:spPr>
          <a:xfrm xmlns:a="http://schemas.openxmlformats.org/drawingml/2006/main">
            <a:off x="8257276" y="1123950"/>
            <a:ext cx="6231148" cy="638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861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2779B4-8076-4D50-BDC9-F34767DB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3E8A0-9C42-4B78-93E8-A9236087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ПОЛНЫЙ ПРОЦЕСС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8F22C-9CFF-4C8F-90DB-BAF14C76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84EC1-7B01-4FAC-A1FA-3C40452AE4EC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02050-554D-4B4C-ADF9-65C96F7C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A1A97-33DD-4670-B31D-E595AECA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54402-AA93-4A49-904F-4CD6DECC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От домашней цели</a:t>
            </a:r>
          </a:p>
          <a:p xmlns:a="http://schemas.openxmlformats.org/drawingml/2006/main">
            <a: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 следующему занятию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9A11F-D0AF-4CC0-86C8-F74375C4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DC754-0239-4C96-9252-300B7C2E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Цель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795FB-FE38-4A6F-9052-0DB0423E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457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Узнавать знакомые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предметы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6577D-5FAE-4BE4-9E59-77C22D265C45}"/>
              </a:ext>
            </a:extLst>
          </p:cNvPr>
          <p:cNvCxnSpPr/>
          <p:nvPr/>
        </p:nvCxnSpPr>
        <p:spPr>
          <a:xfrm xmlns:a="http://schemas.openxmlformats.org/drawingml/2006/main">
            <a:off x="3067050" y="3857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9E41D-3AE2-4813-B077-2C89FA89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623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5AB82-5138-4931-BA06-F24DE94A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00450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Подбор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5ABAF-55CA-4C43-84F9-656A3CB2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10100"/>
            <a:ext cx="2457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Активная цель, история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разрешённый каталог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27D47-8D13-4306-9A80-CCC50524516C}"/>
              </a:ext>
            </a:extLst>
          </p:cNvPr>
          <p:cNvCxnSpPr/>
          <p:nvPr/>
        </p:nvCxnSpPr>
        <p:spPr>
          <a:xfrm xmlns:a="http://schemas.openxmlformats.org/drawingml/2006/main">
            <a:off x="5943600" y="3857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CD603-D8FF-47B6-868C-F4000F42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623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C0BA43-DA88-4391-9CEE-F7081FCD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Практика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E7562-9DA2-4DA7-BEBC-F165AA5C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10100"/>
            <a:ext cx="2457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Послушать слово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выбрать картинку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34537-4C6D-4E45-AFED-0678A2E23B6C}"/>
              </a:ext>
            </a:extLst>
          </p:cNvPr>
          <p:cNvCxnSpPr/>
          <p:nvPr/>
        </p:nvCxnSpPr>
        <p:spPr>
          <a:xfrm xmlns:a="http://schemas.openxmlformats.org/drawingml/2006/main">
            <a:off x="8820150" y="3857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BA4431-5A5C-439A-A71B-8E3AE2D8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623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69B312-3091-4D49-8474-1BBB4A87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00450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27FDAF-598A-4333-A4BE-413C283E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10100"/>
            <a:ext cx="2457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Ответ, помощь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статус попытки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DDDED0-0348-46EF-8BD4-8CCB20EB061C}"/>
              </a:ext>
            </a:extLst>
          </p:cNvPr>
          <p:cNvCxnSpPr/>
          <p:nvPr/>
        </p:nvCxnSpPr>
        <p:spPr>
          <a:xfrm xmlns:a="http://schemas.openxmlformats.org/drawingml/2006/main">
            <a:off x="11696700" y="3857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CF8F1F-2BF4-4EA4-9F3E-F5B0F1D2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1623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6F4413-F462-4CE2-BAA6-122AB8AA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600450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Новый план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34AFCA-073B-4477-9FAC-5A7D27EF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610100"/>
            <a:ext cx="2457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Обновить подбор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с учётом истории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67A2F8-FBA8-41E5-941B-E79DEBDB44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1baa915044e01"/>
          <a:stretch xmlns:a="http://schemas.openxmlformats.org/drawingml/2006/main"/>
        </p:blipFill>
        <p:spPr>
          <a:xfrm xmlns:a="http://schemas.openxmlformats.org/drawingml/2006/main">
            <a:off x="1969077" y="6115050"/>
            <a:ext cx="1510145" cy="1524000"/>
          </a:xfrm>
          <a:prstGeom xmlns:a="http://schemas.openxmlformats.org/drawingml/2006/main" prst="rect">
            <a:avLst/>
          </a:prstGeom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D7C155-B1B4-4FA5-8131-9314311FEB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ac55628684705"/>
          <a:stretch xmlns:a="http://schemas.openxmlformats.org/drawingml/2006/main"/>
        </p:blipFill>
        <p:spPr>
          <a:xfrm xmlns:a="http://schemas.openxmlformats.org/drawingml/2006/main">
            <a:off x="6647710" y="6115050"/>
            <a:ext cx="1982680" cy="1524000"/>
          </a:xfrm>
          <a:prstGeom xmlns:a="http://schemas.openxmlformats.org/drawingml/2006/main" prst="rect">
            <a:avLst/>
          </a:prstGeom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B645B9-CE5C-4265-9776-53C5DBF3EA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fd5e58ff2426f"/>
          <a:stretch xmlns:a="http://schemas.openxmlformats.org/drawingml/2006/main"/>
        </p:blipFill>
        <p:spPr>
          <a:xfrm xmlns:a="http://schemas.openxmlformats.org/drawingml/2006/main">
            <a:off x="11796607" y="6115050"/>
            <a:ext cx="1476587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965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2B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133096-6ABE-4AD1-8ECB-8DE0477D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861FC-A30F-4320-9931-86AA59A1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АРХИТЕКТУРА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DC443-49A9-475A-B804-920F8F45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B74D2-60A1-44FD-AC8F-3C1CC1A7E0B6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6506C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FB3A5-15C4-47BA-A680-D9B16F9C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489F7-A36B-4A05-A397-EBD6F482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00D11-A427-4A1D-AE39-207E7942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Компактная архитектура</a:t>
            </a:r>
          </a:p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 локальной логикой адаптации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D4C24-D980-4839-80AE-BE55ED41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КЛИЕНТ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C4811-7F13-439B-BB0A-1DD6DA91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57500"/>
            <a:ext cx="10363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C5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6B1F9-83F6-4284-AE85-260211CF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07657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Next.js 16 / React 19 / TypeScript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A8E89-80DC-499A-92B2-B504B936BF12}"/>
              </a:ext>
            </a:extLst>
          </p:cNvPr>
          <p:cNvCxnSpPr/>
          <p:nvPr/>
        </p:nvCxnSpPr>
        <p:spPr>
          <a:xfrm xmlns:a="http://schemas.openxmlformats.org/drawingml/2006/main">
            <a:off x="9334500" y="384810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F967E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CBCBD-322C-4D0B-B9AA-014B9DB5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JSON API · HttpOnly-cookie · CSRF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57BE3-5152-4F59-91CA-28C35D88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ПРИЛОЖЕНИЕ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4F1DC-6184-4740-8659-E8C93489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52950"/>
            <a:ext cx="10363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C5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8B94C2-204B-4132-88A6-0869BBC0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7244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FastAPI / Python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CCBAD-2B3D-4471-80D5-E1EBB02A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343525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Авторизация     Упражнения     Цели     Планировщик правил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CE467-9718-4036-AA5C-3986D979310E}"/>
              </a:ext>
            </a:extLst>
          </p:cNvPr>
          <p:cNvCxnSpPr/>
          <p:nvPr/>
        </p:nvCxnSpPr>
        <p:spPr>
          <a:xfrm xmlns:a="http://schemas.openxmlformats.org/drawingml/2006/main">
            <a:off x="9334500" y="60007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F967E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826B81-BC3D-4275-AC1D-0970467A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00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ДАННЫЕ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EEBFB-0171-4E21-9CBE-CC2FAFF4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86525"/>
            <a:ext cx="10363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C5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4283B-B633-4680-9C7B-F4FB77A6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66770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SQLite локально / PostgreSQL для развёртывания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FDEF89-2230-40A4-9859-4BDC144F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71628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SQL и версионируемые миграции · Статические изображения и аудио</a:t>
            </a:r>
          </a:p>
        </p:txBody>
      </p:sp>
    </p:spTree>
    <p:extLst>
      <p:ext uri="{BB962C8B-B14F-4D97-AF65-F5344CB8AC3E}">
        <p14:creationId xmlns:p14="http://schemas.microsoft.com/office/powerpoint/2010/main" val="7962259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B545CE-90E7-4D32-8C74-E8DF7EA5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1C19B-D99C-4426-A8AC-448D831F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БЕЗОПАСНОСТЬ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DFC3A-C8BF-4D7F-A0F0-15C492F4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447DA-F2DF-4A0E-9B28-082FD6EEF6A0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39711-CEF6-495E-A53D-D191C03C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8A9B3-3976-4796-9551-62EA81A0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4F411-2777-4103-9227-0971CBF4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Защита данных реализована.</a:t>
            </a:r>
          </a:p>
          <a:p xmlns:a="http://schemas.openxmlformats.org/drawingml/2006/main">
            <a: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Готовность к пилоту требует проверки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770D1-57C8-4752-805D-FDBF06CF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rPr>
              <a:t>ЕСТЬ В КОДЕ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88F03-80C0-48F3-B0BB-257C4655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956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ДО РЕАЛЬНОГО ПИЛОТА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BBCCB-448C-4E3E-BFDF-B974B3BCAD6A}"/>
              </a:ext>
            </a:extLst>
          </p:cNvPr>
          <p:cNvCxnSpPr/>
          <p:nvPr/>
        </p:nvCxnSpPr>
        <p:spPr>
          <a:xfrm xmlns:a="http://schemas.openxmlformats.org/drawingml/2006/main">
            <a:off x="7734300" y="3048000"/>
            <a:ext cx="0" cy="4381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5D0"/>
            </a:solidFill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99C70-1BF2-4623-A94F-BCB518AB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76650"/>
            <a:ext cx="666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HttpOnly-cookie и CSRF-защита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7992F-817E-42FB-802D-1DBAC43C50C5}"/>
              </a:ext>
            </a:extLst>
          </p:cNvPr>
          <p:cNvCxnSpPr/>
          <p:nvPr/>
        </p:nvCxnSpPr>
        <p:spPr>
          <a:xfrm xmlns:a="http://schemas.openxmlformats.org/drawingml/2006/main">
            <a:off x="619125" y="429577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A5820-C167-40C4-8A0B-7EB71024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67225"/>
            <a:ext cx="666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Argon2 и разграничение ролей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904BA-A3CD-4496-B6EE-75DBE60158E1}"/>
              </a:ext>
            </a:extLst>
          </p:cNvPr>
          <p:cNvCxnSpPr/>
          <p:nvPr/>
        </p:nvCxnSpPr>
        <p:spPr>
          <a:xfrm xmlns:a="http://schemas.openxmlformats.org/drawingml/2006/main">
            <a:off x="619125" y="5086350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55E06-BB6F-4454-B62C-15228E20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666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Изоляция данных семей и согласия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83DBC-17B9-4783-9FAB-ECB21BAB8197}"/>
              </a:ext>
            </a:extLst>
          </p:cNvPr>
          <p:cNvCxnSpPr/>
          <p:nvPr/>
        </p:nvCxnSpPr>
        <p:spPr>
          <a:xfrm xmlns:a="http://schemas.openxmlformats.org/drawingml/2006/main">
            <a:off x="619125" y="587692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FF6BB-2546-4983-A106-B2E16851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666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Экспорт, удаление и журнал действий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0DA6C-87AC-4130-B955-3886AE61C0CE}"/>
              </a:ext>
            </a:extLst>
          </p:cNvPr>
          <p:cNvCxnSpPr/>
          <p:nvPr/>
        </p:nvCxnSpPr>
        <p:spPr>
          <a:xfrm xmlns:a="http://schemas.openxmlformats.org/drawingml/2006/main">
            <a:off x="619125" y="6667500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708E0C-C8A4-4D13-ADA1-62741565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67665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Независимая проверка контента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491888-D56B-4EA1-B52E-C32476DC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6722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Юридическая проверка детских данных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9A3006-8899-4C8C-83BD-6111BBF5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25780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Реальные устройства и доступность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0442F-0855-4D57-B469-024638C6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04837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Проверка развёртывания и восстановления</a:t>
            </a:r>
          </a:p>
        </p:txBody>
      </p:sp>
    </p:spTree>
    <p:extLst>
      <p:ext uri="{BB962C8B-B14F-4D97-AF65-F5344CB8AC3E}">
        <p14:creationId xmlns:p14="http://schemas.microsoft.com/office/powerpoint/2010/main" val="7432153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5AA32-E285-46B7-9828-1F893409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D900B-D8C6-4953-84E6-E2D142C4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МАСШТАБ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A9870-2265-4656-AA84-257A79CB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9ED3C-4F7F-4591-8E98-4946FEE68E41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1299C-EADA-4DAE-B11B-D5D1AC58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7DFC0-3D44-4A4B-A0BD-8434C81D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8DF6D-A94C-43D1-9180-02F058AF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Работающий MVP.</a:t>
            </a:r>
          </a:p>
          <a:p xmlns:a="http://schemas.openxmlformats.org/drawingml/2006/main">
            <a: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Следующий рубеж — безопасный пилот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C3463-9D8A-45F3-B6A4-64744786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A2835-A40A-48DA-9C2F-E776A1F3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423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доступных демозаданий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C781B-C122-48CB-B2FA-6ED7C034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105150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7328D-0C3B-4FC4-87EA-06B3648F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362450"/>
            <a:ext cx="423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базовые AAC-карточки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584A0-9481-4350-8E24-300A9550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05150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7A3DE-0EDB-49D7-BD8C-CC5C016A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362450"/>
            <a:ext cx="423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шаблонов домашних целей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63DFF-91FB-47A6-B206-98ECCC92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72181-70A1-44A3-8F01-599C77C2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62725"/>
            <a:ext cx="423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уровня адаптивной сложности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D5E95-9102-4EF3-8A68-CCC99AE5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305425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rPr>
              <a:t>101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0EC7C-BEE7-48A3-ACCF-848C98F7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6562725"/>
            <a:ext cx="423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автотест прошёл сейчас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3D0D0-A388-4B25-8485-1A34A130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305425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19976-B703-4DEC-8B83-341DC76C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62725"/>
            <a:ext cx="423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включённый язык: русский</a:t>
            </a:r>
          </a:p>
        </p:txBody>
      </p:sp>
    </p:spTree>
    <p:extLst>
      <p:ext uri="{BB962C8B-B14F-4D97-AF65-F5344CB8AC3E}">
        <p14:creationId xmlns:p14="http://schemas.microsoft.com/office/powerpoint/2010/main" val="12216654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2B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D8AA9A-7A21-42E4-9290-F347DE14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9B933-F188-41F1-821C-0E17EF2B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БИЗНЕС-МОДЕЛЬ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07762-1EEB-4BF6-924F-2119DB5E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2C75C-42A5-4A55-8F95-9787C45D6635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6506C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F1FCD-CEC0-4372-B6E7-2F4DE64D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12BE8-5AD9-4C76-8EBE-BB00202E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48DA5-3AFB-4AE7-8E6E-CCA81F0C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Подписка центра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 доступом для семей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2AB04-5089-4B31-A0D9-959CB78F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ПРЕДЛАГАЕМАЯ МОДЕЛЬ B2B2C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F384D-D5DB-4F7E-B931-0B509A5B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Центр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39E83-B1BB-43EB-AE7E-19FE12C6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Руководитель выбирает</a:t>
            </a:r>
          </a:p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и оплачивает платформу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27A94-AFE6-4AE1-9775-B99AB5EE7AA2}"/>
              </a:ext>
            </a:extLst>
          </p:cNvPr>
          <p:cNvCxnSpPr/>
          <p:nvPr/>
        </p:nvCxnSpPr>
        <p:spPr>
          <a:xfrm xmlns:a="http://schemas.openxmlformats.org/drawingml/2006/main">
            <a:off x="3752850" y="41052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FE39A-34B8-4DE8-8A4C-A1612CE6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9095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5D15D-8F34-4161-A5FB-3D6A6E4B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339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Подписка на организацию</a:t>
            </a:r>
          </a:p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и активные профили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F83BA-8484-43E8-8C8F-D939A57E1768}"/>
              </a:ext>
            </a:extLst>
          </p:cNvPr>
          <p:cNvCxnSpPr/>
          <p:nvPr/>
        </p:nvCxnSpPr>
        <p:spPr>
          <a:xfrm xmlns:a="http://schemas.openxmlformats.org/drawingml/2006/main">
            <a:off x="7343775" y="41052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B10DC-58C2-4DA2-94FD-6EEAD6BD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9095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20579-22DB-48EB-805F-C9D6C4AA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339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Ведёт домашнюю практику</a:t>
            </a:r>
          </a:p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после запуска кабинета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5BE2F-3FF4-49EC-A4D2-74E172D32593}"/>
              </a:ext>
            </a:extLst>
          </p:cNvPr>
          <p:cNvCxnSpPr/>
          <p:nvPr/>
        </p:nvCxnSpPr>
        <p:spPr>
          <a:xfrm xmlns:a="http://schemas.openxmlformats.org/drawingml/2006/main">
            <a:off x="10934700" y="41052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A5B8D-C788-45AB-BC22-66B76A39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79095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Семья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DB617-6095-4F9A-B548-6FC29A9A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339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Получает задания</a:t>
            </a:r>
          </a:p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и доступ к коммуникации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1A2C40-CB7C-4FE0-A89F-3045EDFA3080}"/>
              </a:ext>
            </a:extLst>
          </p:cNvPr>
          <p:cNvCxnSpPr/>
          <p:nvPr/>
        </p:nvCxnSpPr>
        <p:spPr>
          <a:xfrm xmlns:a="http://schemas.openxmlformats.org/drawingml/2006/main">
            <a:off x="609600" y="6172200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6506C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DCC3A2-352D-4DA7-B528-B2B71B1C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341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 что платят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6FB405-0826-468D-B2E9-4B61A24A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543675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За организацию практики между занятиями,</a:t>
            </a:r>
          </a:p>
          <a:p xmlns:a="http://schemas.openxmlformats.org/drawingml/2006/main">
            <a:pPr>
              <a:defRPr sz="23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управление материалами и понятную обратную связь семье.</a:t>
            </a:r>
          </a:p>
        </p:txBody>
      </p:sp>
    </p:spTree>
    <p:extLst>
      <p:ext uri="{BB962C8B-B14F-4D97-AF65-F5344CB8AC3E}">
        <p14:creationId xmlns:p14="http://schemas.microsoft.com/office/powerpoint/2010/main" val="4763617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A51CA1-56E7-440C-8F1D-8E9CF937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D649F-2A18-416A-9443-211D9263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МОНЕТИЗАЦИЯ И ЭКОНОМИКА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C5A42-42DF-4A08-802F-BE6BCDA9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5A8FA-FC6E-481F-A164-6CBA80A78DB3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8676F-27F0-4312-9587-E8D0E185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C1BC0-C336-4DC6-94A4-C0079033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D0D4D-E399-4396-80BE-77303AAB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Выручка зависит от числа центров</a:t>
            </a:r>
          </a:p>
          <a:p xmlns:a="http://schemas.openxmlformats.org/drawingml/2006/main">
            <a: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и подтверждённой ценности подписки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A3532-5A00-4F73-95BB-1A27101C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33675"/>
            <a:ext cx="1390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СЦЕНАРИИ, НЕ ПРОДАЖИ И НЕ УТВЕРЖДЁННЫЕ ТАРИФЫ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9E8F8-CCF7-4B8A-BABF-F96C3E92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Организации × платёж = MRR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D6C4F-7C6B-459B-BF09-74EEE8BE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10 центров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ACA0E-9F44-4277-9F78-BA67CB53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767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× 20 000 ₸ / мес.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DFB41-262C-4D9A-942B-31111883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767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= 200 000 ₸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629AF-F62E-4C55-B222-CBF166FC142A}"/>
              </a:ext>
            </a:extLst>
          </p:cNvPr>
          <p:cNvCxnSpPr/>
          <p:nvPr/>
        </p:nvCxnSpPr>
        <p:spPr>
          <a:xfrm xmlns:a="http://schemas.openxmlformats.org/drawingml/2006/main">
            <a:off x="609600" y="4933950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AC239-343B-4138-A118-136B9FB6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30 центров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C7D7E-9360-452E-BC01-578057B6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435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× 35 000 ₸ / мес.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3092F-732A-4608-92C2-6D0C1FDA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= 1 050 000 ₸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75FBE2-734E-4294-B152-6DE49A962966}"/>
              </a:ext>
            </a:extLst>
          </p:cNvPr>
          <p:cNvCxnSpPr/>
          <p:nvPr/>
        </p:nvCxnSpPr>
        <p:spPr>
          <a:xfrm xmlns:a="http://schemas.openxmlformats.org/drawingml/2006/main">
            <a:off x="609600" y="58007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038484-7AF1-4313-8EA5-85352F81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60 центров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26A4F-2B34-44F3-A843-CD492AA2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102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× 50 000 ₸ / мес.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FA2204-187A-406D-A1D6-55B45168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02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rPr>
              <a:t>= 3 000 000 ₸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B3DC07-591D-4BF7-85C6-3282608C714D}"/>
              </a:ext>
            </a:extLst>
          </p:cNvPr>
          <p:cNvCxnSpPr/>
          <p:nvPr/>
        </p:nvCxnSpPr>
        <p:spPr>
          <a:xfrm xmlns:a="http://schemas.openxmlformats.org/drawingml/2006/main">
            <a:off x="609600" y="6667500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8E2BCD-4D0A-4961-B215-4F8D7C3B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4375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Затраты: инфраструктура и хранение, разработка, методическая проверка,</a:t>
            </a:r>
          </a:p>
          <a:p xmlns:a="http://schemas.openxmlformats.org/drawingml/2006/main">
            <a: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поддержка и привлечение центров. MRR здесь не означает прибыль.</a:t>
            </a:r>
          </a:p>
        </p:txBody>
      </p:sp>
    </p:spTree>
    <p:extLst>
      <p:ext uri="{BB962C8B-B14F-4D97-AF65-F5344CB8AC3E}">
        <p14:creationId xmlns:p14="http://schemas.microsoft.com/office/powerpoint/2010/main" val="11679163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DA6330-22A9-4139-823D-3F8267CE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F1369-B0D0-4BE0-A4A9-B45AD71E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ВНЕДРЕНИЕ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6FEDD-C5C6-4099-B098-5ACBC252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B0BB0-93DE-4FE8-9C33-A102F4E28261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03CE6-808A-4E01-91CA-EA1FB988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D1453-D91A-4F42-91F7-B7A09D6C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A88FB-8A9D-4379-A047-5A4F55D9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Сначала готовность к пилоту.</a:t>
            </a:r>
          </a:p>
          <a:p xmlns:a="http://schemas.openxmlformats.org/drawingml/2006/main">
            <a: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Затем проверка модели в центрах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65D38-0C83-41F6-9C0A-26571D1A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7EEE9-1409-4169-9C7D-3C9ECE13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Подготовка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79009-D6C4-475E-BD83-6DDA2F89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428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Методика, данные,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устройства и доступность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E4116-13BA-4CFB-A028-4F849F117632}"/>
              </a:ext>
            </a:extLst>
          </p:cNvPr>
          <p:cNvCxnSpPr/>
          <p:nvPr/>
        </p:nvCxnSpPr>
        <p:spPr>
          <a:xfrm xmlns:a="http://schemas.openxmlformats.org/drawingml/2006/main">
            <a:off x="3067050" y="39243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20C99-6D12-42DE-82E6-296B9F23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385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4906B-AAEC-4329-A11B-2A07AC6A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766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EC428-22F7-47EE-B6A9-95A2F3DD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86300"/>
            <a:ext cx="2428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Назначения, согласия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доступ к детям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20F16-2FCF-4B5C-8915-8B6C4374A4A0}"/>
              </a:ext>
            </a:extLst>
          </p:cNvPr>
          <p:cNvCxnSpPr/>
          <p:nvPr/>
        </p:nvCxnSpPr>
        <p:spPr>
          <a:xfrm xmlns:a="http://schemas.openxmlformats.org/drawingml/2006/main">
            <a:off x="5943600" y="39243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7389A-FF5A-4A5A-9CB4-FC927A11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083B74-DE07-416F-B900-8A4438EB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Пилот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5468B-99AE-4C86-B896-8B96DD35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86300"/>
            <a:ext cx="2428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Один или несколько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центров после допуска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C8DA24-A845-4B74-AF66-DF80080AF549}"/>
              </a:ext>
            </a:extLst>
          </p:cNvPr>
          <p:cNvCxnSpPr/>
          <p:nvPr/>
        </p:nvCxnSpPr>
        <p:spPr>
          <a:xfrm xmlns:a="http://schemas.openxmlformats.org/drawingml/2006/main">
            <a:off x="8820150" y="39243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0127A-9DCA-4718-9A2E-1B402878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62B82-8D07-491F-88AE-C709D8F3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766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Обратная связь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92140E-266C-4C8E-9409-09F10AB8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86300"/>
            <a:ext cx="2428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Удобство семьи, время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специалиста, возвраты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ECAD8-0AF6-4F15-90B0-08935759A8B8}"/>
              </a:ext>
            </a:extLst>
          </p:cNvPr>
          <p:cNvCxnSpPr/>
          <p:nvPr/>
        </p:nvCxnSpPr>
        <p:spPr>
          <a:xfrm xmlns:a="http://schemas.openxmlformats.org/drawingml/2006/main">
            <a:off x="11696700" y="39243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B37BE4-E62A-4901-BF73-56A82F7B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2385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B4BC08-1DC5-49AE-8221-CE478B3B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6766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Внедрение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3B95F0-BA73-48E6-AE60-22903C29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686300"/>
            <a:ext cx="2428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Готовность платить,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поддержка и расширение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9D7AEC-27F6-4E6E-B7C2-9EED746EA724}"/>
              </a:ext>
            </a:extLst>
          </p:cNvPr>
          <p:cNvCxnSpPr/>
          <p:nvPr/>
        </p:nvCxnSpPr>
        <p:spPr>
          <a:xfrm xmlns:a="http://schemas.openxmlformats.org/drawingml/2006/main">
            <a:off x="609600" y="6477000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5D0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493A1D-DE4D-4D1F-BB5E-CB8849BD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580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rPr>
              <a:t>Критерий перехода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6B49C0-2E08-4E54-9A8A-B234C24D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87705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Согласованные проверки и наблюдаемые результаты этапа.</a:t>
            </a:r>
          </a:p>
          <a:p xmlns:a="http://schemas.openxmlformats.org/drawingml/2006/main">
            <a: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Партнёрства и пилоты пока не подтверждены.</a:t>
            </a:r>
          </a:p>
        </p:txBody>
      </p:sp>
    </p:spTree>
    <p:extLst>
      <p:ext uri="{BB962C8B-B14F-4D97-AF65-F5344CB8AC3E}">
        <p14:creationId xmlns:p14="http://schemas.microsoft.com/office/powerpoint/2010/main" val="2590446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42B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F38B0-D468-473E-A6BE-9EE8945D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C709E-0372-4AA3-A904-C60C1E8D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EVERY VOICE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D4927-78F6-49A2-8495-A0BB8B3A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C1908-D29D-4301-820B-E9632532696F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6506C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B1A1F-3424-4F36-8FD8-82EF1D59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BEEC5-7BC6-4FEC-8E5A-1E3CC005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8CE29-75E5-446E-9976-4697BA1D87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d93040ed94936"/>
          <a:stretch xmlns:a="http://schemas.openxmlformats.org/drawingml/2006/main"/>
        </p:blipFill>
        <p:spPr>
          <a:xfrm xmlns:a="http://schemas.openxmlformats.org/drawingml/2006/main">
            <a:off x="619125" y="1190625"/>
            <a:ext cx="990600" cy="990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7B073-E913-4867-A3DE-082CD0A4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9144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Технологии,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которые помогают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быть услышанным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0F255-F82D-4319-A4F5-2D3FF1B719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1f9da8087414b"/>
          <a:stretch xmlns:a="http://schemas.openxmlformats.org/drawingml/2006/main"/>
        </p:blipFill>
        <p:spPr>
          <a:xfrm xmlns:a="http://schemas.openxmlformats.org/drawingml/2006/main" rot="180000">
            <a:off x="10334625" y="2238807"/>
            <a:ext cx="3905250" cy="399963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9FE13-6C38-4E8C-AA8F-4BE74D47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96025"/>
            <a:ext cx="942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Söyle поддерживает коммуникацию</a:t>
            </a:r>
          </a:p>
          <a:p xmlns:a="http://schemas.openxmlformats.org/drawingml/2006/main">
            <a: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и спокойную домашнюю практику</a:t>
            </a:r>
          </a:p>
          <a:p xmlns:a="http://schemas.openxmlformats.org/drawingml/2006/main">
            <a: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рядом с семьёй и специалистом.</a:t>
            </a:r>
          </a:p>
        </p:txBody>
      </p:sp>
    </p:spTree>
    <p:extLst>
      <p:ext uri="{BB962C8B-B14F-4D97-AF65-F5344CB8AC3E}">
        <p14:creationId xmlns:p14="http://schemas.microsoft.com/office/powerpoint/2010/main" val="1111770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2026-10-18T17:22:06.2290000Z</dcterms:created>
  <dcterms:modified xsi:type="dcterms:W3CDTF">2026-10-18T17:22:06.2290000Z</dcterms:modified>
</coreProperties>
</file>