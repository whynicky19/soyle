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16afd6296c4da5" /><Relationship Type="http://schemas.openxmlformats.org/officeDocument/2006/relationships/extended-properties" Target="/docProps/app.xml" Id="R96916b55b5574f58" /><Relationship Type="http://schemas.openxmlformats.org/officeDocument/2006/relationships/officeDocument" Target="/ppt/presentation.xml" Id="R7c0d1a496f214e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938163638f406d"/>
  </p:sldMasterIdLst>
  <p:notesMasterIdLst>
    <p:notesMasterId xmlns:r="http://schemas.openxmlformats.org/officeDocument/2006/relationships" r:id="R17d0a96f00844175"/>
  </p:notesMasterIdLst>
  <p:sldIdLst>
    <p:sldId xmlns:r="http://schemas.openxmlformats.org/officeDocument/2006/relationships" id="256" r:id="Re9df950061864c88"/>
    <p:sldId xmlns:r="http://schemas.openxmlformats.org/officeDocument/2006/relationships" id="257" r:id="R2503d4117d974885"/>
    <p:sldId xmlns:r="http://schemas.openxmlformats.org/officeDocument/2006/relationships" id="258" r:id="R4671f898df6c4e88"/>
    <p:sldId xmlns:r="http://schemas.openxmlformats.org/officeDocument/2006/relationships" id="259" r:id="R9f3d15ae90054e66"/>
    <p:sldId xmlns:r="http://schemas.openxmlformats.org/officeDocument/2006/relationships" id="260" r:id="R6f0d6ab790ec4d4f"/>
    <p:sldId xmlns:r="http://schemas.openxmlformats.org/officeDocument/2006/relationships" id="261" r:id="R4cb9464db3ca40d9"/>
    <p:sldId xmlns:r="http://schemas.openxmlformats.org/officeDocument/2006/relationships" id="262" r:id="R8c85f029940a44c6"/>
    <p:sldId xmlns:r="http://schemas.openxmlformats.org/officeDocument/2006/relationships" id="263" r:id="R459b98a8108645e1"/>
    <p:sldId xmlns:r="http://schemas.openxmlformats.org/officeDocument/2006/relationships" id="264" r:id="R99d1c8dbcb5441d6"/>
    <p:sldId xmlns:r="http://schemas.openxmlformats.org/officeDocument/2006/relationships" id="265" r:id="Ra0c02032f8ba41cd"/>
    <p:sldId xmlns:r="http://schemas.openxmlformats.org/officeDocument/2006/relationships" id="266" r:id="Rcc2a44c2ae5c4f22"/>
    <p:sldId xmlns:r="http://schemas.openxmlformats.org/officeDocument/2006/relationships" id="267" r:id="Rfd8124f1a686454b"/>
    <p:sldId xmlns:r="http://schemas.openxmlformats.org/officeDocument/2006/relationships" id="268" r:id="R79b0bd120dc44820"/>
    <p:sldId xmlns:r="http://schemas.openxmlformats.org/officeDocument/2006/relationships" id="269" r:id="R53de946b10724bff"/>
    <p:sldId xmlns:r="http://schemas.openxmlformats.org/officeDocument/2006/relationships" id="270" r:id="Rb4cc225939194c60"/>
    <p:sldId xmlns:r="http://schemas.openxmlformats.org/officeDocument/2006/relationships" id="271" r:id="R58c6d3327b434e4f"/>
    <p:sldId xmlns:r="http://schemas.openxmlformats.org/officeDocument/2006/relationships" id="272" r:id="R55c600777f864ac2"/>
    <p:sldId xmlns:r="http://schemas.openxmlformats.org/officeDocument/2006/relationships" id="273" r:id="R88985dd2d4914ce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a92be7032745d6" /><Relationship Type="http://schemas.openxmlformats.org/officeDocument/2006/relationships/slideMaster" Target="/ppt/slideMasters/slideMaster1.xml" Id="R9c938163638f406d" /><Relationship Type="http://schemas.openxmlformats.org/officeDocument/2006/relationships/notesMaster" Target="/ppt/notesMasters/notesMaster1.xml" Id="R17d0a96f00844175" /><Relationship Type="http://schemas.openxmlformats.org/officeDocument/2006/relationships/presProps" Target="/ppt/presProps.xml" Id="R23afacc4700646d9" /><Relationship Type="http://schemas.openxmlformats.org/officeDocument/2006/relationships/tableStyles" Target="/ppt/tableStyles.xml" Id="Rba7bac9614f8414e" /><Relationship Type="http://schemas.openxmlformats.org/officeDocument/2006/relationships/slide" Target="/ppt/slides/slide1.xml" Id="Re9df950061864c88" /><Relationship Type="http://schemas.openxmlformats.org/officeDocument/2006/relationships/slide" Target="/ppt/slides/slide2.xml" Id="R2503d4117d974885" /><Relationship Type="http://schemas.openxmlformats.org/officeDocument/2006/relationships/slide" Target="/ppt/slides/slide3.xml" Id="R4671f898df6c4e88" /><Relationship Type="http://schemas.openxmlformats.org/officeDocument/2006/relationships/slide" Target="/ppt/slides/slide4.xml" Id="R9f3d15ae90054e66" /><Relationship Type="http://schemas.openxmlformats.org/officeDocument/2006/relationships/slide" Target="/ppt/slides/slide5.xml" Id="R6f0d6ab790ec4d4f" /><Relationship Type="http://schemas.openxmlformats.org/officeDocument/2006/relationships/slide" Target="/ppt/slides/slide6.xml" Id="R4cb9464db3ca40d9" /><Relationship Type="http://schemas.openxmlformats.org/officeDocument/2006/relationships/slide" Target="/ppt/slides/slide7.xml" Id="R8c85f029940a44c6" /><Relationship Type="http://schemas.openxmlformats.org/officeDocument/2006/relationships/slide" Target="/ppt/slides/slide8.xml" Id="R459b98a8108645e1" /><Relationship Type="http://schemas.openxmlformats.org/officeDocument/2006/relationships/slide" Target="/ppt/slides/slide9.xml" Id="R99d1c8dbcb5441d6" /><Relationship Type="http://schemas.openxmlformats.org/officeDocument/2006/relationships/slide" Target="/ppt/slides/slide10.xml" Id="Ra0c02032f8ba41cd" /><Relationship Type="http://schemas.openxmlformats.org/officeDocument/2006/relationships/slide" Target="/ppt/slides/slide11.xml" Id="Rcc2a44c2ae5c4f22" /><Relationship Type="http://schemas.openxmlformats.org/officeDocument/2006/relationships/slide" Target="/ppt/slides/slide12.xml" Id="Rfd8124f1a686454b" /><Relationship Type="http://schemas.openxmlformats.org/officeDocument/2006/relationships/slide" Target="/ppt/slides/slide13.xml" Id="R79b0bd120dc44820" /><Relationship Type="http://schemas.openxmlformats.org/officeDocument/2006/relationships/slide" Target="/ppt/slides/slide14.xml" Id="R53de946b10724bff" /><Relationship Type="http://schemas.openxmlformats.org/officeDocument/2006/relationships/slide" Target="/ppt/slides/slide15.xml" Id="Rb4cc225939194c60" /><Relationship Type="http://schemas.openxmlformats.org/officeDocument/2006/relationships/slide" Target="/ppt/slides/slide16.xml" Id="R58c6d3327b434e4f" /><Relationship Type="http://schemas.openxmlformats.org/officeDocument/2006/relationships/slide" Target="/ppt/slides/slide17.xml" Id="R55c600777f864ac2" /><Relationship Type="http://schemas.openxmlformats.org/officeDocument/2006/relationships/slide" Target="/ppt/slides/slide18.xml" Id="R88985dd2d4914c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b465bfc7da42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fa54f53b034a85" /><Relationship Type="http://schemas.openxmlformats.org/officeDocument/2006/relationships/notesMaster" Target="/ppt/notesMasters/notesMaster1.xml" Id="R86b80f71ec5343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93540d0e754ecd" /><Relationship Type="http://schemas.openxmlformats.org/officeDocument/2006/relationships/notesMaster" Target="/ppt/notesMasters/notesMaster1.xml" Id="R860c504253ee4e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e037351700496f" /><Relationship Type="http://schemas.openxmlformats.org/officeDocument/2006/relationships/notesMaster" Target="/ppt/notesMasters/notesMaster1.xml" Id="R16a9ea72c5db49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5307f2f48446d1" /><Relationship Type="http://schemas.openxmlformats.org/officeDocument/2006/relationships/notesMaster" Target="/ppt/notesMasters/notesMaster1.xml" Id="Rd9982a95820549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19e0f3e6484bf2" /><Relationship Type="http://schemas.openxmlformats.org/officeDocument/2006/relationships/notesMaster" Target="/ppt/notesMasters/notesMaster1.xml" Id="R5c15429b623746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3c6eba259f4da3" /><Relationship Type="http://schemas.openxmlformats.org/officeDocument/2006/relationships/notesMaster" Target="/ppt/notesMasters/notesMaster1.xml" Id="R07d67ea322a246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7a29208c134ca3" /><Relationship Type="http://schemas.openxmlformats.org/officeDocument/2006/relationships/notesMaster" Target="/ppt/notesMasters/notesMaster1.xml" Id="R696622b730cc47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7d81ff5b9b4e49" /><Relationship Type="http://schemas.openxmlformats.org/officeDocument/2006/relationships/notesMaster" Target="/ppt/notesMasters/notesMaster1.xml" Id="R7831928a0d0544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3ce03c7abb4924" /><Relationship Type="http://schemas.openxmlformats.org/officeDocument/2006/relationships/notesMaster" Target="/ppt/notesMasters/notesMaster1.xml" Id="R48db1a21ebc84d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4ae1eba87741ab" /><Relationship Type="http://schemas.openxmlformats.org/officeDocument/2006/relationships/notesMaster" Target="/ppt/notesMasters/notesMaster1.xml" Id="R5024afec988d42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a37fa34e7f485d" /><Relationship Type="http://schemas.openxmlformats.org/officeDocument/2006/relationships/notesMaster" Target="/ppt/notesMasters/notesMaster1.xml" Id="R5aa6c759fa0743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683e09991747c5" /><Relationship Type="http://schemas.openxmlformats.org/officeDocument/2006/relationships/notesMaster" Target="/ppt/notesMasters/notesMaster1.xml" Id="R431dcaf11d1045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85c68986e74238" /><Relationship Type="http://schemas.openxmlformats.org/officeDocument/2006/relationships/notesMaster" Target="/ppt/notesMasters/notesMaster1.xml" Id="R0cc0880692944b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9c88c6ea154d3e" /><Relationship Type="http://schemas.openxmlformats.org/officeDocument/2006/relationships/notesMaster" Target="/ppt/notesMasters/notesMaster1.xml" Id="Rf50fdad717d846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e98e25854994543" /><Relationship Type="http://schemas.openxmlformats.org/officeDocument/2006/relationships/notesMaster" Target="/ppt/notesMasters/notesMaster1.xml" Id="Rbce8a5e0aafb493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ee3fcd47bc469d" /><Relationship Type="http://schemas.openxmlformats.org/officeDocument/2006/relationships/notesMaster" Target="/ppt/notesMasters/notesMaster1.xml" Id="R3a279e78124141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aa585385bae4fbb" /><Relationship Type="http://schemas.openxmlformats.org/officeDocument/2006/relationships/notesMaster" Target="/ppt/notesMasters/notesMaster1.xml" Id="Re3239945c57f461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ae090ee82774aa4" /><Relationship Type="http://schemas.openxmlformats.org/officeDocument/2006/relationships/notesMaster" Target="/ppt/notesMasters/notesMaster1.xml" Id="R048a8979e27647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Söyle организует домашнюю практику и коммуникацию. Приложение не ставит диагноз и не заменяет логопеда. Визуальная система сохраняет синий цвет актуального приложения и добавляет тёплый фон, мятный и коралловый акценты.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README.md; frontend/components/SoyleApp.tsx; frontend/public/soyle-icon.png; child-home.png, aac.png.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Потребности описаны как продуктовые задачи, а не как результаты пользовательского исследования. Изображение из существующих материалов проекта служит иллюстрацией домашней практики, а не фотографией участника пилота. Частоту и цели практики определяют семья и специалист с учётом состояния ребёнка.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README.md; backend/app/practice_goals.py; frontend/components/SoyleApp.tsx; ASHA AAC Practice Portal https://www.asha.org/practice-portal/professional-issues/augmentative-and-alternative-communication/; family-hero.webp из frontend/public/landing/.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Схема показывает потенциальные разрывы процесса, а не измеренную частоту проблем. Специалист пока участвует вне приложения.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Продуктовый анализ текущих процессов; backend/app/practice_goals.py; backend/app/main.py sessions/progress.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текущей версии работают ребёнок, родитель и администратор. Вход specialist запрещён сервером. Общая цель описывает продуктовую концепцию, не реализованный трёхсторонний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frontend/components/SoyleApp.tsx; frontend/components/GoalsAndPractice.tsx; backend/app/security.py get_current_user.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создавался вымышленный интерфейс специалиста. Будущий кабинет отмечен текстом как план. Админ-панель не подменяет кабинет логопеда.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frontend/components/SoyleApp.tsx type Screen; backend/app/security.py; backend/app/main.py legacy specialist routes.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реального задания «Домашние животные». После ответа интерфейс даёт обратную связь и позволяет продолжить. Подсказки и статус попытки регистрируются отдельно. Упражнение относится к демонстрационному каталогу, не к методически утверждённому курсу.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frontend/components/SoyleApp.tsx SensoryGame, focus-safety-actions; frontend/lib/exerciseRuntime.ts; exercise.png.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Родитель выбирает одну из шести домашних целей, указывает исходное наблюдение и помощь, меняет статус цели, сохраняет наблюдения, отмечает предпочтительные и исключённые задания, подготавливает план и читает причины. Цели родительские, не профессиональные назначения. История цифровых заданий не равна клинической динамике.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frontend/components/GoalsAndPractice.tsx; backend/app/practice_goals.py; backend/app/adaptive_planner.py; frontend/components/FamilyPractice.tsx.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Админ имеет черновики, предварительный просмотр, формы проверок и контроль публикации. Специалист не может войти. Локальная проверка отдельной seeded SQLite: 13 доступных демозаданий, 0 при SOYLE_ALLOW_UNREVIEWED_DEMO_CONTENT=false. Статус review_status=approved у старых демоверсий не подтверждает независимую методическую проверку. Реальный экран ContentReviewWorkspace снят после разрешённого входа в демо-админ-панель. Администратор может выполнять техническую проверку; методическая, accessibility и release-проверки требуют отдельных полномочий. Решения не менялись.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frontend/components/ContentReviewWorkspace.tsx; frontend/components/SoyleApp.tsx AdminScreen; backend/app/exercise_engine.py published_exercise_rows, publish_version, submit_content_review; backend/app/security.py.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Окно до 8 завершённых результатов с response_owner=child и support_context independent/caregiver_supported. Веса линейно от 2.0 у нового до 1.0 у старого. Отдельно взвешиваются точность и самостоятельность. Уровень 2: минимум 3 результата, точность ≥76%, минимум 3 самостоятельных завершения, самостоятельность ≥50%. Уровень 3: 6 результатов, ≥88%, минимум 3 самостоятельных завершения, ≥80%. Эти пороги инженерные, клиническая валидность не доказана. Отказ, перерыв и technical_error не являются ошибками. Последнее бытовое with_help консервативно снижает уровень. Новые и реже назначенные упражнения приоритетны, предпочтения учитываются, исключения фильтруются. Сохраняются версии, параметры и причины. Быстрый план на 3/5/10 минут использует отдельную ротацию, не все пороги этого планировщика.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backend/app/adaptive_planner.py RULES_VERSION p2.2-weighted-rotation-1, _evidence, _difficulty, create_plan; backend/app/main.py; frontend/components/GoalsAndPractice.tsx.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AAC означает альтернативную и дополнительную коммуникацию. В проекте есть свободный режим без оценки, быстрые сообщения, карточки, избранное и озвучивание. В seeded базе 64 базовые карточки. Русская грамматика ограничена поддерживаемыми шаблонами. Наличие функций не доказывает индивидуальную пригодность системы AAC: подбор и оценка доступности требуют специалиста.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frontend/components/SoyleApp.tsx PhraseGame freeMode, quickCommunicationMessages; frontend/lib/aacGrammar.ts; backend/app/aac_grammar.py; backend/app/database.py aac_cards; https://www.asha.org/practice-portal/professional-issues/augmentative-and-alternative-communication/.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Реалистичный сценарий текущей реализации. В демонстрации создана родительская цель на тестовых данных. Специалист может рекомендовать цель вне платформы. Новый результат влияет на следующий сгенерированный план, а не самовольно изменяет текущий. Предпросмотр взрослого исключается из детского результата. Не представлены вымышленные достижения ребёнка.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backend/app/practice_goals.py; backend/app/adaptive_planner.py; backend/app/main.py adaptive-plans, learning-sessions, sessions; frontend/components/GoalsAndPractice.tsx.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Актуальный стек, не Nuxt/Vue и не Flutter. Схема показывает реализованные компоненты, не доказанную production-готовность. В тестовой базе 36 прикладных таблиц и схема миграции 16. Предпросмотр камеры MediaPipe остаётся внутренним прототипом, исключённым из публичного каталога. Адаптивная логика не отправляет данные внешней AI API. Подготовленное аудио и Web Speech API обслуживают озвучку, возможности зависят от устройства и браузера.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frontend/package.json; frontend/lib/api.ts; backend/requirements.txt; backend/app/main.py; database.py; migrations.py; security.py; adaptive_planner.py; tts_library.py.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Контроли реализованы, но это не юридическое заключение, сертификация или доказательство полной безопасности. Текущий код уже исключает adult_preview из сохранённых детских результатов и содержит миграции/readiness; старые аудиты описывают исторический срез и не должны переноситься буквально. Русский — единственный включённый интерфейсный язык. Нужна независимая методическая проверка и работа с доступностью на реальных устройствах.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backend/app/security.py; backend/app/main.py; frontend/lib/api.ts; backend/tests/test_workflows.py; test_p1.py; test_p21.py; SOYLE_ALALIA_AND_PLATFORM_AUDIT_2026-10-16.md; SOYLE_UI_UX_AUDIT_2026-10-16.md.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 заданий = 10 guided_aac и 3 auditory_choice в локальном деморежиме. Не включены 11 черновиков и 6 камерных прототипов. Базовые AAC-карточки посчитаны в отдельной seeded SQLite-базе после миграций. Три уровня заданы правилами, реальные параметры зависят от версии контента. 101 = 52 backend + 49 frontend unit/regression, не E2E. Тесты не доказывают клиническую эффективность или production-готовность. При строгом фильтре методической публикации доступных заданий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Локальная инвентаризация 18.10.2026: published_exercise_rows; aac_cards; practice_goal_templates; adaptive_planner.py; frontend/lib/i18n.ts. pytest -q: 52 passed; npm test: 49 passed.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Предложение: B2B SaaS, распространяемый по модели B2B2C. Пользуются ребёнок, родитель и будущий специалист. Решение и оплата у владельца/руководителя центра. Ценность подписки предполагается за повторяющуюся организацию домашней практики, поддержку и обновление проверенного контента. В продукте нет коммерческого биллинга, мультиорганизационного кабинета и работающего специалистского workflow. Для запуска нужны организация/tenant, назначения, согласия на обмен и коммерческие функции.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Бизнес-гипотеза на основе продуктовой архитектуры.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числа подписки гипотетические и требуют интервью о готовности платить. Сценарии различаются одновременно количеством организаций и средним платежом, это не прогноз роста и не фиксированная лестница тарифов. Малый кабинет: гипотеза 20 тыс. ₸, средний центр 35 тыс. ₸, организация с несколькими специалистами 50 тыс. ₸ в месяц. Прайсы логопедических занятий дают контекст расходов семьи, не оценку стоимости SaaS, размера рынка или готовности центра платить. MRR = 10×20000=200000; 30×35000=1050000; 60×50000=3000000. Разовые внедрения, скидки, налоги, churn, CAC и себестоимость не моделировались. B2B плюс: понятный плательщик, профессиональное сопровождение; минус: длиннее продажи и требования к доступам. B2B2C плюс: доступ семьям через доверенный центр; риск: зависимость активности от специалиста. B2C возможен позднее, но требует поддержки семей и отдельных затрат привлечения.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Сценарная модель автора. Рыночный контекст: https://logoped.dzeytova.kz/ (прайс 7 000 ₸ за 30 минут); https://www.logopedy.kz/ceny/ (от 5 100 ₸ за занятие), проверено поиском 18.10.2026.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пилота сначала нужен формальный допуск после методической, юридической, технической проверки и проверки доступности. В пилоте следует измерять выполнимость сценариев, корректность сохранения помощи и отказов, трудозатраты взрослого, использование семей и проблемы поддержки. Речевые/клинические эффекты требуют отдельного корректного исследования. Готовность платить и принятие B2B2C не доказаны. Казахскую локализацию можно включать после самостоятельной языковой и методической проверки.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План развития, не обязательства и не состоявшиеся партнёрства. README.md privacy restrictions; текущие ограничения specialist role, строгая фильтрация контента.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Söyle — вспомогательная система, не медицинская помощь, не диагностика и не лечение алалии. Доказательства клинической эффективности отсутствуют. Цель продукта — доступная коммуникация, организация практики и понятная поддержка семьи.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границы: README.md; подтверждённые функции, ограничения и бизнес-гипотезы в слайдах 5, 8, 13–17.</a:t>
            </a:r>
          </a:p>
          <a:p xmlns:a="http://schemas.openxmlformats.org/drawingml/2006/main">
            <a:r>
              <a:t>Срез локальной кодовой базы: 18.10.2026. Все скриншоты сняты в локальном демо на отдельной SQLite-базе. Демо-профили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faaaf54d934d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48600f241642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0fc7e666ba47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ae95bd302c4d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55d06eaaa849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a15c4fa34a40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0E160F-DC8B-4FC1-91DC-A34FAF256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7C52443-9FB1-453A-B533-4B11E0A9BA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4DD3AE8-D68F-4B4D-9C0C-BF8464377B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92FAF7-CB58-4B9D-8E0B-6693EA25AE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E65CBE9-F03B-4408-B85D-908E503311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15F029-B197-405A-AF65-6834E9D832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12E0BB-68D3-4032-8FBB-72DE200BBF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8121B14-CFAD-4670-A91C-C037D8BADD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7AF38C-F255-41D9-BA3A-C68E14F1C6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9DFBAB-BB10-458D-89A4-F5BE737308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244bfbcb0749c5" /><Relationship Type="http://schemas.openxmlformats.org/officeDocument/2006/relationships/slideLayout" Target="/ppt/slideLayouts/slideLayout1.xml" Id="Rf8febc0fc7b44860" /><Relationship Type="http://schemas.openxmlformats.org/officeDocument/2006/relationships/slideLayout" Target="/ppt/slideLayouts/slideLayout2.xml" Id="R1346259650474d54" /><Relationship Type="http://schemas.openxmlformats.org/officeDocument/2006/relationships/slideLayout" Target="/ppt/slideLayouts/slideLayout3.xml" Id="Rea0b6b0005454828" /><Relationship Type="http://schemas.openxmlformats.org/officeDocument/2006/relationships/slideLayout" Target="/ppt/slideLayouts/slideLayout4.xml" Id="Ra6563f49c28e4e83" /><Relationship Type="http://schemas.openxmlformats.org/officeDocument/2006/relationships/slideLayout" Target="/ppt/slideLayouts/slideLayout5.xml" Id="R7d376df5a31e4be0" /><Relationship Type="http://schemas.openxmlformats.org/officeDocument/2006/relationships/slideLayout" Target="/ppt/slideLayouts/slideLayout6.xml" Id="Rff552a35835744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febc0fc7b44860"/>
    <p:sldLayoutId xmlns:r="http://schemas.openxmlformats.org/officeDocument/2006/relationships" id="2147483650" r:id="R1346259650474d54"/>
    <p:sldLayoutId xmlns:r="http://schemas.openxmlformats.org/officeDocument/2006/relationships" id="2147483651" r:id="Rea0b6b0005454828"/>
    <p:sldLayoutId xmlns:r="http://schemas.openxmlformats.org/officeDocument/2006/relationships" id="2147483652" r:id="Ra6563f49c28e4e83"/>
    <p:sldLayoutId xmlns:r="http://schemas.openxmlformats.org/officeDocument/2006/relationships" id="2147483653" r:id="R7d376df5a31e4be0"/>
    <p:sldLayoutId xmlns:r="http://schemas.openxmlformats.org/officeDocument/2006/relationships" id="2147483654" r:id="Rff552a35835744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ab9648fd3949f8" /><Relationship Type="http://schemas.openxmlformats.org/officeDocument/2006/relationships/image" Target="/ppt/media/image.png" Id="R384a9ce378b1473f" /><Relationship Type="http://schemas.openxmlformats.org/officeDocument/2006/relationships/image" Target="/ppt/media/image2.png" Id="R488e484b8bda4249" /><Relationship Type="http://schemas.openxmlformats.org/officeDocument/2006/relationships/image" Target="/ppt/media/image3.png" Id="R5840c3951113463e" /><Relationship Type="http://schemas.openxmlformats.org/officeDocument/2006/relationships/notesSlide" Target="/ppt/notesSlides/notesSlide1.xml" Id="R515937b1dcae4b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65187d5b894958" /><Relationship Type="http://schemas.openxmlformats.org/officeDocument/2006/relationships/image" Target="/ppt/media/image.bin" Id="Rd7fd388db07243ca" /><Relationship Type="http://schemas.openxmlformats.org/officeDocument/2006/relationships/notesSlide" Target="/ppt/notesSlides/notesSlide2.xml" Id="Rb6c9359be4ee45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607525d0b04122" /><Relationship Type="http://schemas.openxmlformats.org/officeDocument/2006/relationships/notesSlide" Target="/ppt/notesSlides/notesSlide3.xml" Id="Re5a41828d67144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13ea600dfe43b3" /><Relationship Type="http://schemas.openxmlformats.org/officeDocument/2006/relationships/image" Target="/ppt/media/image4.png" Id="R84d1e7c5b17b449e" /><Relationship Type="http://schemas.openxmlformats.org/officeDocument/2006/relationships/notesSlide" Target="/ppt/notesSlides/notesSlide4.xml" Id="R465a7b7560dc43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01e0f2d124481c" /><Relationship Type="http://schemas.openxmlformats.org/officeDocument/2006/relationships/image" Target="/ppt/media/image5.png" Id="Rd2a450c2d86f40d0" /><Relationship Type="http://schemas.openxmlformats.org/officeDocument/2006/relationships/image" Target="/ppt/media/image6.png" Id="Rff2b8f2bd6504b07" /><Relationship Type="http://schemas.openxmlformats.org/officeDocument/2006/relationships/notesSlide" Target="/ppt/notesSlides/notesSlide5.xml" Id="Raa560bccca954f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9fc6cc2f8f406c" /><Relationship Type="http://schemas.openxmlformats.org/officeDocument/2006/relationships/image" Target="/ppt/media/image7.png" Id="Re0dde99fce3b424e" /><Relationship Type="http://schemas.openxmlformats.org/officeDocument/2006/relationships/notesSlide" Target="/ppt/notesSlides/notesSlide6.xml" Id="R0feb811a5b7449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1c188830f74f35" /><Relationship Type="http://schemas.openxmlformats.org/officeDocument/2006/relationships/image" Target="/ppt/media/image8.png" Id="Ra3f325910a8b40c3" /><Relationship Type="http://schemas.openxmlformats.org/officeDocument/2006/relationships/image" Target="/ppt/media/image9.png" Id="Re2b5fe47c4a3497e" /><Relationship Type="http://schemas.openxmlformats.org/officeDocument/2006/relationships/notesSlide" Target="/ppt/notesSlides/notesSlide7.xml" Id="R558dcd07f64a43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c7be2d50ad41af" /><Relationship Type="http://schemas.openxmlformats.org/officeDocument/2006/relationships/image" Target="/ppt/media/image10.png" Id="R63ce686285ce4d3c" /><Relationship Type="http://schemas.openxmlformats.org/officeDocument/2006/relationships/notesSlide" Target="/ppt/notesSlides/notesSlide8.xml" Id="R4c6010b98a1a4a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bd9de918a34f9f" /><Relationship Type="http://schemas.openxmlformats.org/officeDocument/2006/relationships/image" Target="/ppt/media/image11.png" Id="Rf4dc6cbb92fb4a3d" /><Relationship Type="http://schemas.openxmlformats.org/officeDocument/2006/relationships/notesSlide" Target="/ppt/notesSlides/notesSlide9.xml" Id="R9614066dea7a4b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0e358f88964a39" /><Relationship Type="http://schemas.openxmlformats.org/officeDocument/2006/relationships/image" Target="/ppt/media/image12.png" Id="Rdbc6239ef2a9444c" /><Relationship Type="http://schemas.openxmlformats.org/officeDocument/2006/relationships/notesSlide" Target="/ppt/notesSlides/notesSlide10.xml" Id="R0ca24d9da1e94b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31904e72414a68" /><Relationship Type="http://schemas.openxmlformats.org/officeDocument/2006/relationships/image" Target="/ppt/media/image13.png" Id="Rdb38b2539f9a4d3a" /><Relationship Type="http://schemas.openxmlformats.org/officeDocument/2006/relationships/image" Target="/ppt/media/image14.png" Id="R16c0143965964a7a" /><Relationship Type="http://schemas.openxmlformats.org/officeDocument/2006/relationships/image" Target="/ppt/media/image15.png" Id="Rc761e9366176459b" /><Relationship Type="http://schemas.openxmlformats.org/officeDocument/2006/relationships/notesSlide" Target="/ppt/notesSlides/notesSlide11.xml" Id="R8e4d4a69dc8d48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eaa78889df4c39" /><Relationship Type="http://schemas.openxmlformats.org/officeDocument/2006/relationships/notesSlide" Target="/ppt/notesSlides/notesSlide12.xml" Id="Rc6b8b171810548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561392889a4cc4" /><Relationship Type="http://schemas.openxmlformats.org/officeDocument/2006/relationships/notesSlide" Target="/ppt/notesSlides/notesSlide13.xml" Id="R6adf51127fd7429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a2d45d5ee24c77" /><Relationship Type="http://schemas.openxmlformats.org/officeDocument/2006/relationships/notesSlide" Target="/ppt/notesSlides/notesSlide14.xml" Id="Rde19a16107fb48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e8e32e5fd94e35" /><Relationship Type="http://schemas.openxmlformats.org/officeDocument/2006/relationships/notesSlide" Target="/ppt/notesSlides/notesSlide15.xml" Id="Re9a1cc4823f343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d21a5a0ee04423" /><Relationship Type="http://schemas.openxmlformats.org/officeDocument/2006/relationships/notesSlide" Target="/ppt/notesSlides/notesSlide16.xml" Id="R8710e24d10d746d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5cc2bf9c4a4baa" /><Relationship Type="http://schemas.openxmlformats.org/officeDocument/2006/relationships/notesSlide" Target="/ppt/notesSlides/notesSlide17.xml" Id="Rae91c622caa2496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a4797966cb4568" /><Relationship Type="http://schemas.openxmlformats.org/officeDocument/2006/relationships/image" Target="/ppt/media/image16.png" Id="Rcb023be2f122406f" /><Relationship Type="http://schemas.openxmlformats.org/officeDocument/2006/relationships/image" Target="/ppt/media/image17.png" Id="Rb1da17c46a0f4f07" /><Relationship Type="http://schemas.openxmlformats.org/officeDocument/2006/relationships/notesSlide" Target="/ppt/notesSlides/notesSlide18.xml" Id="R4a6bed2094904f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6BC07-3A1D-47BF-B729-7EEFED1B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3276C-CA3A-4123-882D-EF011F7C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HUMAN-CENTERED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38ADF-6C0A-4883-A5BB-D0D54ECD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AD73C-04FA-4DEC-81C6-972E17E22A4D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F4D58-3088-426F-BC6B-41786212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1779D-AE1A-4DC0-A408-ED5C184A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FD3A4-4AA4-42A3-B7F1-761322C8F8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a9ce378b1473f"/>
          <a:stretch xmlns:a="http://schemas.openxmlformats.org/drawingml/2006/main"/>
        </p:blipFill>
        <p:spPr>
          <a:xfrm xmlns:a="http://schemas.openxmlformats.org/drawingml/2006/main">
            <a:off x="609600" y="1190625"/>
            <a:ext cx="857250" cy="857250"/>
          </a:xfrm>
          <a:prstGeom xmlns:a="http://schemas.openxmlformats.org/drawingml/2006/main" prst="rect">
            <a:avLst/>
          </a:prstGeom>
          <ns0:ln xmlns:ns0="http://schemas.openxmlformats.org/drawingml/2006/main">
            <ns0:noFill/>
          </ns0:ln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AB639-99B0-4E0D-9821-344BC994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4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E67A5-EC4B-4CDD-A1DE-58340C5E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657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Every voice</a:t>
            </a:r>
          </a:p>
          <a:p xmlns:a="http://schemas.openxmlformats.org/drawingml/2006/main">
            <a:pPr>
              <a:def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matters.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CE2BD-16F6-4335-A3F8-399439FB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676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Домашняя практика и доступная</a:t>
            </a:r>
          </a:p>
          <a:p xmlns:a="http://schemas.openxmlformats.org/drawingml/2006/main">
            <a:pPr>
              <a:def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коммуникация для ребёнка и семьи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1CDFA-D06F-4704-8AFA-AA5B4D1F2C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e484b8bda4249"/>
          <a:stretch xmlns:a="http://schemas.openxmlformats.org/drawingml/2006/main"/>
        </p:blipFill>
        <p:spPr>
          <a:xfrm xmlns:a="http://schemas.openxmlformats.org/drawingml/2006/main" rot="-240000">
            <a:off x="7572375" y="2666250"/>
            <a:ext cx="3524250" cy="3544800"/>
          </a:xfrm>
          <a:prstGeom xmlns:a="http://schemas.openxmlformats.org/drawingml/2006/main" prst="rect">
            <a:avLst/>
          </a:prstGeom>
          <ns1:ln xmlns:ns1="http://schemas.openxmlformats.org/drawingml/2006/main">
            <ns1:noFill/>
          </ns1:ln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B443F-749E-4A2D-AB93-1FA5641A50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0c3951113463e"/>
          <a:stretch xmlns:a="http://schemas.openxmlformats.org/drawingml/2006/main"/>
        </p:blipFill>
        <p:spPr>
          <a:xfrm xmlns:a="http://schemas.openxmlformats.org/drawingml/2006/main" rot="240000">
            <a:off x="10620375" y="3026346"/>
            <a:ext cx="3762375" cy="3853309"/>
          </a:xfrm>
          <a:prstGeom xmlns:a="http://schemas.openxmlformats.org/drawingml/2006/main" prst="rect">
            <a:avLst/>
          </a:prstGeom>
          <ns2:ln xmlns:ns2="http://schemas.openxmlformats.org/drawingml/2006/main">
            <ns2:noFill/>
          </ns2:ln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77001-D64D-4FEB-82D7-32A67139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2961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РАБОТАЮЩИЙ ЛОКАЛЬНЫЙ MVP</a:t>
            </a:r>
          </a:p>
        </p:txBody>
      </p:sp>
    </p:spTree>
    <p:extLst>
      <p:ext uri="{BB962C8B-B14F-4D97-AF65-F5344CB8AC3E}">
        <p14:creationId xmlns:p14="http://schemas.microsoft.com/office/powerpoint/2010/main" val="7655852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49004-D189-4A86-B7F3-7FF9A200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469D7-B188-47C0-86FC-CAE804AF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AAE15-62A5-462B-9427-53830D00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01BB0-748E-419A-AD25-2C046BFB440A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82E12-CC9B-413F-9996-F03C3AC7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DED87-2C21-454A-9DC0-092EC01D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15C8F-00CE-4720-AE03-4E312B7287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d388db07243ca"/>
          <a:srcRect xmlns:a="http://schemas.openxmlformats.org/drawingml/2006/main" l="11385" t="0" r="113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066800"/>
            <a:ext cx="7381875" cy="6372225"/>
          </a:xfrm>
          <a:prstGeom xmlns:a="http://schemas.openxmlformats.org/drawingml/2006/main" prst="rect">
            <a:avLst/>
          </a:prstGeom>
          <ns0:ln xmlns:ns0="http://schemas.openxmlformats.org/drawingml/2006/main">
            <ns0:noFill/>
          </ns0:ln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227AD-13CF-4153-B491-CCA73117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43000"/>
            <a:ext cx="6000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Развитие общения</a:t>
            </a:r>
          </a:p>
          <a:p xmlns:a="http://schemas.openxmlformats.org/drawingml/2006/main">
            <a:pPr>
              <a:def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продолжается дома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2BCF8-4D6B-4CA7-80CA-14B8306D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813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РОДИТЕЛЬ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CFE66-CB18-4D47-ABB5-E41F1B00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433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Какие задания выбрать</a:t>
            </a:r>
          </a:p>
          <a:p xmlns:a="http://schemas.openxmlformats.org/drawingml/2006/main">
            <a: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и сколько помощи дать?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CFCD93-F074-4EC2-BFC1-B2B55705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149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CF149-6829-4962-9412-1588AE4B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7685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Что происходит с практикой</a:t>
            </a:r>
          </a:p>
          <a:p xmlns:a="http://schemas.openxmlformats.org/drawingml/2006/main">
            <a: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между встречами?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C00F5-550B-4A3D-904E-C6CEB56B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293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РЕБЁНОК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1D06A-F346-41CE-8064-9F221162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80085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Как сказать «помоги»,</a:t>
            </a:r>
          </a:p>
          <a:p xmlns:a="http://schemas.openxmlformats.org/drawingml/2006/main">
            <a:pPr>
              <a:def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«не хочу» или «перерыв»?</a:t>
            </a:r>
          </a:p>
        </p:txBody>
      </p:sp>
    </p:spTree>
    <p:extLst>
      <p:ext uri="{BB962C8B-B14F-4D97-AF65-F5344CB8AC3E}">
        <p14:creationId xmlns:p14="http://schemas.microsoft.com/office/powerpoint/2010/main" val="2406269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2A73C4-38C6-4F07-B041-02A1A0DB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39F57-9158-4DD8-B08E-D359F733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КОНТЕКСТ ПРАКТИКИ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E3508-CAF7-4728-B397-65D69B92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0907C-883F-4CD1-99E7-A080956F10CB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E33BB-D9A7-428E-A5C8-59AB52F1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27E77-F213-4A43-9F98-5C1B8102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E494F-C266-4351-B8DB-C9E48440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Между заданием и обратной связью</a:t>
            </a:r>
          </a:p>
          <a:p xmlns:a="http://schemas.openxmlformats.org/drawingml/2006/main">
            <a:pPr>
              <a:def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легко потерять контекст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68B93-CB1D-450D-8B70-1C3E65E1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05313-829E-40DF-9062-4C3319A9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243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C85E7-0BA2-4B8B-B237-2FE00BCE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38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Определяет цель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8629C-CFE9-4201-A525-915EBD9B5C71}"/>
              </a:ext>
            </a:extLst>
          </p:cNvPr>
          <p:cNvCxnSpPr/>
          <p:nvPr/>
        </p:nvCxnSpPr>
        <p:spPr>
          <a:xfrm xmlns:a="http://schemas.openxmlformats.org/drawingml/2006/main">
            <a:off x="3038475" y="4000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BC4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BC0C9-B2C1-461A-A714-C0BFD2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337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EC514-EF18-4C0B-BD51-78CE3784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71900"/>
            <a:ext cx="243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Задание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F4AD7-4F16-46BF-A0AB-5746C865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81550"/>
            <a:ext cx="2438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Нужно понять инструкцию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75511-5CD4-40D0-BABE-3A7C1344992D}"/>
              </a:ext>
            </a:extLst>
          </p:cNvPr>
          <p:cNvCxnSpPr/>
          <p:nvPr/>
        </p:nvCxnSpPr>
        <p:spPr>
          <a:xfrm xmlns:a="http://schemas.openxmlformats.org/drawingml/2006/main">
            <a:off x="5915025" y="4000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F967E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5D1AA-0434-4E12-8FB4-94296017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C41E43-C7AE-4EC4-A14E-951AB8A8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71900"/>
            <a:ext cx="243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Родитель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B94C4A-9DBF-4469-9537-14471A33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81550"/>
            <a:ext cx="2438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Организует практику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CF4B62-0A8E-414C-B86D-8CDEE06AA3D3}"/>
              </a:ext>
            </a:extLst>
          </p:cNvPr>
          <p:cNvCxnSpPr/>
          <p:nvPr/>
        </p:nvCxnSpPr>
        <p:spPr>
          <a:xfrm xmlns:a="http://schemas.openxmlformats.org/drawingml/2006/main">
            <a:off x="8791575" y="4000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BC4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CDCE44-3AC9-4E1C-8FC1-3C760ADE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213FE2-F778-488D-BD85-65C8795E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71900"/>
            <a:ext cx="243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Ребёнок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7DF4AA-FC06-49D4-A8E2-59518719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81550"/>
            <a:ext cx="2438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Отвечает доступным способом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B964B8-3346-4700-911B-18F6AACE3BBA}"/>
              </a:ext>
            </a:extLst>
          </p:cNvPr>
          <p:cNvCxnSpPr/>
          <p:nvPr/>
        </p:nvCxnSpPr>
        <p:spPr>
          <a:xfrm xmlns:a="http://schemas.openxmlformats.org/drawingml/2006/main">
            <a:off x="11668125" y="4000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F967E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9D1AE-5D04-4A0A-B76A-33D62630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3337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5554FE-2C40-4F30-95DC-A6D6D626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771900"/>
            <a:ext cx="243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Обратная</a:t>
            </a:r>
          </a:p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связь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56DF95-DA5E-4E75-A789-54294C5F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781550"/>
            <a:ext cx="2438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Нужен контекст помощи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3C69C1-BD67-4EB8-8820-3BF20811412E}"/>
              </a:ext>
            </a:extLst>
          </p:cNvPr>
          <p:cNvCxnSpPr/>
          <p:nvPr/>
        </p:nvCxnSpPr>
        <p:spPr>
          <a:xfrm xmlns:a="http://schemas.openxmlformats.org/drawingml/2006/main">
            <a:off x="609600" y="6667500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DD5D0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6C7352-2D0F-4772-B6AA-F2DE2D97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72300"/>
            <a:ext cx="1352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Теряются детали: что выбрано, как выполнено,</a:t>
            </a:r>
          </a:p>
          <a:p xmlns:a="http://schemas.openxmlformats.org/drawingml/2006/main">
            <a:pPr>
              <a:def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где понадобилась помощь и что попробовать дальше.</a:t>
            </a:r>
          </a:p>
        </p:txBody>
      </p:sp>
    </p:spTree>
    <p:extLst>
      <p:ext uri="{BB962C8B-B14F-4D97-AF65-F5344CB8AC3E}">
        <p14:creationId xmlns:p14="http://schemas.microsoft.com/office/powerpoint/2010/main" val="12877242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2B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939AD0-08EF-40C5-AF4A-AB36F641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C0FAF-3B71-429B-9171-99716605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РЕШЕНИЕ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B33D9-82F9-4B97-9CBF-F33CD0E7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FD80A-4A61-4C66-B6FF-D12088464FF9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6506C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A07F3-E4AB-48FC-B607-12006DB1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02246-D473-44FF-B051-77FEF828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96250-BF4B-426A-9D57-F15A3E04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33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Одна система.</a:t>
            </a:r>
          </a:p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Общая цель.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A5419-E1B4-423F-B404-04BC184D3D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1e7c5b17b449e"/>
          <a:stretch xmlns:a="http://schemas.openxmlformats.org/drawingml/2006/main"/>
        </p:blipFill>
        <p:spPr>
          <a:xfrm xmlns:a="http://schemas.openxmlformats.org/drawingml/2006/main">
            <a:off x="8480977" y="1143000"/>
            <a:ext cx="5326546" cy="5619750"/>
          </a:xfrm>
          <a:prstGeom xmlns:a="http://schemas.openxmlformats.org/drawingml/2006/main" prst="rect">
            <a:avLst/>
          </a:prstGeom>
          <ns0:ln xmlns:ns0="http://schemas.openxmlformats.org/drawingml/2006/main">
            <ns0:noFill/>
          </ns0:ln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13EFD-07DE-4DE2-9754-D3F2E8DB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957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РЕБЁНОК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F67C4-141D-4D2F-B6DB-5F7145F6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5767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Короткие задания и AAC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4E951-9619-476D-9E6B-27C45834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911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РОДИТЕЛЬ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27991-CB3F-420D-8BB0-EBC82397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5307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Цель, наблюдения, следующий шаг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C82F2-DD8A-4388-B4B8-CDC05D54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8489E-5B66-45EC-A380-C11153E0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8389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Сопровождение вне приложения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7612E-709B-4DF5-977F-69F1B92B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0866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Цифровой кабинет специалиста — следующий этап</a:t>
            </a:r>
          </a:p>
        </p:txBody>
      </p:sp>
    </p:spTree>
    <p:extLst>
      <p:ext uri="{BB962C8B-B14F-4D97-AF65-F5344CB8AC3E}">
        <p14:creationId xmlns:p14="http://schemas.microsoft.com/office/powerpoint/2010/main" val="12898759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2FCC8-7971-4D71-B839-B264FC00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01894-3139-4D17-BCE9-E59BF846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ЭКОСИСТЕМА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C9C45-DF25-4033-9E92-13C4423E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5766B-13C7-4D03-BD57-AD32F596EB5A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BB2C8-CFA8-47C1-AB55-F00DC40B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0D8C8-0671-4BDE-9333-47CE2F3F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5C489-B40F-43CC-892D-7AD91B38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Семья уже работает в продукте.</a:t>
            </a:r>
          </a:p>
          <a:p xmlns:a="http://schemas.openxmlformats.org/drawingml/2006/main">
            <a: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Специалист пока остаётся вне него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7611B-F32A-453C-B912-412694400E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450c2d86f40d0"/>
          <a:stretch xmlns:a="http://schemas.openxmlformats.org/drawingml/2006/main"/>
        </p:blipFill>
        <p:spPr>
          <a:xfrm xmlns:a="http://schemas.openxmlformats.org/drawingml/2006/main">
            <a:off x="847173" y="2762250"/>
            <a:ext cx="4477854" cy="4667250"/>
          </a:xfrm>
          <a:prstGeom xmlns:a="http://schemas.openxmlformats.org/drawingml/2006/main" prst="rect">
            <a:avLst/>
          </a:prstGeom>
          <ns0:ln xmlns:ns0="http://schemas.openxmlformats.org/drawingml/2006/main">
            <ns0:noFill/>
          </ns0:ln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DE1E5-592C-4701-BE0A-27B14E3445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b8f2bd6504b07"/>
          <a:stretch xmlns:a="http://schemas.openxmlformats.org/drawingml/2006/main"/>
        </p:blipFill>
        <p:spPr>
          <a:xfrm xmlns:a="http://schemas.openxmlformats.org/drawingml/2006/main">
            <a:off x="5762211" y="3429000"/>
            <a:ext cx="3791778" cy="4000500"/>
          </a:xfrm>
          <a:prstGeom xmlns:a="http://schemas.openxmlformats.org/drawingml/2006/main" prst="rect">
            <a:avLst/>
          </a:prstGeom>
          <ns1:ln xmlns:ns1="http://schemas.openxmlformats.org/drawingml/2006/main">
            <ns1:noFill/>
          </ns1:ln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4EA02-9013-4158-9CC9-86769164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14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CHILD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27859-DF84-4009-A633-C78500E6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575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PARENT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7A89D-0B91-4900-8103-C298C2C7450E}"/>
              </a:ext>
            </a:extLst>
          </p:cNvPr>
          <p:cNvCxnSpPr/>
          <p:nvPr/>
        </p:nvCxnSpPr>
        <p:spPr>
          <a:xfrm xmlns:a="http://schemas.openxmlformats.org/drawingml/2006/main">
            <a:off x="10001250" y="2857500"/>
            <a:ext cx="0" cy="45910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DD5D0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8DF25-A2BA-48E3-944D-C1A33F16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670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SPECIALIST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9DBF6-3820-4C33-9E94-182C2800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7187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Отдельного</a:t>
            </a:r>
          </a:p>
          <a:p xmlns:a="http://schemas.openxmlformats.org/drawingml/2006/main">
            <a:pPr>
              <a:def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кабинета пока нет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6F0792-7ED3-442E-B3FE-E8159EDB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0673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Личные рекомендации</a:t>
            </a:r>
          </a:p>
          <a:p xmlns:a="http://schemas.openxmlformats.org/drawingml/2006/main">
            <a: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связь с семьёй проходят</a:t>
            </a:r>
          </a:p>
          <a:p xmlns:a="http://schemas.openxmlformats.org/drawingml/2006/main">
            <a:pPr>
              <a:def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вне Söyle.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8F989-E4BC-40F3-9441-4A1F365B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524625"/>
            <a:ext cx="3810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План: назначения, доступ</a:t>
            </a:r>
          </a:p>
          <a:p xmlns:a="http://schemas.openxmlformats.org/drawingml/2006/main">
            <a: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к закреплённым детям</a:t>
            </a:r>
          </a:p>
          <a:p xmlns:a="http://schemas.openxmlformats.org/drawingml/2006/main">
            <a:pPr>
              <a:def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и согласованная обратная связь.</a:t>
            </a:r>
          </a:p>
        </p:txBody>
      </p:sp>
    </p:spTree>
    <p:extLst>
      <p:ext uri="{BB962C8B-B14F-4D97-AF65-F5344CB8AC3E}">
        <p14:creationId xmlns:p14="http://schemas.microsoft.com/office/powerpoint/2010/main" val="3544855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F5A401-3801-46E4-9843-3A32CF84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2B3A6-F3AF-415D-9922-9A08967C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ДЕТСКИЙ ОПЫТ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A36F2-1FB0-4242-BB50-81591D3D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25C50-6228-4975-A40B-309ACDFF8BCE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FA849-291D-431C-9789-9A61503C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4337F-31CA-4DC6-B3A5-EEF949F0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4591B-7256-442C-A304-34563CAF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Один шаг. Понятный выбор.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D69AC-BED1-4F9E-A42F-3BE94D960E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de99fce3b424e"/>
          <a:stretch xmlns:a="http://schemas.openxmlformats.org/drawingml/2006/main"/>
        </p:blipFill>
        <p:spPr>
          <a:xfrm xmlns:a="http://schemas.openxmlformats.org/drawingml/2006/main">
            <a:off x="1921599" y="2428875"/>
            <a:ext cx="6567626" cy="5048250"/>
          </a:xfrm>
          <a:prstGeom xmlns:a="http://schemas.openxmlformats.org/drawingml/2006/main" prst="rect">
            <a:avLst/>
          </a:prstGeom>
          <ns0:ln xmlns:ns0="http://schemas.openxmlformats.org/drawingml/2006/main">
            <ns0:noFill/>
          </ns0:ln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8EB6F-E342-4EE5-9944-A10FA449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5527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01 / ПОСЛУШАТЬ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90889-B3DE-4A95-8ACD-4B683B00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24175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Аудиоинструкция</a:t>
            </a:r>
          </a:p>
          <a:p xmlns:a="http://schemas.openxmlformats.org/drawingml/2006/main">
            <a: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и повтор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E1362-6D18-47B1-893C-06D6608C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243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02 / ПОКАЗАТЬ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08231-F87B-4866-BC63-6C997F5C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95825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Ответ касанием</a:t>
            </a:r>
          </a:p>
          <a:p xmlns:a="http://schemas.openxmlformats.org/drawingml/2006/main">
            <a: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по изображению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FE223-6E2C-4FE6-B99C-E94B089C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03 / ПОЛУЧИТЬ ПОДДЕРЖКУ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0B3B5-0052-44F7-AD8E-926CCFE9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Подсказка, перерыв</a:t>
            </a:r>
          </a:p>
          <a:p xmlns:a="http://schemas.openxmlformats.org/drawingml/2006/main">
            <a: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и отказ без штрафа</a:t>
            </a:r>
          </a:p>
        </p:txBody>
      </p:sp>
    </p:spTree>
    <p:extLst>
      <p:ext uri="{BB962C8B-B14F-4D97-AF65-F5344CB8AC3E}">
        <p14:creationId xmlns:p14="http://schemas.microsoft.com/office/powerpoint/2010/main" val="13927155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7E1B8-3497-4094-812F-11FB9E02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90BDF-9760-47E2-BE88-01D34119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РОДИТЕЛЬСКИЙ КАБИНЕТ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40AAD-C5DB-44A0-AAA5-68CAED4D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11386-040C-458D-903C-8E8483E7C58E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7C7EA-4335-4983-AA1C-4BE0B3B6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6DF33-3ABF-4DBE-8558-C53F8695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28094-C3FD-40BD-B877-78D1A716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381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Каждый шаг</a:t>
            </a:r>
          </a:p>
          <a:p xmlns:a="http://schemas.openxmlformats.org/drawingml/2006/main">
            <a:pPr>
              <a:def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виден семье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6AE96-9C8E-47EC-A403-40649B90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609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Домашняя цель задаёт смысл.</a:t>
            </a:r>
          </a:p>
          <a:p xmlns:a="http://schemas.openxmlformats.org/drawingml/2006/main">
            <a: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История показывает участие</a:t>
            </a:r>
          </a:p>
          <a:p xmlns:a="http://schemas.openxmlformats.org/drawingml/2006/main">
            <a:pPr>
              <a:def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использованную помощь.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77516-DD04-489B-8AA1-BEA789EC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6267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НАБЛЮДЕНИЯ ОТДЕЛЬНО ОТ ИГРОВОГО БАЛЛА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59EDA-0172-408A-931D-949C2B00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Предпочтения ребёнка влияют</a:t>
            </a:r>
          </a:p>
          <a:p xmlns:a="http://schemas.openxmlformats.org/drawingml/2006/main">
            <a: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на следующий подготовленный план.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9EFB3-1FC3-4A3D-AF88-E35D9FE0E0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325910a8b40c3"/>
          <a:stretch xmlns:a="http://schemas.openxmlformats.org/drawingml/2006/main"/>
        </p:blipFill>
        <p:spPr>
          <a:xfrm xmlns:a="http://schemas.openxmlformats.org/drawingml/2006/main">
            <a:off x="8083175" y="1219200"/>
            <a:ext cx="5455400" cy="5505450"/>
          </a:xfrm>
          <a:prstGeom xmlns:a="http://schemas.openxmlformats.org/drawingml/2006/main" prst="rect">
            <a:avLst/>
          </a:prstGeom>
          <ns0:ln xmlns:ns0="http://schemas.openxmlformats.org/drawingml/2006/main">
            <ns0:noFill/>
          </ns0:ln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9E95E-61FF-4D42-B2E5-BBDB6D64D2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5fe47c4a3497e"/>
          <a:stretch xmlns:a="http://schemas.openxmlformats.org/drawingml/2006/main"/>
        </p:blipFill>
        <p:spPr>
          <a:xfrm xmlns:a="http://schemas.openxmlformats.org/drawingml/2006/main">
            <a:off x="8550473" y="5572125"/>
            <a:ext cx="4282678" cy="2095500"/>
          </a:xfrm>
          <a:prstGeom xmlns:a="http://schemas.openxmlformats.org/drawingml/2006/main" prst="rect">
            <a:avLst/>
          </a:prstGeom>
          <ns1:ln xmlns:ns1="http://schemas.openxmlformats.org/drawingml/2006/main">
            <ns1:noFill/>
          </ns1:ln>
        </p:spPr>
      </p:pic>
    </p:spTree>
    <p:extLst>
      <p:ext uri="{BB962C8B-B14F-4D97-AF65-F5344CB8AC3E}">
        <p14:creationId xmlns:p14="http://schemas.microsoft.com/office/powerpoint/2010/main" val="19476634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FA8F6-93DF-46CD-9089-449DF85B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BDA5B-2591-476F-BFD0-833D1292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СПЕЦИАЛИСТ И УПРАВЛЕНИЕ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1DEF3-3779-4E52-BA7F-9B3D36D7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2B0F8-1198-4697-B36C-352B9C28327B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C3698-93D9-4DEB-9CA8-CB92D427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CAE32-2AD8-42AA-8DE0-61FE2DED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77817-3D8E-4BF4-B067-D5B1A523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Контент проходит проверку.</a:t>
            </a:r>
          </a:p>
          <a:p xmlns:a="http://schemas.openxmlformats.org/drawingml/2006/main">
            <a:pPr>
              <a:def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Кабинет специалиста ещё предстоит создать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FE837-8DC7-4BD1-811E-A2AEAA449B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e686285ce4d3c"/>
          <a:stretch xmlns:a="http://schemas.openxmlformats.org/drawingml/2006/main"/>
        </p:blipFill>
        <p:spPr>
          <a:xfrm xmlns:a="http://schemas.openxmlformats.org/drawingml/2006/main">
            <a:off x="1651025" y="2847975"/>
            <a:ext cx="4775150" cy="3943350"/>
          </a:xfrm>
          <a:prstGeom xmlns:a="http://schemas.openxmlformats.org/drawingml/2006/main" prst="rect">
            <a:avLst/>
          </a:prstGeom>
          <ns0:ln xmlns:ns0="http://schemas.openxmlformats.org/drawingml/2006/main">
            <ns0:noFill/>
          </ns0:ln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DB3D8-6ADA-43B4-AF5A-99192B56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3897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РЕАЛЬНЫЙ ЭКРАН ПРОВЕРКИ ЧЕРНОВИКА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DB591-09DF-416C-A8DD-D8F38347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86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УПРАВЛЕНИЕ ВЕРСИЯМИ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1E8E0-EC1D-483A-AFFD-56780FE4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432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Черновик и предпросмотр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9676D-892B-4A76-89D7-9E69EF3D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386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Проверки перед публикацией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94D7F-BB63-4583-B075-415477E0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3392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История решений по версии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3A246-9EC1-4C9D-9AD6-1D285938EA5E}"/>
              </a:ext>
            </a:extLst>
          </p:cNvPr>
          <p:cNvCxnSpPr/>
          <p:nvPr/>
        </p:nvCxnSpPr>
        <p:spPr>
          <a:xfrm xmlns:a="http://schemas.openxmlformats.org/drawingml/2006/main">
            <a:off x="8362950" y="5619750"/>
            <a:ext cx="6191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DD5D0"/>
            </a:solidFill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38E19-FA33-462A-A71A-A148C654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01980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13 демозаданий доступны локально.</a:t>
            </a:r>
          </a:p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При строгой методической фильтрации</a:t>
            </a:r>
          </a:p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каталог пуст: независимое одобрение</a:t>
            </a:r>
          </a:p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пока не подтверждено.</a:t>
            </a:r>
          </a:p>
        </p:txBody>
      </p:sp>
    </p:spTree>
    <p:extLst>
      <p:ext uri="{BB962C8B-B14F-4D97-AF65-F5344CB8AC3E}">
        <p14:creationId xmlns:p14="http://schemas.microsoft.com/office/powerpoint/2010/main" val="5303294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2B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A9F0C-1947-4363-A13D-B87952E2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B84E2-2B92-4D66-A67C-613302ED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ПЕРСОНАЛИЗАЦИЯ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23671-8057-4750-BCD6-FF99CE90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864ED-1183-4B30-85AB-64E08B72284D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6506C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34270-B552-4609-A699-9C174960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96650-0C66-4EB8-B345-1A8D4A24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862D4-C743-4840-AB79-5FC75EEA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104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Адаптация, которую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можно объяснить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BC004-7E03-4D0D-8055-E8E74A83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7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A5FC4-89A6-4EF4-A1F1-C4242093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9090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последних завершённых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результатов по навыку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A6C16-5092-41F1-A2F0-8D8A7A3C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1.0—2.0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94879-6E01-4BF1-BF2B-1380AAE0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2455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веса: новые результаты влияют сильнее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9DF0E-6166-4743-A0E2-B46AE220B8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c6cbb92fb4a3d"/>
          <a:stretch xmlns:a="http://schemas.openxmlformats.org/drawingml/2006/main"/>
        </p:blipFill>
        <p:spPr>
          <a:xfrm xmlns:a="http://schemas.openxmlformats.org/drawingml/2006/main">
            <a:off x="8705850" y="3025983"/>
            <a:ext cx="5905500" cy="2730084"/>
          </a:xfrm>
          <a:prstGeom xmlns:a="http://schemas.openxmlformats.org/drawingml/2006/main" prst="rect">
            <a:avLst/>
          </a:prstGeom>
          <ns0:ln xmlns:ns0="http://schemas.openxmlformats.org/drawingml/2006/main">
            <ns0:noFill/>
          </ns0:ln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DE11B-859D-4103-B2F1-604E0BBC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913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Результаты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AAF9A-95A8-4DE7-A886-B15ABBDED34D}"/>
              </a:ext>
            </a:extLst>
          </p:cNvPr>
          <p:cNvCxnSpPr/>
          <p:nvPr/>
        </p:nvCxnSpPr>
        <p:spPr>
          <a:xfrm xmlns:a="http://schemas.openxmlformats.org/drawingml/2006/main">
            <a:off x="3152775" y="71628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967E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D1F16E-BFA8-42D6-9FBB-4FEB8796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9913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Точность и помощь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8B329-AF81-4574-8640-A771330DD24A}"/>
              </a:ext>
            </a:extLst>
          </p:cNvPr>
          <p:cNvCxnSpPr/>
          <p:nvPr/>
        </p:nvCxnSpPr>
        <p:spPr>
          <a:xfrm xmlns:a="http://schemas.openxmlformats.org/drawingml/2006/main">
            <a:off x="6010275" y="71628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967E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BCE99D-86AE-411F-9AC2-CC0DE6FD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9913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Правила уровня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A98A5-6581-460B-9A3A-9FB4E8346AE6}"/>
              </a:ext>
            </a:extLst>
          </p:cNvPr>
          <p:cNvCxnSpPr/>
          <p:nvPr/>
        </p:nvCxnSpPr>
        <p:spPr>
          <a:xfrm xmlns:a="http://schemas.openxmlformats.org/drawingml/2006/main">
            <a:off x="8867775" y="71628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967E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13F6E5-5CCE-47B9-B589-C2A47BBA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9913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Ротация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016DCC-E735-48AE-88F3-FD537BA61EF6}"/>
              </a:ext>
            </a:extLst>
          </p:cNvPr>
          <p:cNvCxnSpPr/>
          <p:nvPr/>
        </p:nvCxnSpPr>
        <p:spPr>
          <a:xfrm xmlns:a="http://schemas.openxmlformats.org/drawingml/2006/main">
            <a:off x="11725275" y="71628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967E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E3B1D-6778-4A15-9DB7-70FC6DCC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9913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Задание с причиной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E7AE7-F481-45E4-A650-8E0892A3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134100"/>
            <a:ext cx="581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Детерминированные правила. Без LLM и внешнего AI API.</a:t>
            </a:r>
          </a:p>
        </p:txBody>
      </p:sp>
    </p:spTree>
    <p:extLst>
      <p:ext uri="{BB962C8B-B14F-4D97-AF65-F5344CB8AC3E}">
        <p14:creationId xmlns:p14="http://schemas.microsoft.com/office/powerpoint/2010/main" val="18495928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7571E-1A6A-4F6A-92B3-1B45D460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43E83-CECD-49CF-BC9E-EFA8BB0E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КОММУНИКАЦИЯ AAC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86C0B-ABB8-45AF-B18F-173DE29B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E862E-3E45-4613-AF1F-A2304F219528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A383C-558E-40C7-96AD-D5D8BDBE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0B572-787A-4C02-8E90-40179523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BBB19-EE1E-4107-A1F0-AB87A87E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143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Быть услышанным</a:t>
            </a:r>
          </a:p>
          <a:p xmlns:a="http://schemas.openxmlformats.org/drawingml/2006/main">
            <a:pPr>
              <a:def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можно уже сейчас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664EB-9591-4DD4-8EE4-33D19B43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«Помоги». «Стоп». «Перерыв».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45089-0BD4-4F30-8D55-7FA2E25B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9675"/>
            <a:ext cx="6572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Быстрые сообщения доступны</a:t>
            </a:r>
          </a:p>
          <a:p xmlns:a="http://schemas.openxmlformats.org/drawingml/2006/main">
            <a: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отдельно от занятия.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Карточки помогают собрать</a:t>
            </a:r>
          </a:p>
          <a:p xmlns:a="http://schemas.openxmlformats.org/drawingml/2006/main">
            <a:pPr>
              <a:def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озвучить собственную фразу.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199A8-A228-4DDF-A5D8-B19BFF7AB6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6239ef2a9444c"/>
          <a:stretch xmlns:a="http://schemas.openxmlformats.org/drawingml/2006/main"/>
        </p:blipFill>
        <p:spPr>
          <a:xfrm xmlns:a="http://schemas.openxmlformats.org/drawingml/2006/main">
            <a:off x="8257276" y="1123950"/>
            <a:ext cx="6231148" cy="6381750"/>
          </a:xfrm>
          <a:prstGeom xmlns:a="http://schemas.openxmlformats.org/drawingml/2006/main" prst="rect">
            <a:avLst/>
          </a:prstGeom>
          <ns0:ln xmlns:ns0="http://schemas.openxmlformats.org/drawingml/2006/main">
            <ns0:noFill/>
          </ns0:ln>
        </p:spPr>
      </p:pic>
    </p:spTree>
    <p:extLst>
      <p:ext uri="{BB962C8B-B14F-4D97-AF65-F5344CB8AC3E}">
        <p14:creationId xmlns:p14="http://schemas.microsoft.com/office/powerpoint/2010/main" val="15378542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A89D59-D299-4642-8EBA-BA2CD722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B6D42-58CC-4D40-952E-1A287914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ПОЛНЫЙ ПРОЦЕСС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89A00-D5E5-4E87-A1AA-01600FA6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A5A63-FFC4-4311-9C79-1F4CD2785CF2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8840F-9AB9-481F-B480-A53B9142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A92A8-4956-4A9C-A084-87DBB69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8E48B-6B6E-497B-A3EB-DF2898AC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От домашней цели</a:t>
            </a:r>
          </a:p>
          <a:p xmlns:a="http://schemas.openxmlformats.org/drawingml/2006/main">
            <a:pPr>
              <a:def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к следующему занятию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7C216-E36E-434D-BC4F-E8C2CD9F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818A7-3198-458F-94C1-4E3B5D1A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457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Цель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E52D8-2513-4632-A68D-EC5480AB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2457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Узнавать знакомые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предметы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889E4-928F-4AAE-A750-9653818D67E3}"/>
              </a:ext>
            </a:extLst>
          </p:cNvPr>
          <p:cNvCxnSpPr/>
          <p:nvPr/>
        </p:nvCxnSpPr>
        <p:spPr>
          <a:xfrm xmlns:a="http://schemas.openxmlformats.org/drawingml/2006/main">
            <a:off x="3067050" y="3857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1CD83-AB19-41E3-BE5E-F8403A8F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6230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52FBE-7B26-4A1F-9722-7D029348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00450"/>
            <a:ext cx="2457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Подбор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168E8-AE98-491B-8CCB-BE021D56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10100"/>
            <a:ext cx="2457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Активная цель, история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разрешённый каталог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457D5-BC63-453B-A053-706237969371}"/>
              </a:ext>
            </a:extLst>
          </p:cNvPr>
          <p:cNvCxnSpPr/>
          <p:nvPr/>
        </p:nvCxnSpPr>
        <p:spPr>
          <a:xfrm xmlns:a="http://schemas.openxmlformats.org/drawingml/2006/main">
            <a:off x="5943600" y="3857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6B29A-73B1-46D0-A5B6-B7C73747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6230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71A856-1701-45CF-8638-F7CB6B15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2457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Практика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0814E-8E21-4616-AEC6-ED67A792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10100"/>
            <a:ext cx="2457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Послушать слово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выбрать картинку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9A0C52-4BA2-42B3-8527-6B88C439D60B}"/>
              </a:ext>
            </a:extLst>
          </p:cNvPr>
          <p:cNvCxnSpPr/>
          <p:nvPr/>
        </p:nvCxnSpPr>
        <p:spPr>
          <a:xfrm xmlns:a="http://schemas.openxmlformats.org/drawingml/2006/main">
            <a:off x="8820150" y="3857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DF0C7C-3031-4039-8B5F-BFFF6AE1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6230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F7B8F6-9BF4-47BC-9C9D-09111C40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00450"/>
            <a:ext cx="2457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A506E-F30D-4501-88B0-3700067D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10100"/>
            <a:ext cx="2457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Ответ, помощь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статус попытки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D6DDAD-F51C-494E-B839-33E8150AD3DB}"/>
              </a:ext>
            </a:extLst>
          </p:cNvPr>
          <p:cNvCxnSpPr/>
          <p:nvPr/>
        </p:nvCxnSpPr>
        <p:spPr>
          <a:xfrm xmlns:a="http://schemas.openxmlformats.org/drawingml/2006/main">
            <a:off x="11696700" y="3857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90B8FD-1EEB-4622-A1EB-C91E536F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16230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98123D-B43E-4E95-8190-BA75404A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600450"/>
            <a:ext cx="2457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Новый план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01BAE7-EB1E-4D57-9E81-FED83804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610100"/>
            <a:ext cx="2457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Обновить подбор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с учётом истории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B27D64-23E1-47F0-BBF8-CDF287C003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8b2539f9a4d3a"/>
          <a:stretch xmlns:a="http://schemas.openxmlformats.org/drawingml/2006/main"/>
        </p:blipFill>
        <p:spPr>
          <a:xfrm xmlns:a="http://schemas.openxmlformats.org/drawingml/2006/main">
            <a:off x="628650" y="6293058"/>
            <a:ext cx="4191000" cy="1167984"/>
          </a:xfrm>
          <a:prstGeom xmlns:a="http://schemas.openxmlformats.org/drawingml/2006/main" prst="rect">
            <a:avLst/>
          </a:prstGeom>
          <ns0:ln xmlns:ns0="http://schemas.openxmlformats.org/drawingml/2006/main">
            <ns0:noFill/>
          </ns0:ln>
        </p:spPr>
      </p:pic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53DB46-5814-45D8-A984-DA067232AD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c0143965964a7a"/>
          <a:stretch xmlns:a="http://schemas.openxmlformats.org/drawingml/2006/main"/>
        </p:blipFill>
        <p:spPr>
          <a:xfrm xmlns:a="http://schemas.openxmlformats.org/drawingml/2006/main">
            <a:off x="5543550" y="6251036"/>
            <a:ext cx="4191000" cy="1252028"/>
          </a:xfrm>
          <a:prstGeom xmlns:a="http://schemas.openxmlformats.org/drawingml/2006/main" prst="rect">
            <a:avLst/>
          </a:prstGeom>
          <ns1:ln xmlns:ns1="http://schemas.openxmlformats.org/drawingml/2006/main">
            <ns1:noFill/>
          </ns1:ln>
        </p:spPr>
      </p:pic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B21633-9983-4736-A08F-C8269BD48C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1e9366176459b"/>
          <a:stretch xmlns:a="http://schemas.openxmlformats.org/drawingml/2006/main"/>
        </p:blipFill>
        <p:spPr>
          <a:xfrm xmlns:a="http://schemas.openxmlformats.org/drawingml/2006/main">
            <a:off x="10458450" y="6264327"/>
            <a:ext cx="4152900" cy="1225446"/>
          </a:xfrm>
          <a:prstGeom xmlns:a="http://schemas.openxmlformats.org/drawingml/2006/main" prst="rect">
            <a:avLst/>
          </a:prstGeom>
          <ns2:ln xmlns:ns2="http://schemas.openxmlformats.org/drawingml/2006/main">
            <ns2:noFill/>
          </ns2:ln>
        </p:spPr>
      </p:pic>
    </p:spTree>
    <p:extLst>
      <p:ext uri="{BB962C8B-B14F-4D97-AF65-F5344CB8AC3E}">
        <p14:creationId xmlns:p14="http://schemas.microsoft.com/office/powerpoint/2010/main" val="4450627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2B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2F08AF-E519-4247-8701-C2678243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2FC7B-F3A4-4B28-8C27-4C6EF171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АРХИТЕКТУРА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D6D78-F8A5-4CD3-BCA0-6EBDB3DF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FA4B4-1367-4A6C-91C9-9090CAF3D8F7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6506C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AB875-0E1F-4711-AD1B-81179BAC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9DC8B-CF0D-4E35-84A8-10A445F2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51AF4-B2CA-49C6-AE0D-C8FEBE36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Компактная архитектура</a:t>
            </a:r>
          </a:p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 локальной логикой адаптации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C5727-9DAA-45AE-A09D-1E2BAECB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КЛИЕНТ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65AE1-C69E-4CCA-BB23-CB464DF8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57500"/>
            <a:ext cx="10363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C5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83CEC-19E7-4AAC-9C58-2D9877BE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076575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Next.js 16 / React 19 / TypeScript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10368-6851-4CA8-831F-4F2B657F4649}"/>
              </a:ext>
            </a:extLst>
          </p:cNvPr>
          <p:cNvCxnSpPr/>
          <p:nvPr/>
        </p:nvCxnSpPr>
        <p:spPr>
          <a:xfrm xmlns:a="http://schemas.openxmlformats.org/drawingml/2006/main">
            <a:off x="9334500" y="384810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F967E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EB672-052D-4D07-A2E2-EAB71C3D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JSON API · HttpOnly-cookie · CSRF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385452-F3EE-441B-B108-9D08F7DE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ПРИЛОЖЕНИЕ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BDBE4-EFBF-49F8-894C-AC5A41CB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52950"/>
            <a:ext cx="10363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C5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FBBDDC-1883-4775-A4D4-0B0A66CB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7244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FastAPI / Python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EC1EB-3516-48CC-8370-F07FBA9B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343525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Авторизация     Упражнения     Цели     Планировщик правил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0C698B-87CF-44BF-84B3-8A899BB3CDCB}"/>
              </a:ext>
            </a:extLst>
          </p:cNvPr>
          <p:cNvCxnSpPr/>
          <p:nvPr/>
        </p:nvCxnSpPr>
        <p:spPr>
          <a:xfrm xmlns:a="http://schemas.openxmlformats.org/drawingml/2006/main">
            <a:off x="9334500" y="60007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F967E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C43C4E-F005-4998-966C-34A7D484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00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ДАННЫЕ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5190F-EDB3-4008-9BA8-7C869F90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86525"/>
            <a:ext cx="10363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C5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E41723-51DE-4A49-A253-6ACF722F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66770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SQLite локально / PostgreSQL для развёртывания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B60D1B-7921-45BE-B7DE-6A033987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71628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SQL и версионируемые миграции · Статические изображения и аудио</a:t>
            </a:r>
          </a:p>
        </p:txBody>
      </p:sp>
    </p:spTree>
    <p:extLst>
      <p:ext uri="{BB962C8B-B14F-4D97-AF65-F5344CB8AC3E}">
        <p14:creationId xmlns:p14="http://schemas.microsoft.com/office/powerpoint/2010/main" val="1471374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E797C4-FE30-45DB-971C-F2084A03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CDC36-3075-4497-9212-6A44AF3C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БЕЗОПАСНОСТЬ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CAA71-0B23-4F53-9CEC-4D457BB0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A0D66-A4DD-48E9-8DD2-118F257FB689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7738C-D142-4D9D-AEE1-9385F4BA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9EDD6-622C-4727-AE60-F10BF744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4E01F-1F4D-4B3A-8163-E582624D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Защита данных реализована.</a:t>
            </a:r>
          </a:p>
          <a:p xmlns:a="http://schemas.openxmlformats.org/drawingml/2006/main">
            <a: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Готовность к пилоту требует проверки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A2DBE-44FF-4CC7-AB47-AF02E14F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rPr>
              <a:t>ЕСТЬ В КОДЕ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35EA9-A08D-491F-9B8D-C903C527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956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ДО РЕАЛЬНОГО ПИЛОТА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2E23D-C7A1-4431-9F9E-ABD9498D346F}"/>
              </a:ext>
            </a:extLst>
          </p:cNvPr>
          <p:cNvCxnSpPr/>
          <p:nvPr/>
        </p:nvCxnSpPr>
        <p:spPr>
          <a:xfrm xmlns:a="http://schemas.openxmlformats.org/drawingml/2006/main">
            <a:off x="7734300" y="3048000"/>
            <a:ext cx="0" cy="4381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DD5D0"/>
            </a:solidFill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3C6C8-C91E-4D89-BD6C-BACC0AD1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76650"/>
            <a:ext cx="666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HttpOnly-cookie и CSRF-защита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01DC6-E4FF-4187-9D23-366150CE6388}"/>
              </a:ext>
            </a:extLst>
          </p:cNvPr>
          <p:cNvCxnSpPr/>
          <p:nvPr/>
        </p:nvCxnSpPr>
        <p:spPr>
          <a:xfrm xmlns:a="http://schemas.openxmlformats.org/drawingml/2006/main">
            <a:off x="619125" y="4295775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91FD9-9AE9-48E3-83E1-3D7F4289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67225"/>
            <a:ext cx="666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Argon2 и разграничение ролей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A88BB-FFA8-435A-8322-13CF21B4D6EB}"/>
              </a:ext>
            </a:extLst>
          </p:cNvPr>
          <p:cNvCxnSpPr/>
          <p:nvPr/>
        </p:nvCxnSpPr>
        <p:spPr>
          <a:xfrm xmlns:a="http://schemas.openxmlformats.org/drawingml/2006/main">
            <a:off x="619125" y="5086350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5DAB7-9EF5-4F91-9672-E11A86DB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57800"/>
            <a:ext cx="666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Изоляция данных семей и согласия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8C742-FD0B-4D46-B239-3C64DC7B363D}"/>
              </a:ext>
            </a:extLst>
          </p:cNvPr>
          <p:cNvCxnSpPr/>
          <p:nvPr/>
        </p:nvCxnSpPr>
        <p:spPr>
          <a:xfrm xmlns:a="http://schemas.openxmlformats.org/drawingml/2006/main">
            <a:off x="619125" y="5876925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A3274-B959-46CE-9AC2-AC494D38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666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Экспорт, удаление и журнал действий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93E859-929C-4019-B6FE-46BF0A2B1D8B}"/>
              </a:ext>
            </a:extLst>
          </p:cNvPr>
          <p:cNvCxnSpPr/>
          <p:nvPr/>
        </p:nvCxnSpPr>
        <p:spPr>
          <a:xfrm xmlns:a="http://schemas.openxmlformats.org/drawingml/2006/main">
            <a:off x="619125" y="6667500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966A0-16B3-4B96-A336-1A12A346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676650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Независимая проверка контента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2F1797-C135-4A82-886C-A8339C6C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467225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Юридическая проверка детских данных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0BF98D-0BCE-4777-ACA2-3712F896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257800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Реальные устройства и доступность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EEE60E-AF8D-4F96-889F-20FBEC0B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048375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Проверка развёртывания и восстановления</a:t>
            </a:r>
          </a:p>
        </p:txBody>
      </p:sp>
    </p:spTree>
    <p:extLst>
      <p:ext uri="{BB962C8B-B14F-4D97-AF65-F5344CB8AC3E}">
        <p14:creationId xmlns:p14="http://schemas.microsoft.com/office/powerpoint/2010/main" val="18373506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BDFE34-2E5E-4211-88F9-AA2A2B95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E0870-4D13-478D-BE10-C332C366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МАСШТАБ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4F3AE-291B-4D73-9C2A-A870B8FB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821EC-C764-4C9B-ADCC-925B74B14574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B35DA-C837-4906-80E6-8B51AB85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9983F-79DC-40C1-AD8F-D672D1BE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6E9A1-8F8E-493B-8D25-C2266E3D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Работающий MVP.</a:t>
            </a:r>
          </a:p>
          <a:p xmlns:a="http://schemas.openxmlformats.org/drawingml/2006/main">
            <a:pPr>
              <a:def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4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Следующий рубеж — безопасный пилот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75BEB-E505-4C17-89E1-77FA74D2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F31BE-DEB9-4FD8-A8BB-8631C069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4238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доступных демозаданий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E5BAE-D48E-45F2-A594-65EAC9A0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105150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7A4AE8-EB93-473C-B9C0-2DDBF5C1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362450"/>
            <a:ext cx="4238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базовые AAC-карточки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57813-E661-4164-9C89-643CE084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05150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6A72C7-E83C-40F4-8546-D856EC6B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362450"/>
            <a:ext cx="4238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шаблонов домашних целей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0C8AFD-A9E3-4DA0-AE93-13AF18D8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F90F4-6E6A-4574-8A09-13E0EB55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62725"/>
            <a:ext cx="4238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уровня адаптивной сложности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CD3AC-8D0A-4D75-A312-E57B8438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305425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rPr>
              <a:t>101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3AD32-6FBC-4544-B4B8-2C8C45AF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6562725"/>
            <a:ext cx="4238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автотест прошёл сейчас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834D6-812B-4A63-9995-0D062C56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305425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19894-0203-47DB-AF1C-39762CD5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62725"/>
            <a:ext cx="4238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включённый язык: русский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CDBA88-1A3B-46E8-A8A0-47BB6CF9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505700"/>
            <a:ext cx="1390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rPr>
              <a:t>Сейчас: внутреннее демо. Реальный пилот пока не готов.</a:t>
            </a:r>
          </a:p>
        </p:txBody>
      </p:sp>
    </p:spTree>
    <p:extLst>
      <p:ext uri="{BB962C8B-B14F-4D97-AF65-F5344CB8AC3E}">
        <p14:creationId xmlns:p14="http://schemas.microsoft.com/office/powerpoint/2010/main" val="16154749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42B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4217D6-D584-4FD1-93B0-54BC5161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372BA-E9A5-4599-8191-1D72AF83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БИЗНЕС-МОДЕЛЬ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B2D04-4BC3-4986-8C52-CD0B9669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FD0A7-B58C-4897-925D-159C3FE2145A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6506C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82546-432F-4CB0-BCA8-FAE8685B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AA127-52CC-4650-BB54-9F675B19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5C46C-6075-4F25-8BF4-DC44EB86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Подписка центра</a:t>
            </a:r>
          </a:p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 доступом для семей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8C59E-AAED-4A31-927F-4D29BBC3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ПРЕДЛАГАЕМАЯ МОДЕЛЬ B2B2C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5442C-A044-4C22-AD40-B1F457E4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Центр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97E9B-941C-42DD-ACCB-A2FF4818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Руководитель выбирает</a:t>
            </a:r>
          </a:p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и оплачивает платформу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CBF1F-9D27-4444-95C2-358109C75BA6}"/>
              </a:ext>
            </a:extLst>
          </p:cNvPr>
          <p:cNvCxnSpPr/>
          <p:nvPr/>
        </p:nvCxnSpPr>
        <p:spPr>
          <a:xfrm xmlns:a="http://schemas.openxmlformats.org/drawingml/2006/main">
            <a:off x="3752850" y="41052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967E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A4C29-0BEF-4D48-A60A-A6AEA0B9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79095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8B05E-82B7-4C46-81E7-50CF6623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7339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Подписка на организацию</a:t>
            </a:r>
          </a:p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и активные профили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59974-9C25-491F-80F8-E01882D707C3}"/>
              </a:ext>
            </a:extLst>
          </p:cNvPr>
          <p:cNvCxnSpPr/>
          <p:nvPr/>
        </p:nvCxnSpPr>
        <p:spPr>
          <a:xfrm xmlns:a="http://schemas.openxmlformats.org/drawingml/2006/main">
            <a:off x="7343775" y="41052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967E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E3A9A-0E07-4B32-9AF5-1C467F01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9095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3519A-56B5-4D7A-8A3D-D3B62842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339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Ведёт домашнюю практику</a:t>
            </a:r>
          </a:p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после запуска кабинета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20143D-550E-46CB-AB02-02D6AE766859}"/>
              </a:ext>
            </a:extLst>
          </p:cNvPr>
          <p:cNvCxnSpPr/>
          <p:nvPr/>
        </p:nvCxnSpPr>
        <p:spPr>
          <a:xfrm xmlns:a="http://schemas.openxmlformats.org/drawingml/2006/main">
            <a:off x="10934700" y="41052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967E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BF52E-4595-43AE-866D-047E7D2B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79095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Семья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D329E5-0EA4-4860-9A04-65A142EE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339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Получает задания</a:t>
            </a:r>
          </a:p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и доступ к коммуникации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7C4E9D-52EA-4069-B6E0-B0CD509D54DA}"/>
              </a:ext>
            </a:extLst>
          </p:cNvPr>
          <p:cNvCxnSpPr/>
          <p:nvPr/>
        </p:nvCxnSpPr>
        <p:spPr>
          <a:xfrm xmlns:a="http://schemas.openxmlformats.org/drawingml/2006/main">
            <a:off x="609600" y="6172200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6506C"/>
            </a:solidFill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6EC93-517D-4127-95D2-B31614A6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5795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ПОЧЕМУ ЧЕРЕЗ ЦЕНТР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853B9-5809-4BD9-A867-7FBC25C7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829425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Один плательщик и сопровождение</a:t>
            </a:r>
          </a:p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семьи специалистом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E870EF-69FC-4576-91B0-6081DA78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4579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F967E"/>
                </a:solidFill>
                <a:latin typeface="Helvetica Neue"/>
                <a:ea typeface="Helvetica Neue"/>
                <a:cs typeface="Helvetica Neue"/>
              </a:rPr>
              <a:t>ЧТО ПРЕДСТОИТ ПРОВЕРИТЬ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697F29-389D-4BD0-9847-99067917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829425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Долгие продажи и готовность платить.</a:t>
            </a:r>
          </a:p>
          <a:p xmlns:a="http://schemas.openxmlformats.org/drawingml/2006/main">
            <a:pPr>
              <a:def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Семейный B2C возможен позднее.</a:t>
            </a:r>
          </a:p>
        </p:txBody>
      </p:sp>
    </p:spTree>
    <p:extLst>
      <p:ext uri="{BB962C8B-B14F-4D97-AF65-F5344CB8AC3E}">
        <p14:creationId xmlns:p14="http://schemas.microsoft.com/office/powerpoint/2010/main" val="14738374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866171-A74F-46F7-A2DC-84BD4B9A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B48F1-7AD1-4062-81A0-F5706F85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МОНЕТИЗАЦИЯ И ЭКОНОМИКА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C9031-5BCB-49A5-9485-8B740C00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839A1-4CDD-4533-9AFB-5949DAD5B175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94C92-5216-44B6-A548-9037B391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8086F-0003-447B-8454-CB53BC49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A5D82-8D0F-4ED6-9E67-E0EFF10E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Выручка зависит от числа центров</a:t>
            </a:r>
          </a:p>
          <a:p xmlns:a="http://schemas.openxmlformats.org/drawingml/2006/main">
            <a:pPr>
              <a:def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и подтверждённой ценности подписки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47E44-FDD6-48CA-8176-AA82413C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33675"/>
            <a:ext cx="1390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СЦЕНАРИИ, НЕ ПРОДАЖИ И НЕ УТВЕРЖДЁННЫЕ ТАРИФЫ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BAE1A-1428-41F1-8615-E51EAE5D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Организации × платёж = MRR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CB885-8C8D-42DD-A6D8-E0EC2FE6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10 центров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94901-1F9E-494F-B430-B17F78CF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767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× 20 000 ₸ / мес.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A8DB9-46E8-44B1-BEC8-76DC58D0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7672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= 200 000 ₸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1087B5-7518-472F-A928-2A94FE901DC8}"/>
              </a:ext>
            </a:extLst>
          </p:cNvPr>
          <p:cNvCxnSpPr/>
          <p:nvPr/>
        </p:nvCxnSpPr>
        <p:spPr>
          <a:xfrm xmlns:a="http://schemas.openxmlformats.org/drawingml/2006/main">
            <a:off x="609600" y="4933950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83325-C89E-46B9-8F94-78C73336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30 центров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F5DFBE-4CB1-4DEB-BB89-72CCFC3A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435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× 35 000 ₸ / мес.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B6E37-20BE-4F35-8481-510AEEB7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= 1 050 000 ₸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79769D-8F01-4F52-BABB-23CD09C50CE6}"/>
              </a:ext>
            </a:extLst>
          </p:cNvPr>
          <p:cNvCxnSpPr/>
          <p:nvPr/>
        </p:nvCxnSpPr>
        <p:spPr>
          <a:xfrm xmlns:a="http://schemas.openxmlformats.org/drawingml/2006/main">
            <a:off x="609600" y="58007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C9AC81-6E27-4EDB-A473-BC74E8E9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60 центров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55F29C-3F63-4F7A-96E3-3FF84608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0102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× 50 000 ₸ / мес.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069269-BC4B-476B-89AD-BBBEAA4A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027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rPr>
              <a:t>= 3 000 000 ₸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42359F-4A66-477F-BD25-A0CB0FCDB07E}"/>
              </a:ext>
            </a:extLst>
          </p:cNvPr>
          <p:cNvCxnSpPr/>
          <p:nvPr/>
        </p:nvCxnSpPr>
        <p:spPr>
          <a:xfrm xmlns:a="http://schemas.openxmlformats.org/drawingml/2006/main">
            <a:off x="609600" y="6667500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C2ACA1-FC6E-44B4-B551-BCEF7B08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143750"/>
            <a:ext cx="1381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Затраты: инфраструктура и хранение, разработка, методическая проверка,</a:t>
            </a:r>
          </a:p>
          <a:p xmlns:a="http://schemas.openxmlformats.org/drawingml/2006/main">
            <a:pPr>
              <a:def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поддержка и привлечение центров. MRR здесь не означает прибыль.</a:t>
            </a:r>
          </a:p>
        </p:txBody>
      </p:sp>
    </p:spTree>
    <p:extLst>
      <p:ext uri="{BB962C8B-B14F-4D97-AF65-F5344CB8AC3E}">
        <p14:creationId xmlns:p14="http://schemas.microsoft.com/office/powerpoint/2010/main" val="4253781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C54850-0F54-40C0-AEA0-CA84589A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C0804-3839-472A-B230-DFA5C765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ВНЕДРЕНИЕ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3A082-9129-42DF-91D6-4F064E8D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63C5C-A088-45CE-9216-C25804A34085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5D0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F81C9-7ED9-4AC1-AA1A-8D444FDB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83600-F113-49A1-A1FE-B0ADB29A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9D9A8-AC5A-4CBC-BBDE-CB053646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71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Сначала готовность к пилоту.</a:t>
            </a:r>
          </a:p>
          <a:p xmlns:a="http://schemas.openxmlformats.org/drawingml/2006/main">
            <a:pPr>
              <a:def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Затем проверка модели в центрах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9D302-3CC6-40FD-A34C-10A6ECE3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A8798-4B83-4CEA-A3F3-ED1568C4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Подготовка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C2739-33A9-4371-BA74-E15DC2AD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428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Методика, данные,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устройства и доступность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AD759-9A2E-4597-9AB9-F2E1946816E0}"/>
              </a:ext>
            </a:extLst>
          </p:cNvPr>
          <p:cNvCxnSpPr/>
          <p:nvPr/>
        </p:nvCxnSpPr>
        <p:spPr>
          <a:xfrm xmlns:a="http://schemas.openxmlformats.org/drawingml/2006/main">
            <a:off x="3067050" y="39243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EAF1A-5CA9-433A-A232-5D00072B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385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9696E-8166-451D-A8F5-F4FD2ABF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76650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4F36C-D954-4263-9DF8-30D373E0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86300"/>
            <a:ext cx="2428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Назначения, согласия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и доступ к детям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775142-B2AB-4490-B8CF-FE37D0062C11}"/>
              </a:ext>
            </a:extLst>
          </p:cNvPr>
          <p:cNvCxnSpPr/>
          <p:nvPr/>
        </p:nvCxnSpPr>
        <p:spPr>
          <a:xfrm xmlns:a="http://schemas.openxmlformats.org/drawingml/2006/main">
            <a:off x="5943600" y="39243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3B15D-7154-4CAE-B2BE-0B24D87C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85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C9DD1-B59D-4AE6-996A-3D31A6E4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76650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Пилот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D1216-3F46-4A29-9250-B1F55F47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86300"/>
            <a:ext cx="2428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Один или несколько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центров после допуска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5EFB61-4F68-4E5E-A702-13D1A9E60760}"/>
              </a:ext>
            </a:extLst>
          </p:cNvPr>
          <p:cNvCxnSpPr/>
          <p:nvPr/>
        </p:nvCxnSpPr>
        <p:spPr>
          <a:xfrm xmlns:a="http://schemas.openxmlformats.org/drawingml/2006/main">
            <a:off x="8820150" y="39243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60E2DC-4E3C-4F03-960A-920B2C24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23E404-0D31-40FC-BFA6-BAE19024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76650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Обратная связь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97D817-ECA1-4904-92E5-86E60360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86300"/>
            <a:ext cx="2428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Удобство семьи, время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специалиста, возвраты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C0D91B-F951-436E-AD62-1365093A02D7}"/>
              </a:ext>
            </a:extLst>
          </p:cNvPr>
          <p:cNvCxnSpPr/>
          <p:nvPr/>
        </p:nvCxnSpPr>
        <p:spPr>
          <a:xfrm xmlns:a="http://schemas.openxmlformats.org/drawingml/2006/main">
            <a:off x="11696700" y="39243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C4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C3ADB6-6293-4D31-B7F8-CCC36D31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2385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BC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EFAFE4-D91D-4B34-807B-BBED18BA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676650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2421"/>
                </a:solidFill>
                <a:latin typeface="Helvetica Neue"/>
                <a:ea typeface="Helvetica Neue"/>
                <a:cs typeface="Helvetica Neue"/>
              </a:rPr>
              <a:t>Внедрение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776516-EF03-42A0-915B-B368113A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686300"/>
            <a:ext cx="2428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Готовность платить,</a:t>
            </a:r>
          </a:p>
          <a:p xmlns:a="http://schemas.openxmlformats.org/drawingml/2006/main">
            <a:pPr>
              <a:def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поддержка и расширение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4C561C-B1B2-470C-BB00-8982CFAE04D6}"/>
              </a:ext>
            </a:extLst>
          </p:cNvPr>
          <p:cNvCxnSpPr/>
          <p:nvPr/>
        </p:nvCxnSpPr>
        <p:spPr>
          <a:xfrm xmlns:a="http://schemas.openxmlformats.org/drawingml/2006/main">
            <a:off x="609600" y="6477000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DD5D0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BAA7DD-629F-4897-BCAF-46404CBF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8580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3B32"/>
                </a:solidFill>
                <a:latin typeface="Helvetica Neue"/>
                <a:ea typeface="Helvetica Neue"/>
                <a:cs typeface="Helvetica Neue"/>
              </a:rPr>
              <a:t>Критерий перехода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6EB5E0-427D-4820-A181-92FAD7B3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87705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Согласованные проверки и наблюдаемые результаты этапа.</a:t>
            </a:r>
          </a:p>
          <a:p xmlns:a="http://schemas.openxmlformats.org/drawingml/2006/main">
            <a:pPr>
              <a:def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26E6A"/>
                </a:solidFill>
                <a:latin typeface="Helvetica Neue"/>
                <a:ea typeface="Helvetica Neue"/>
                <a:cs typeface="Helvetica Neue"/>
              </a:rPr>
              <a:t>Партнёрства и пилоты пока не подтверждены.</a:t>
            </a:r>
          </a:p>
        </p:txBody>
      </p:sp>
    </p:spTree>
    <p:extLst>
      <p:ext uri="{BB962C8B-B14F-4D97-AF65-F5344CB8AC3E}">
        <p14:creationId xmlns:p14="http://schemas.microsoft.com/office/powerpoint/2010/main" val="3350598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42B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F3330-EE39-46E0-9B63-A878E060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C39EC-0C63-4B09-9911-80A8B050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EVERY VOICE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AF2F1-5139-445C-B891-5EA93182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2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F43FE-A72B-4CF3-BA31-D854DA0963EA}"/>
              </a:ext>
            </a:extLst>
          </p:cNvPr>
          <p:cNvCxnSpPr/>
          <p:nvPr/>
        </p:nvCxnSpPr>
        <p:spPr>
          <a:xfrm xmlns:a="http://schemas.openxmlformats.org/drawingml/2006/main">
            <a:off x="609600" y="7972425"/>
            <a:ext cx="1402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6506C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24131-80E3-4D90-8ECD-5982B64D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ПРОДУКТОВАЯ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C2784-EAA4-41AD-8F2A-837C45DE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248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7BEDA"/>
                </a:solidFill>
                <a:latin typeface="Helvetica Neue"/>
                <a:ea typeface="Helvetica Neue"/>
                <a:cs typeface="Helvetica Neue"/>
              </a:rPr>
              <a:t>18 ОКТЯБРЯ 2026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DC441-798E-4566-8EE1-2C7BDB2276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023be2f122406f"/>
          <a:stretch xmlns:a="http://schemas.openxmlformats.org/drawingml/2006/main"/>
        </p:blipFill>
        <p:spPr>
          <a:xfrm xmlns:a="http://schemas.openxmlformats.org/drawingml/2006/main">
            <a:off x="619125" y="1190625"/>
            <a:ext cx="990600" cy="990600"/>
          </a:xfrm>
          <a:prstGeom xmlns:a="http://schemas.openxmlformats.org/drawingml/2006/main" prst="rect">
            <a:avLst/>
          </a:prstGeom>
          <ns0:ln xmlns:ns0="http://schemas.openxmlformats.org/drawingml/2006/main">
            <ns0:noFill/>
          </ns0:ln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CDC2A-A546-4D60-A23D-0B2FD3DB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9144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Технологии,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которые помогают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быть услышанным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13C5C-8D15-4A45-9333-021D603EFE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a17c46a0f4f07"/>
          <a:stretch xmlns:a="http://schemas.openxmlformats.org/drawingml/2006/main"/>
        </p:blipFill>
        <p:spPr>
          <a:xfrm xmlns:a="http://schemas.openxmlformats.org/drawingml/2006/main" rot="180000">
            <a:off x="10334625" y="2238807"/>
            <a:ext cx="3905250" cy="3999637"/>
          </a:xfrm>
          <a:prstGeom xmlns:a="http://schemas.openxmlformats.org/drawingml/2006/main" prst="rect">
            <a:avLst/>
          </a:prstGeom>
          <ns1:ln xmlns:ns1="http://schemas.openxmlformats.org/drawingml/2006/main">
            <ns1:noFill/>
          </ns1:ln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D32A4-3D25-4392-9429-BFC51C58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96025"/>
            <a:ext cx="942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Söyle поддерживает коммуникацию</a:t>
            </a:r>
          </a:p>
          <a:p xmlns:a="http://schemas.openxmlformats.org/drawingml/2006/main">
            <a: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и спокойную домашнюю практику</a:t>
            </a:r>
          </a:p>
          <a:p xmlns:a="http://schemas.openxmlformats.org/drawingml/2006/main">
            <a:pPr>
              <a:def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рядом с семьёй и специалистом.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36113-AFDD-4DCA-A782-FC0CB111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591425"/>
            <a:ext cx="1390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ED0E1"/>
                </a:solidFill>
                <a:latin typeface="Helvetica Neue"/>
                <a:ea typeface="Helvetica Neue"/>
                <a:cs typeface="Helvetica Neue"/>
              </a:rPr>
              <a:t>Вспомогательная система. Не заменяет логопеда или медицинскую помощь.</a:t>
            </a:r>
          </a:p>
        </p:txBody>
      </p:sp>
    </p:spTree>
    <p:extLst>
      <p:ext uri="{BB962C8B-B14F-4D97-AF65-F5344CB8AC3E}">
        <p14:creationId xmlns:p14="http://schemas.microsoft.com/office/powerpoint/2010/main" val="8738195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2026-10-18T17:25:32.9300000Z</dcterms:created>
  <dcterms:modified xsi:type="dcterms:W3CDTF">2026-10-18T17:25:32.9300000Z</dcterms:modified>
</coreProperties>
</file>