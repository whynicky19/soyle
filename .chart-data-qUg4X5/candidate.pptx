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5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da5965848d4fd3" /><Relationship Type="http://schemas.openxmlformats.org/officeDocument/2006/relationships/extended-properties" Target="/docProps/app.xml" Id="Rc02f2370dcd64713" /><Relationship Type="http://schemas.openxmlformats.org/officeDocument/2006/relationships/officeDocument" Target="/ppt/presentation.xml" Id="Ref8202785b644d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39155b47c84d1b"/>
  </p:sldMasterIdLst>
  <p:notesMasterIdLst>
    <p:notesMasterId xmlns:r="http://schemas.openxmlformats.org/officeDocument/2006/relationships" r:id="Rc5e956814a9940e5"/>
  </p:notesMasterIdLst>
  <p:sldIdLst>
    <p:sldId xmlns:r="http://schemas.openxmlformats.org/officeDocument/2006/relationships" id="256" r:id="R4907c6f1b9f847db"/>
    <p:sldId xmlns:r="http://schemas.openxmlformats.org/officeDocument/2006/relationships" id="257" r:id="R1b3c93fac4d04c7d"/>
    <p:sldId xmlns:r="http://schemas.openxmlformats.org/officeDocument/2006/relationships" id="258" r:id="R99501bacdb294d6b"/>
    <p:sldId xmlns:r="http://schemas.openxmlformats.org/officeDocument/2006/relationships" id="259" r:id="Ra8fee1fbab474440"/>
    <p:sldId xmlns:r="http://schemas.openxmlformats.org/officeDocument/2006/relationships" id="260" r:id="R7e7e7dce31ec49a7"/>
    <p:sldId xmlns:r="http://schemas.openxmlformats.org/officeDocument/2006/relationships" id="261" r:id="R955247efddd04fb6"/>
    <p:sldId xmlns:r="http://schemas.openxmlformats.org/officeDocument/2006/relationships" id="262" r:id="R6047df2cf35f4886"/>
    <p:sldId xmlns:r="http://schemas.openxmlformats.org/officeDocument/2006/relationships" id="263" r:id="R3df9aa5acdae4dec"/>
    <p:sldId xmlns:r="http://schemas.openxmlformats.org/officeDocument/2006/relationships" id="264" r:id="Ra6a6157084e348f6"/>
    <p:sldId xmlns:r="http://schemas.openxmlformats.org/officeDocument/2006/relationships" id="265" r:id="Re9117534408c4b61"/>
    <p:sldId xmlns:r="http://schemas.openxmlformats.org/officeDocument/2006/relationships" id="266" r:id="R5722442849e94bdc"/>
    <p:sldId xmlns:r="http://schemas.openxmlformats.org/officeDocument/2006/relationships" id="267" r:id="Rbd0d83333370476f"/>
    <p:sldId xmlns:r="http://schemas.openxmlformats.org/officeDocument/2006/relationships" id="268" r:id="R739c63ddc9704e60"/>
    <p:sldId xmlns:r="http://schemas.openxmlformats.org/officeDocument/2006/relationships" id="269" r:id="R42693807422842b0"/>
    <p:sldId xmlns:r="http://schemas.openxmlformats.org/officeDocument/2006/relationships" id="270" r:id="Red6b0c63bace4d66"/>
    <p:sldId xmlns:r="http://schemas.openxmlformats.org/officeDocument/2006/relationships" id="271" r:id="R921be902dd704d0c"/>
    <p:sldId xmlns:r="http://schemas.openxmlformats.org/officeDocument/2006/relationships" id="272" r:id="R1c5834c1241a424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10d9a33739443b" /><Relationship Type="http://schemas.openxmlformats.org/officeDocument/2006/relationships/slideMaster" Target="/ppt/slideMasters/slideMaster1.xml" Id="Rb339155b47c84d1b" /><Relationship Type="http://schemas.openxmlformats.org/officeDocument/2006/relationships/notesMaster" Target="/ppt/notesMasters/notesMaster1.xml" Id="Rc5e956814a9940e5" /><Relationship Type="http://schemas.openxmlformats.org/officeDocument/2006/relationships/presProps" Target="/ppt/presProps.xml" Id="R7df2df00cdec4368" /><Relationship Type="http://schemas.openxmlformats.org/officeDocument/2006/relationships/tableStyles" Target="/ppt/tableStyles.xml" Id="R9b74f20a3c9a4ff9" /><Relationship Type="http://schemas.openxmlformats.org/officeDocument/2006/relationships/slide" Target="/ppt/slides/slide1.xml" Id="R4907c6f1b9f847db" /><Relationship Type="http://schemas.openxmlformats.org/officeDocument/2006/relationships/slide" Target="/ppt/slides/slide2.xml" Id="R1b3c93fac4d04c7d" /><Relationship Type="http://schemas.openxmlformats.org/officeDocument/2006/relationships/slide" Target="/ppt/slides/slide3.xml" Id="R99501bacdb294d6b" /><Relationship Type="http://schemas.openxmlformats.org/officeDocument/2006/relationships/slide" Target="/ppt/slides/slide4.xml" Id="Ra8fee1fbab474440" /><Relationship Type="http://schemas.openxmlformats.org/officeDocument/2006/relationships/slide" Target="/ppt/slides/slide5.xml" Id="R7e7e7dce31ec49a7" /><Relationship Type="http://schemas.openxmlformats.org/officeDocument/2006/relationships/slide" Target="/ppt/slides/slide6.xml" Id="R955247efddd04fb6" /><Relationship Type="http://schemas.openxmlformats.org/officeDocument/2006/relationships/slide" Target="/ppt/slides/slide7.xml" Id="R6047df2cf35f4886" /><Relationship Type="http://schemas.openxmlformats.org/officeDocument/2006/relationships/slide" Target="/ppt/slides/slide8.xml" Id="R3df9aa5acdae4dec" /><Relationship Type="http://schemas.openxmlformats.org/officeDocument/2006/relationships/slide" Target="/ppt/slides/slide9.xml" Id="Ra6a6157084e348f6" /><Relationship Type="http://schemas.openxmlformats.org/officeDocument/2006/relationships/slide" Target="/ppt/slides/slide10.xml" Id="Re9117534408c4b61" /><Relationship Type="http://schemas.openxmlformats.org/officeDocument/2006/relationships/slide" Target="/ppt/slides/slide11.xml" Id="R5722442849e94bdc" /><Relationship Type="http://schemas.openxmlformats.org/officeDocument/2006/relationships/slide" Target="/ppt/slides/slide12.xml" Id="Rbd0d83333370476f" /><Relationship Type="http://schemas.openxmlformats.org/officeDocument/2006/relationships/slide" Target="/ppt/slides/slide13.xml" Id="R739c63ddc9704e60" /><Relationship Type="http://schemas.openxmlformats.org/officeDocument/2006/relationships/slide" Target="/ppt/slides/slide14.xml" Id="R42693807422842b0" /><Relationship Type="http://schemas.openxmlformats.org/officeDocument/2006/relationships/slide" Target="/ppt/slides/slide15.xml" Id="Red6b0c63bace4d66" /><Relationship Type="http://schemas.openxmlformats.org/officeDocument/2006/relationships/slide" Target="/ppt/slides/slide16.xml" Id="R921be902dd704d0c" /><Relationship Type="http://schemas.openxmlformats.org/officeDocument/2006/relationships/slide" Target="/ppt/slides/slide17.xml" Id="R1c5834c1241a42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b1101f356540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19125" dist="228600" dir="5400000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dfec2304ff4717" /><Relationship Type="http://schemas.openxmlformats.org/officeDocument/2006/relationships/notesMaster" Target="/ppt/notesMasters/notesMaster1.xml" Id="Ra2774b25a2944c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8b9b7569684a11" /><Relationship Type="http://schemas.openxmlformats.org/officeDocument/2006/relationships/notesMaster" Target="/ppt/notesMasters/notesMaster1.xml" Id="R2588d604d38141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645eabcd4544c0" /><Relationship Type="http://schemas.openxmlformats.org/officeDocument/2006/relationships/notesMaster" Target="/ppt/notesMasters/notesMaster1.xml" Id="Rdf6faad6691740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3d0d603f444461" /><Relationship Type="http://schemas.openxmlformats.org/officeDocument/2006/relationships/notesMaster" Target="/ppt/notesMasters/notesMaster1.xml" Id="Rad7b0d8f484846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35407ba81a44d4" /><Relationship Type="http://schemas.openxmlformats.org/officeDocument/2006/relationships/notesMaster" Target="/ppt/notesMasters/notesMaster1.xml" Id="Rb86692e2ae0748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7a8f17ef364b2e" /><Relationship Type="http://schemas.openxmlformats.org/officeDocument/2006/relationships/notesMaster" Target="/ppt/notesMasters/notesMaster1.xml" Id="Rdee4dec85e2f40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2e6f17ee784e69" /><Relationship Type="http://schemas.openxmlformats.org/officeDocument/2006/relationships/notesMaster" Target="/ppt/notesMasters/notesMaster1.xml" Id="Rd859c97dd9f946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7082ffa64446bc" /><Relationship Type="http://schemas.openxmlformats.org/officeDocument/2006/relationships/notesMaster" Target="/ppt/notesMasters/notesMaster1.xml" Id="R6996bd890e5b43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82f96667fb4613" /><Relationship Type="http://schemas.openxmlformats.org/officeDocument/2006/relationships/notesMaster" Target="/ppt/notesMasters/notesMaster1.xml" Id="Rc9d59cee9af94b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8465b136a0484b" /><Relationship Type="http://schemas.openxmlformats.org/officeDocument/2006/relationships/notesMaster" Target="/ppt/notesMasters/notesMaster1.xml" Id="R0031dba6321040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eaaa15f0f84992" /><Relationship Type="http://schemas.openxmlformats.org/officeDocument/2006/relationships/notesMaster" Target="/ppt/notesMasters/notesMaster1.xml" Id="R4dcdf4d8a2c645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a66d27f338428e" /><Relationship Type="http://schemas.openxmlformats.org/officeDocument/2006/relationships/notesMaster" Target="/ppt/notesMasters/notesMaster1.xml" Id="Ra37400d89c1648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cb1d4f521b4184" /><Relationship Type="http://schemas.openxmlformats.org/officeDocument/2006/relationships/notesMaster" Target="/ppt/notesMasters/notesMaster1.xml" Id="Rcd812e14bcb546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ae03e904724ccf" /><Relationship Type="http://schemas.openxmlformats.org/officeDocument/2006/relationships/notesMaster" Target="/ppt/notesMasters/notesMaster1.xml" Id="R7527303323ee4f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1ced2fc8b747e6" /><Relationship Type="http://schemas.openxmlformats.org/officeDocument/2006/relationships/notesMaster" Target="/ppt/notesMasters/notesMaster1.xml" Id="Rcc8fb23f9a004e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0e5c2810ca4385" /><Relationship Type="http://schemas.openxmlformats.org/officeDocument/2006/relationships/notesMaster" Target="/ppt/notesMasters/notesMaster1.xml" Id="R55efff12788e461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912e7c8a6e48cd" /><Relationship Type="http://schemas.openxmlformats.org/officeDocument/2006/relationships/notesMaster" Target="/ppt/notesMasters/notesMaster1.xml" Id="Rd8b2594ce90b4f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Söyle объединяет домашнюю практику и поддерживаемую коммуникацию. На реальных экранах: детский главный экран, быстрые AAC-сообщения и выбор изображения. Кадры не перерисованы.</a:t>
            </a:r>
          </a:p>
          <a:p xmlns:a="http://schemas.openxmlformats.org/drawingml/2006/main">
            <a:r>
              <a:t>Источники: frontend/components/SoyleApp.tsx; child-home-hi.png; aac-hi.png; exercise-hi.png.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Продуктовые задачи, не подтверждённые количественным пользовательским исследованием. Частоту, длительность и цели выбирают с учётом состояния ребёнка и рекомендаций специалиста. Изображение — существующий материал лендинга, не фотография участника пилота.</a:t>
            </a:r>
          </a:p>
          <a:p xmlns:a="http://schemas.openxmlformats.org/drawingml/2006/main">
            <a:r>
              <a:t>Источники: README.md; frontend/components/SoyleApp.tsx; frontend/public/landing/family-hero.webp; ASHA AAC https://www.asha.org/practice-portal/professional-issues/augmentative-and-alternative-communication/.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Семейный цифровой контур уже реализован. Специалист задаёт профессиональный контекст вне платформы. Схема не означает, что кабинет специалиста или онлайн-назначения уже работают.</a:t>
            </a:r>
          </a:p>
          <a:p xmlns:a="http://schemas.openxmlformats.org/drawingml/2006/main">
            <a:r>
              <a:t>Источники: frontend/components/SoyleApp.tsx; GoalsAndPractice.tsx; backend/app/security.py get_current_user блокирует specialist.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Реальная главная ребёнка в desktop-размере. Отображаются длительности 3/5/10 минут, начало занятия, прямой доступ к AAC и подборка заданий. Крупный кадр показывает основные действия без вымышленных элементов.</a:t>
            </a:r>
          </a:p>
          <a:p xmlns:a="http://schemas.openxmlformats.org/drawingml/2006/main">
            <a:r>
              <a:t>Источники: frontend/components/SoyleApp.tsx ChildHomeScreen; child-home-hi.png.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Большая сцена и выноски содержат реальные пиксели одного упражнения. Увеличенные фрагменты помогают рассмотреть механизм, не выдают концепт за рабочий экран. Отказ, перерыв и техническая ошибка регистрируются отдельно от обычной ошибки. Не утверждается клинический эффект.</a:t>
            </a:r>
          </a:p>
          <a:p xmlns:a="http://schemas.openxmlformats.org/drawingml/2006/main">
            <a:r>
              <a:t>Источники: frontend/components/SoyleApp.tsx SensoryGame; frontend/lib/exerciseRuntime.ts; exercise-hi.png.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Свободный AAC-режим без оценок, быстрые сообщения одним нажатием, сборка и озвучивание фразы. Реальный кадр composer содержит демосообщение «Помоги мне». Важно различать AAC как средство коммуникации и направляемые тренировочные AAC-сценарии.</a:t>
            </a:r>
          </a:p>
          <a:p xmlns:a="http://schemas.openxmlformats.org/drawingml/2006/main">
            <a:r>
              <a:t>Источники: frontend/components/SoyleApp.tsx PhraseGame freeMode; frontend/lib/aacGrammar.ts; backend/app/aac_grammar.py; aac-hi.png; aac-message-hi.png.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Текущие возможности: шесть шаблонов родительских домашних целей, исходное наблюдение и помощь, статусы и история, предпочтения/исключения упражнений, причины подготовленного плана. Профессиональное назначение не подменяется родительской целью. Снимки не показывают реального прогресса ребёнка.</a:t>
            </a:r>
          </a:p>
          <a:p xmlns:a="http://schemas.openxmlformats.org/drawingml/2006/main">
            <a:r>
              <a:t>Источники: frontend/components/GoalsAndPractice.tsx; backend/app/practice_goals.py; adaptive_planner.py; parent-goals-hi.png; adaptive-hi.png.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входы: точность [0.8,1,0.6,0.8,1,1,0.8,1], самостоятельность [0.6,0.6,0.8,0.6,0.8,1,1,1], веса [1,1.1428571428571428,1.2857142857142856,1.4285714285714286,1.5714285714285714,1.7142857142857144,1.8571428571428572,2]. Взвешенные показатели: 88.57% и 83.33%. Порог уровня 3: 6 результатов, точность &gt;=88%, минимум 3 самостоятельных завершения, самостоятельность &gt;=80%. Для примера предполагаются &gt;=3 самостоятельных завершения, подходящая активная цель и разрешённая версия. Весовые столбцы округлены до 6 знаков после запятой для переносимости встроенной диаграммы. Это схема вычисления, не сохранённое решение для демопрофиля и не клинически валидированная шкала. План учитывает предпочтения и исключения, приоритет новых/реже назначенных заданий, сохраняет версии и причины. Быстрый план 3/5/10 минут использует отдельную ротацию.</a:t>
            </a:r>
          </a:p>
          <a:p xmlns:a="http://schemas.openxmlformats.org/drawingml/2006/main">
            <a:r>
              <a:t>Источники: backend/app/adaptive_planner.py; backend/app/practice_goals.py; frontend/components/GoalsAndPractice.tsx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Результат взрослого предпросмотра не записывается как детский. Бытовые наблюдения хранятся отдельно. План сохраняет версию цели, задания, правил и причины. Показанный цикл отражает текущий родительский процесс; специалистские назначения пока не реализованы как доступный рабочий сценарий.</a:t>
            </a:r>
          </a:p>
          <a:p xmlns:a="http://schemas.openxmlformats.org/drawingml/2006/main">
            <a:r>
              <a:t>Источники: backend/app/main.py sessions/learning-sessions/adaptive-plans; practice_goals.py; adaptive_planner.py; frontend/lib/sessionRuntime.ts.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Подтверждены Next.js 16, React 19, TypeScript, FastAPI/Python, ручной SQL, SQLite для разработки и PostgreSQL для развёртывания, версионируемые миграции и локальная бизнес-логика. Security rail показывает реализованные контроли, не сертификацию. MediaPipe остаётся внутренним прототипом и не показан как публичная функция. Иконки с официальных react.dev/favicon.ico, nextjs.org/favicon.ico, fastapi.tiangolo.com/img/favicon.png, postgresql.org/media/img/about/press/elephant.png.</a:t>
            </a:r>
          </a:p>
          <a:p xmlns:a="http://schemas.openxmlformats.org/drawingml/2006/main">
            <a:r>
              <a:t>Источники: frontend/package.json; frontend/lib/api.ts; backend/requirements.txt; backend/app/{main,database,migrations,security,exercise_engine,adaptive_planner,aac_grammar,tts_library}.py.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проверяемые свойства подхода Söyle, а не утверждения о превосходстве над конкретными конкурентами. Не заявляется экономия времени, улучшение речи или эффективность без измерения.</a:t>
            </a:r>
          </a:p>
          <a:p xmlns:a="http://schemas.openxmlformats.org/drawingml/2006/main">
            <a:r>
              <a:t>Источники: backend/app/adaptive_planner.py; backend/app/family_practice.py; frontend/components/SoyleApp.tsx PhraseGame/SensoryGame; GoalsAndPractice.tsx.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Повторная инвентаризация 18.10.2026: 13 заданий =10 guided_aac+3 auditory_choice; 64 базовые карточки; 6 шаблонов целей; 3 уровня; русский — единственный включённый язык. 52 backend pytest +49 frontend unit/regression =101 пройденный тест. E2E заново не запускались. При SOYLE_ALLOW_UNREVIEWED_DEMO_CONTENT=false опубликованный доступный каталог пуст. 11 draft-версий упражнений и 6 камерных внутренних версий не включены. Рабочего specialist-входа, организационного кабинета и биллинга нет. Старые аудиты частично устарели: адаптация, миграции/readiness и исключение adult_preview присутствуют в текущем коде.</a:t>
            </a:r>
          </a:p>
          <a:p xmlns:a="http://schemas.openxmlformats.org/drawingml/2006/main">
            <a:r>
              <a:t>Источники: backend/app/exercise_engine.py published_exercise_rows; database.py; migrations.py; security.py; frontend/lib/i18n.ts; pytest и npm test, повторно запущенные 18.10.2026; admin-focus.png из разрешённой предыдущей демонстрации.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Предложение B2B SaaS с каналом B2B2C. Покупатель/плательщик — руководитель центра, пользователи — специалист и семья. Денежный поток: центр оплачивает Söyle; ценностный поток: платформа предоставляет инструменты и доступ семье. Ценность регулярного платежа — организация практики, поддержка и проверяемый контент. Экономия времени специалиста — гипотеза: меньше ручной передачи заданий/сбора обратной связи, её нужно измерять до и после. Для запуска нужны tenant-модель, кабинет специалиста, назначения, согласия обмена, биллинг и поддержка. Внешний ориентир структуры лицензирования: AssistiveWare продаёт образовательным организациям лицензии, назначаемые ученику, и предлагает отдельные professional-лицензии. Это подтверждает существование подобных единиц лицензирования, а не спрос на Söyle.</a:t>
            </a:r>
          </a:p>
          <a:p xmlns:a="http://schemas.openxmlformats.org/drawingml/2006/main">
            <a:r>
              <a:t>Источники: Бизнес-анализ автора; https://www.assistiveware.com/products/proloquo-school-licenses (централизованное управление и назначение ученику); https://www.assistiveware.com/aac-professional-license-evaluation-request.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цены — гипотезы, не действующие тарифы. Формула P(A)=20 000+1 000×max(0,A−10) KZT/месяц. База включает до 10 профилей; места специалистов не тарифицируются отдельно. Кабинет с 8 профилями=20 000, центр с30=40 000, организация с80=90 000 KZT. Активный профиль для теста тарифа — профиль, включённый организацией в согласованный платный список месяца; демо и архив исключаются. Это будущая коммерческая политика, не реализованный счётчик использования. До подписания нужны условия перехода/отключения семьи, согласия и предсказуемый лимит платежа. Сравнение: только центр просто, но слабее масштабируется; специалист удобно прогнозируется, но может мешать работе команды; только ребёнок чувствителен к сезонности; смешанная модель сочетает минимум сопровождения и масштаб. Выбор требует интервью о готовности платить. Не используется цена иностранного AAC-сервиса как якобы рыночный тариф Казахстана.</a:t>
            </a:r>
          </a:p>
          <a:p xmlns:a="http://schemas.openxmlformats.org/drawingml/2006/main">
            <a:r>
              <a:t>Источники: Сценарный бизнес-анализ автора; рынок единиц лицензирования: https://www.assistiveware.com/products/proloquo-school-licenses.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Гипотетическая клиентская смесь фиксирована во всех трёх сценариях: 20% малых кабинетов по20 000, 60% центров по40 000, 20% организаций по90 000. Средний месячный платёж=0.2×20000+0.6×40000+0.2×90000=46000 KZT. При10 клиентов:2/6/2, сегментная выручка40 000/240 000/180 000, всего460 000. При30:6/18/6, 120 000/720 000/540 000, всего1 380 000. При60:12/36/12, 240 000/1 440 000/1 080 000, всего2 760 000. Цены сегментов получены одной формулой с8/30/80 профилями со слайда14. Меняется только число организаций, а не одновременно число и ARPA. MRR — не прибыль. Себестоимость поддержки и методической работы пока не измерена, поэтому EBITDA, точка безубыточности, CAC/LTV и retention не выдуманы. Часть поддержки и методической работы может быть ступенчато постоянной. Налоги и скидки не моделировались.</a:t>
            </a:r>
          </a:p>
          <a:p xmlns:a="http://schemas.openxmlformats.org/drawingml/2006/main">
            <a:r>
              <a:t>Источники: Прозрачная сценарная модель автора, не фактическая финансовая отчётность Söyle.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План, не состоявшийся пилот и не обещанные партнёрства. После допуска — один или несколько центров с согласованным набором целей/материалов. Подключение одного центра: руководитель и ответственный специалист, границы данных/согласия, список семей, короткое обучение, запуск, разбор ошибок и времени, затем решение о платном продлении. Каналы: личные интервью руководителей, профессиональные сообщества, демонстрации и рекомендации после успешного использования. Критерии масштабирования: проверенные материалы, управляемые доступы, стабильное развёртывание, измеренные затраты поддержки, повторное использование и готовность платить. Снижение трудозатрат и конверсия в платную подписку требуют измерения, значения не придуманы.</a:t>
            </a:r>
          </a:p>
          <a:p xmlns:a="http://schemas.openxmlformats.org/drawingml/2006/main">
            <a:r>
              <a:t>Источники: План внедрения автора, ограничения подтверждены текущим кодом и README.md.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Söyle поддерживает коммуникацию и домашнюю практику. Не ставит диагноз, не лечит алалию и не заменяет специалиста. Реальный AAC-интерфейс из локального демо. Источники: README.md; frontend/components/SoyleApp.tsx PhraseGame; aac-hi.png.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7bc08ec704e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92f9911ea47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c30a8d43b4c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476049ff346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ebf6aca23748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bd99c875a41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AE04A5-1978-4C3A-8C10-D64D00DB2A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984BC5-1EBB-49D9-9B94-EFD027493A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175D63-FB9C-45C9-9866-4E7384308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E511C2-FC19-4A84-8E32-1C45A258CB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070EAD7-5C16-4314-A204-430699C3C2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74E349-ECFB-47A4-BB97-419B1DE732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77FE8D-2F41-431F-8F45-07F7FBDBA2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9AF256F-8A30-483E-8ABC-E91D064BC2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930B88-BF4A-4572-ABD5-5EAC21EB70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20947A-9D57-4394-9447-1A12F12D97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ee1d07aeb2460b" /><Relationship Type="http://schemas.openxmlformats.org/officeDocument/2006/relationships/slideLayout" Target="/ppt/slideLayouts/slideLayout1.xml" Id="Rb43e167abb9341b1" /><Relationship Type="http://schemas.openxmlformats.org/officeDocument/2006/relationships/slideLayout" Target="/ppt/slideLayouts/slideLayout2.xml" Id="R5617ae0197fc473c" /><Relationship Type="http://schemas.openxmlformats.org/officeDocument/2006/relationships/slideLayout" Target="/ppt/slideLayouts/slideLayout3.xml" Id="Raab7dd4ef3064ef5" /><Relationship Type="http://schemas.openxmlformats.org/officeDocument/2006/relationships/slideLayout" Target="/ppt/slideLayouts/slideLayout4.xml" Id="Rfe0cf8ee004f4646" /><Relationship Type="http://schemas.openxmlformats.org/officeDocument/2006/relationships/slideLayout" Target="/ppt/slideLayouts/slideLayout5.xml" Id="Rc529ed9cca414bab" /><Relationship Type="http://schemas.openxmlformats.org/officeDocument/2006/relationships/slideLayout" Target="/ppt/slideLayouts/slideLayout6.xml" Id="R4c0f0c8059144c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3e167abb9341b1"/>
    <p:sldLayoutId xmlns:r="http://schemas.openxmlformats.org/officeDocument/2006/relationships" id="2147483650" r:id="R5617ae0197fc473c"/>
    <p:sldLayoutId xmlns:r="http://schemas.openxmlformats.org/officeDocument/2006/relationships" id="2147483651" r:id="Raab7dd4ef3064ef5"/>
    <p:sldLayoutId xmlns:r="http://schemas.openxmlformats.org/officeDocument/2006/relationships" id="2147483652" r:id="Rfe0cf8ee004f4646"/>
    <p:sldLayoutId xmlns:r="http://schemas.openxmlformats.org/officeDocument/2006/relationships" id="2147483653" r:id="Rc529ed9cca414bab"/>
    <p:sldLayoutId xmlns:r="http://schemas.openxmlformats.org/officeDocument/2006/relationships" id="2147483654" r:id="R4c0f0c8059144c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19125" dist="228600" dir="5400000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f2eb18982a4a1d" /><Relationship Type="http://schemas.openxmlformats.org/officeDocument/2006/relationships/image" Target="/ppt/media/image.png" Id="R371c71dc7f764170" /><Relationship Type="http://schemas.openxmlformats.org/officeDocument/2006/relationships/image" Target="/ppt/media/image2.png" Id="R7154ff17746542f6" /><Relationship Type="http://schemas.openxmlformats.org/officeDocument/2006/relationships/image" Target="/ppt/media/image3.png" Id="Rd1a0b0b9eb66405d" /><Relationship Type="http://schemas.openxmlformats.org/officeDocument/2006/relationships/notesSlide" Target="/ppt/notesSlides/notesSlide1.xml" Id="Rc35a034a5b8348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57cb4dbb154042" /><Relationship Type="http://schemas.openxmlformats.org/officeDocument/2006/relationships/image" Target="/ppt/media/image.bin" Id="Rcdbad3d00e2142e6" /><Relationship Type="http://schemas.openxmlformats.org/officeDocument/2006/relationships/notesSlide" Target="/ppt/notesSlides/notesSlide2.xml" Id="R131536cef51645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c55aaec20847e7" /><Relationship Type="http://schemas.openxmlformats.org/officeDocument/2006/relationships/image" Target="/ppt/media/image4.png" Id="R96496b2f99e34a27" /><Relationship Type="http://schemas.openxmlformats.org/officeDocument/2006/relationships/notesSlide" Target="/ppt/notesSlides/notesSlide3.xml" Id="Raf1665802ead4d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0e0ae6f5d94817" /><Relationship Type="http://schemas.openxmlformats.org/officeDocument/2006/relationships/image" Target="/ppt/media/image5.png" Id="R365fa22c058149c1" /><Relationship Type="http://schemas.openxmlformats.org/officeDocument/2006/relationships/notesSlide" Target="/ppt/notesSlides/notesSlide4.xml" Id="R66d534a8d6f548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6f0778da784d3b" /><Relationship Type="http://schemas.openxmlformats.org/officeDocument/2006/relationships/image" Target="/ppt/media/image6.png" Id="R8e228f352bad4178" /><Relationship Type="http://schemas.openxmlformats.org/officeDocument/2006/relationships/image" Target="/ppt/media/image7.png" Id="Rbb03efae01a24efc" /><Relationship Type="http://schemas.openxmlformats.org/officeDocument/2006/relationships/image" Target="/ppt/media/image8.png" Id="R65898eb5c4ac4d87" /><Relationship Type="http://schemas.openxmlformats.org/officeDocument/2006/relationships/image" Target="/ppt/media/image9.png" Id="R31600d0ab4934f82" /><Relationship Type="http://schemas.openxmlformats.org/officeDocument/2006/relationships/notesSlide" Target="/ppt/notesSlides/notesSlide5.xml" Id="R720085c6efcb46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8a0d8108f64377" /><Relationship Type="http://schemas.openxmlformats.org/officeDocument/2006/relationships/image" Target="/ppt/media/image10.png" Id="R6c721680fdf5428d" /><Relationship Type="http://schemas.openxmlformats.org/officeDocument/2006/relationships/image" Target="/ppt/media/image11.png" Id="R47acb92dd7eb4fbd" /><Relationship Type="http://schemas.openxmlformats.org/officeDocument/2006/relationships/notesSlide" Target="/ppt/notesSlides/notesSlide6.xml" Id="Rf2be3f0e9ca349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e3b8c0780345a0" /><Relationship Type="http://schemas.openxmlformats.org/officeDocument/2006/relationships/image" Target="/ppt/media/image12.png" Id="R8a68144aee3e449a" /><Relationship Type="http://schemas.openxmlformats.org/officeDocument/2006/relationships/image" Target="/ppt/media/image13.png" Id="Rb34da162a64b4f7a" /><Relationship Type="http://schemas.openxmlformats.org/officeDocument/2006/relationships/image" Target="/ppt/media/image14.png" Id="Rd81518a6223d4525" /><Relationship Type="http://schemas.openxmlformats.org/officeDocument/2006/relationships/notesSlide" Target="/ppt/notesSlides/notesSlide7.xml" Id="Raea000bcf3654a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f251ff900b4618" /><Relationship Type="http://schemas.openxmlformats.org/officeDocument/2006/relationships/chart" Target="/ppt/slides/charts/chart1.xml" Id="R0be6a9dfd9354a90" /><Relationship Type="http://schemas.openxmlformats.org/officeDocument/2006/relationships/chart" Target="/ppt/slides/charts/chart2.xml" Id="Rf932399e05d44700" /><Relationship Type="http://schemas.openxmlformats.org/officeDocument/2006/relationships/chart" Target="/ppt/slides/charts/chart3.xml" Id="Rdae414aafa9f421d" /><Relationship Type="http://schemas.openxmlformats.org/officeDocument/2006/relationships/notesSlide" Target="/ppt/notesSlides/notesSlide8.xml" Id="Recd3c956453842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5a808f36e4f9b" /><Relationship Type="http://schemas.openxmlformats.org/officeDocument/2006/relationships/notesSlide" Target="/ppt/notesSlides/notesSlide9.xml" Id="R0d475e958bde42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3e22ed79834645" /><Relationship Type="http://schemas.openxmlformats.org/officeDocument/2006/relationships/image" Target="/ppt/media/image15.png" Id="R44c971612abf408c" /><Relationship Type="http://schemas.openxmlformats.org/officeDocument/2006/relationships/image" Target="/ppt/media/image16.png" Id="R76d868ce79f447af" /><Relationship Type="http://schemas.openxmlformats.org/officeDocument/2006/relationships/image" Target="/ppt/media/image17.png" Id="Rb87b422e91f7437c" /><Relationship Type="http://schemas.openxmlformats.org/officeDocument/2006/relationships/image" Target="/ppt/media/image18.png" Id="Rb0b48f884041475d" /><Relationship Type="http://schemas.openxmlformats.org/officeDocument/2006/relationships/notesSlide" Target="/ppt/notesSlides/notesSlide10.xml" Id="R572a6c5885a54d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4d7e672f641d1" /><Relationship Type="http://schemas.openxmlformats.org/officeDocument/2006/relationships/notesSlide" Target="/ppt/notesSlides/notesSlide11.xml" Id="R40f3b2798b7149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69035ae2504109" /><Relationship Type="http://schemas.openxmlformats.org/officeDocument/2006/relationships/image" Target="/ppt/media/image19.png" Id="R48e22b1a44e4417a" /><Relationship Type="http://schemas.openxmlformats.org/officeDocument/2006/relationships/notesSlide" Target="/ppt/notesSlides/notesSlide12.xml" Id="Rc41ac92594ca4b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c9c10c049b4c90" /><Relationship Type="http://schemas.openxmlformats.org/officeDocument/2006/relationships/notesSlide" Target="/ppt/notesSlides/notesSlide13.xml" Id="R6b5b4a79ae1943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f407757dd42fa" /><Relationship Type="http://schemas.openxmlformats.org/officeDocument/2006/relationships/chart" Target="/ppt/slides/charts/chart4.xml" Id="R8fcfc4ac37ac4822" /><Relationship Type="http://schemas.openxmlformats.org/officeDocument/2006/relationships/notesSlide" Target="/ppt/notesSlides/notesSlide14.xml" Id="R0a4dfecb05c849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b794344544a67" /><Relationship Type="http://schemas.openxmlformats.org/officeDocument/2006/relationships/chart" Target="/ppt/slides/charts/chart5.xml" Id="Rab3760c6b90e4757" /><Relationship Type="http://schemas.openxmlformats.org/officeDocument/2006/relationships/notesSlide" Target="/ppt/notesSlides/notesSlide15.xml" Id="Rc998083f4f5341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11aa5f70f04c02" /><Relationship Type="http://schemas.openxmlformats.org/officeDocument/2006/relationships/notesSlide" Target="/ppt/notesSlides/notesSlide16.xml" Id="R09e173a59bb540b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05efefed434c4c" /><Relationship Type="http://schemas.openxmlformats.org/officeDocument/2006/relationships/image" Target="/ppt/media/image20.png" Id="R7c6d30c5e7484a6b" /><Relationship Type="http://schemas.openxmlformats.org/officeDocument/2006/relationships/notesSlide" Target="/ppt/notesSlides/notesSlide17.xml" Id="R7cf2fb5884c4476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Вес результата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ACBDD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Вес</c:v>
          </c:tx>
          <c:spPr>
            <a:solidFill xmlns:a="http://schemas.openxmlformats.org/drawingml/2006/main">
              <a:srgbClr val="276CEC"/>
            </a:solidFill>
          </c:spPr>
          <c:invertIfNegative val="0"/>
          <c:cat>
            <c:numRef>
              <c:f>'Chart Data'!$A$2:$A$9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1</c:v>
                </c:pt>
                <c:pt idx="1">
                  <c:v>1.142857</c:v>
                </c:pt>
                <c:pt idx="2">
                  <c:v>1.285714</c:v>
                </c:pt>
                <c:pt idx="3">
                  <c:v>1.428571</c:v>
                </c:pt>
                <c:pt idx="4">
                  <c:v>1.571429</c:v>
                </c:pt>
                <c:pt idx="5">
                  <c:v>1.714286</c:v>
                </c:pt>
                <c:pt idx="6">
                  <c:v>1.857143</c:v>
                </c:pt>
                <c:pt idx="7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1516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.1"/>
          <c:min val="0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Точность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00">
              <a:solidFill>
                <a:srgbClr val="ACBDD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doughnutChart>
        <c:ser>
          <c:idx val="0"/>
          <c:order val="0"/>
          <c:tx>
            <c:v>Точность</c:v>
          </c:tx>
          <c:dPt>
            <c:idx val="0"/>
            <c:spPr>
              <a:solidFill xmlns:a="http://schemas.openxmlformats.org/drawingml/2006/main">
                <a:srgbClr val="276CEC"/>
              </a:solidFill>
            </c:spPr>
          </c:dPt>
          <c:dPt>
            <c:idx val="1"/>
            <c:spPr>
              <a:solidFill xmlns:a="http://schemas.openxmlformats.org/drawingml/2006/main">
                <a:srgbClr val="29374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Показатель</c:v>
                </c:pt>
                <c:pt idx="1">
                  <c:v>Остаток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88.57</c:v>
                </c:pt>
                <c:pt idx="1">
                  <c:v>11.43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82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Самостоятельность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00">
              <a:solidFill>
                <a:srgbClr val="ACBDD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doughnutChart>
        <c:ser>
          <c:idx val="0"/>
          <c:order val="0"/>
          <c:tx>
            <c:v>Самостоятельность</c:v>
          </c:tx>
          <c:dPt>
            <c:idx val="0"/>
            <c:spPr>
              <a:solidFill xmlns:a="http://schemas.openxmlformats.org/drawingml/2006/main">
                <a:srgbClr val="66CFB2"/>
              </a:solidFill>
            </c:spPr>
          </c:dPt>
          <c:dPt>
            <c:idx val="1"/>
            <c:spPr>
              <a:solidFill xmlns:a="http://schemas.openxmlformats.org/drawingml/2006/main">
                <a:srgbClr val="29374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Показатель</c:v>
                </c:pt>
                <c:pt idx="1">
                  <c:v>Остаток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83.33</c:v>
                </c:pt>
                <c:pt idx="1">
                  <c:v>16.67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82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Месячный платёж, KZT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>
              <a:solidFill>
                <a:srgbClr val="101726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Платёж</c:v>
          </c:tx>
          <c:spPr>
            <a:ln xmlns:a="http://schemas.openxmlformats.org/drawingml/2006/main" w="38100">
              <a:solidFill>
                <a:srgbClr val="276CEC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276CEC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  <c:pt idx="5">
                  <c:v>80</c:v>
                </c:pt>
              </c:numCache>
            </c:numRef>
          </c:xVal>
          <c:yVal>
            <c:numRef>
              <c:f>'Chart Data'!$B$2:$B$7</c:f>
              <c:numCache>
                <c:formatCode>#,##0</c:formatCode>
                <c:ptCount val="6"/>
                <c:pt idx="0">
                  <c:v>20000</c:v>
                </c:pt>
                <c:pt idx="1">
                  <c:v>20000</c:v>
                </c:pt>
                <c:pt idx="2">
                  <c:v>30000</c:v>
                </c:pt>
                <c:pt idx="3">
                  <c:v>40000</c:v>
                </c:pt>
                <c:pt idx="4">
                  <c:v>60000</c:v>
                </c:pt>
                <c:pt idx="5">
                  <c:v>90000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ED8E5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25000"/>
      </c:valAx>
      <c:valAx>
        <c:axId val="48650112"/>
        <c:scaling>
          <c:orientation val="minMax"/>
          <c:max val="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677586"/>
                    </a:solidFill>
                    <a:latin typeface="Helvetica Neue"/>
                    <a:ea typeface="Helvetica Neue"/>
                    <a:cs typeface="Helvetica Neue"/>
                  </a:rPr>
                  <a:t>Активные профили (A)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677586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Сценарная месячная выручка, KZT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solidFill>
                <a:srgbClr val="101726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Кабинеты</c:v>
          </c:tx>
          <c:spPr>
            <a:solidFill xmlns:a="http://schemas.openxmlformats.org/drawingml/2006/main">
              <a:srgbClr val="AAC8FD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10 организаций</c:v>
                </c:pt>
                <c:pt idx="1">
                  <c:v>30 организаций</c:v>
                </c:pt>
                <c:pt idx="2">
                  <c:v>60 организаций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40000</c:v>
                </c:pt>
                <c:pt idx="1">
                  <c:v>120000</c:v>
                </c:pt>
                <c:pt idx="2">
                  <c:v>240000</c:v>
                </c:pt>
              </c:numCache>
            </c:numRef>
          </c:val>
        </c:ser>
        <c:ser>
          <c:idx val="1"/>
          <c:order val="1"/>
          <c:tx>
            <c:v>Центры</c:v>
          </c:tx>
          <c:spPr>
            <a:solidFill xmlns:a="http://schemas.openxmlformats.org/drawingml/2006/main">
              <a:srgbClr val="276CEC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10 организаций</c:v>
                </c:pt>
                <c:pt idx="1">
                  <c:v>30 организаций</c:v>
                </c:pt>
                <c:pt idx="2">
                  <c:v>60 организаций</c:v>
                </c:pt>
              </c:strCache>
            </c:strRef>
          </c:cat>
          <c:val>
            <c:numRef>
              <c:f>'Chart Data'!$D$2:$D$4</c:f>
              <c:numCache>
                <c:formatCode>#,##0</c:formatCode>
                <c:ptCount val="3"/>
                <c:pt idx="0">
                  <c:v>240000</c:v>
                </c:pt>
                <c:pt idx="1">
                  <c:v>720000</c:v>
                </c:pt>
                <c:pt idx="2">
                  <c:v>1440000</c:v>
                </c:pt>
              </c:numCache>
            </c:numRef>
          </c:val>
        </c:ser>
        <c:ser>
          <c:idx val="2"/>
          <c:order val="2"/>
          <c:tx>
            <c:v>Организации</c:v>
          </c:tx>
          <c:spPr>
            <a:solidFill xmlns:a="http://schemas.openxmlformats.org/drawingml/2006/main">
              <a:srgbClr val="101726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10 организаций</c:v>
                </c:pt>
                <c:pt idx="1">
                  <c:v>30 организаций</c:v>
                </c:pt>
                <c:pt idx="2">
                  <c:v>60 организаций</c:v>
                </c:pt>
              </c:strCache>
            </c:strRef>
          </c:cat>
          <c:val>
            <c:numRef>
              <c:f>'Chart Data'!$F$2:$F$4</c:f>
              <c:numCache>
                <c:formatCode>#,##0</c:formatCode>
                <c:ptCount val="3"/>
                <c:pt idx="0">
                  <c:v>180000</c:v>
                </c:pt>
                <c:pt idx="1">
                  <c:v>540000</c:v>
                </c:pt>
                <c:pt idx="2">
                  <c:v>1080000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30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ED8E5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000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677586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EYOND WORDS">
            <a:extLst xmlns:a="http://schemas.openxmlformats.org/drawingml/2006/main">
              <a:ext uri="{FF2B5EF4-FFF2-40B4-BE49-F238E27FC236}">
                <a16:creationId xmlns:a16="http://schemas.microsoft.com/office/drawing/2014/main" id="{6DDC57F9-8269-4707-842D-497E52F4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BEYOND WORDS</a:t>
            </a:r>
          </a:p>
        </p:txBody>
      </p:sp>
      <p:sp>
        <p:nvSpPr>
          <p:cNvPr id="2" name="ДОМАШНЯЯ ПРАКТИКА / AAC">
            <a:extLst xmlns:a="http://schemas.openxmlformats.org/drawingml/2006/main">
              <a:ext uri="{FF2B5EF4-FFF2-40B4-BE49-F238E27FC236}">
                <a16:creationId xmlns:a16="http://schemas.microsoft.com/office/drawing/2014/main" id="{3EE1ADC4-8777-4DDB-A230-4DA57E7E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72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ДОМАШНЯЯ ПРАКТИКА / AAC</a:t>
            </a:r>
          </a:p>
        </p:txBody>
      </p:sp>
      <p:sp>
        <p:nvSpPr>
          <p:cNvPr id="3" name="SÖYLE">
            <a:extLst xmlns:a="http://schemas.openxmlformats.org/drawingml/2006/main">
              <a:ext uri="{FF2B5EF4-FFF2-40B4-BE49-F238E27FC236}">
                <a16:creationId xmlns:a16="http://schemas.microsoft.com/office/drawing/2014/main" id="{6EE12CBE-0233-487B-8603-FFA9E510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7145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SÖYLE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48FB9-B827-4AE0-9B6C-8C3B940E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676275" y="5724525"/>
            <a:ext cx="7219950" cy="1924050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C219D-6DB2-4BE5-96F6-1C21789A78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c71dc7f764170"/>
          <a:stretch xmlns:a="http://schemas.openxmlformats.org/drawingml/2006/main"/>
        </p:blipFill>
        <p:spPr>
          <a:xfrm xmlns:a="http://schemas.openxmlformats.org/drawingml/2006/main" rot="-420000">
            <a:off x="762000" y="5811781"/>
            <a:ext cx="7048500" cy="1749538"/>
          </a:xfrm>
          <a:prstGeom xmlns:a="http://schemas.openxmlformats.org/drawingml/2006/main" prst="roundRect">
            <a:avLst>
              <a:gd name="adj" fmla="val 978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6E43A-6A04-42F8-A664-BBACB29C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3914775"/>
            <a:ext cx="12553950" cy="5143500"/>
          </a:xfrm>
          <a:prstGeom xmlns:a="http://schemas.openxmlformats.org/drawingml/2006/main" prst="roundRect">
            <a:avLst>
              <a:gd name="adj" fmla="val 6296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7981B-85F5-42E9-A981-52F9599569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4ff17746542f6"/>
          <a:stretch xmlns:a="http://schemas.openxmlformats.org/drawingml/2006/main"/>
        </p:blipFill>
        <p:spPr>
          <a:xfrm xmlns:a="http://schemas.openxmlformats.org/drawingml/2006/main">
            <a:off x="3004185" y="4000500"/>
            <a:ext cx="12374880" cy="4972050"/>
          </a:xfrm>
          <a:prstGeom xmlns:a="http://schemas.openxmlformats.org/drawingml/2006/main" prst="roundRect">
            <a:avLst>
              <a:gd name="adj" fmla="val 536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FAAAF-BEA5-4C65-ADD8-A0D24A21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0">
            <a:off x="12849225" y="7267575"/>
            <a:ext cx="4695825" cy="1438275"/>
          </a:xfrm>
          <a:prstGeom xmlns:a="http://schemas.openxmlformats.org/drawingml/2006/main" prst="roundRect">
            <a:avLst>
              <a:gd name="adj" fmla="val 15894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EF118-1633-4C32-9ECF-39B8405385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0b0b9eb66405d"/>
          <a:stretch xmlns:a="http://schemas.openxmlformats.org/drawingml/2006/main"/>
        </p:blipFill>
        <p:spPr>
          <a:xfrm xmlns:a="http://schemas.openxmlformats.org/drawingml/2006/main" rot="420000">
            <a:off x="12934950" y="7354631"/>
            <a:ext cx="4524375" cy="1264164"/>
          </a:xfrm>
          <a:prstGeom xmlns:a="http://schemas.openxmlformats.org/drawingml/2006/main" prst="roundRect">
            <a:avLst>
              <a:gd name="adj" fmla="val 13534"/>
            </a:avLst>
          </a:prstGeom>
        </p:spPr>
      </p:pic>
      <p:sp>
        <p:nvSpPr>
          <p:cNvPr id="10" name="Технологии, которые помогают быть услышанным">
            <a:extLst xmlns:a="http://schemas.openxmlformats.org/drawingml/2006/main">
              <a:ext uri="{FF2B5EF4-FFF2-40B4-BE49-F238E27FC236}">
                <a16:creationId xmlns:a16="http://schemas.microsoft.com/office/drawing/2014/main" id="{DD0C98E0-6448-4673-B22E-B841765A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96425"/>
            <a:ext cx="1685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Технологии, которые помогают быть услышанным</a:t>
            </a:r>
          </a:p>
        </p:txBody>
      </p:sp>
    </p:spTree>
    <p:extLst>
      <p:ext uri="{BB962C8B-B14F-4D97-AF65-F5344CB8AC3E}">
        <p14:creationId xmlns:p14="http://schemas.microsoft.com/office/powerpoint/2010/main" val="8764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A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АКТИКА МЕЖДУ ВСТРЕЧАМИ">
            <a:extLst xmlns:a="http://schemas.openxmlformats.org/drawingml/2006/main">
              <a:ext uri="{FF2B5EF4-FFF2-40B4-BE49-F238E27FC236}">
                <a16:creationId xmlns:a16="http://schemas.microsoft.com/office/drawing/2014/main" id="{2BFD5A12-262B-43C3-B58C-E916AA2E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101726"/>
                </a:solidFill>
                <a:latin typeface="Menlo"/>
                <a:ea typeface="Menlo"/>
                <a:cs typeface="Menlo"/>
              </a:rPr>
              <a:t>ПРАКТИКА МЕЖДУ ВСТРЕЧАМИ</a:t>
            </a:r>
          </a:p>
        </p:txBody>
      </p:sp>
      <p:sp>
        <p:nvSpPr>
          <p:cNvPr id="2" name="Общение продолжается после занятия">
            <a:extLst xmlns:a="http://schemas.openxmlformats.org/drawingml/2006/main">
              <a:ext uri="{FF2B5EF4-FFF2-40B4-BE49-F238E27FC236}">
                <a16:creationId xmlns:a16="http://schemas.microsoft.com/office/drawing/2014/main" id="{8A6EAE08-836A-40D9-9D3D-C1ABC629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14425"/>
            <a:ext cx="16764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Общение продолжается</a:t>
            </a:r>
          </a:p>
          <a:p xmlns:a="http://schemas.openxmlformats.org/drawingml/2006/main">
            <a: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после занятия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B191E-A3EC-48DA-A17D-1311CD5721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ad3d00e2142e6"/>
          <a:srcRect xmlns:a="http://schemas.openxmlformats.org/drawingml/2006/main" l="0" t="8986" r="0" b="8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3886200"/>
            <a:ext cx="10572750" cy="5781675"/>
          </a:xfrm>
          <a:prstGeom xmlns:a="http://schemas.openxmlformats.org/drawingml/2006/main" prst="roundRect">
            <a:avLst>
              <a:gd name="adj" fmla="val 4613"/>
            </a:avLst>
          </a:prstGeom>
        </p:spPr>
      </p:pic>
      <p:sp>
        <p:nvSpPr>
          <p:cNvPr id="4" name="Дома нужен понятный следующий шаг.">
            <a:extLst xmlns:a="http://schemas.openxmlformats.org/drawingml/2006/main">
              <a:ext uri="{FF2B5EF4-FFF2-40B4-BE49-F238E27FC236}">
                <a16:creationId xmlns:a16="http://schemas.microsoft.com/office/drawing/2014/main" id="{8466FC24-BD74-4215-B222-02DE1C79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286250"/>
            <a:ext cx="5476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Дома нужен</a:t>
            </a:r>
          </a:p>
          <a:p xmlns:a="http://schemas.openxmlformats.org/drawingml/2006/main">
            <a: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понятный следующий шаг.</a:t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F14DC-F73C-492B-9F55-784FFE4AD43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096750" y="6134100"/>
            <a:ext cx="547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2C7B7"/>
            </a:solidFill>
            <a:prstDash val="solid"/>
          </a:ln>
        </p:spPr>
      </p:cxnSp>
      <p:sp>
        <p:nvSpPr>
          <p:cNvPr id="6" name="Родителю — что попробовать и как поддержать. ">
            <a:extLst xmlns:a="http://schemas.openxmlformats.org/drawingml/2006/main">
              <a:ext uri="{FF2B5EF4-FFF2-40B4-BE49-F238E27FC236}">
                <a16:creationId xmlns:a16="http://schemas.microsoft.com/office/drawing/2014/main" id="{116CAAE5-9DBF-4CB6-A08F-E9977CBB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543675"/>
            <a:ext cx="54768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Родителю — что попробовать</a:t>
            </a:r>
          </a:p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как поддержать.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Ребёнку — доступный способ</a:t>
            </a:r>
          </a:p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выразить потребность.</a:t>
            </a:r>
          </a:p>
        </p:txBody>
      </p:sp>
    </p:spTree>
    <p:extLst>
      <p:ext uri="{BB962C8B-B14F-4D97-AF65-F5344CB8AC3E}">
        <p14:creationId xmlns:p14="http://schemas.microsoft.com/office/powerpoint/2010/main" val="948394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ОДНА СИСТЕМА ПРАКТИКИ">
            <a:extLst xmlns:a="http://schemas.openxmlformats.org/drawingml/2006/main">
              <a:ext uri="{FF2B5EF4-FFF2-40B4-BE49-F238E27FC236}">
                <a16:creationId xmlns:a16="http://schemas.microsoft.com/office/drawing/2014/main" id="{E9FD75BB-DB43-420B-A9FC-A345DC6D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ОДНА СИСТЕМА ПРАКТИКИ</a:t>
            </a:r>
          </a:p>
        </p:txBody>
      </p:sp>
      <p:sp>
        <p:nvSpPr>
          <p:cNvPr id="2" name="Ребёнок. Семья. Общая цель.">
            <a:extLst xmlns:a="http://schemas.openxmlformats.org/drawingml/2006/main">
              <a:ext uri="{FF2B5EF4-FFF2-40B4-BE49-F238E27FC236}">
                <a16:creationId xmlns:a16="http://schemas.microsoft.com/office/drawing/2014/main" id="{7FCF81F8-F7A5-4843-9072-E521051A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19175"/>
            <a:ext cx="1685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Ребёнок. Семья. Общая цель.</a:t>
            </a:r>
          </a:p>
        </p:txBody>
      </p: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7DF37-0247-4747-A3EE-986F6450FD3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43375" y="44005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DA46B-E14E-400E-B827-B791C9CC77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668375" y="44005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1C48A-FDBE-4330-83AF-2628619E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3190875"/>
            <a:ext cx="8934450" cy="5143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F94C6-B550-48BA-B32E-162860A23E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96b2f99e34a27"/>
          <a:stretch xmlns:a="http://schemas.openxmlformats.org/drawingml/2006/main"/>
        </p:blipFill>
        <p:spPr>
          <a:xfrm xmlns:a="http://schemas.openxmlformats.org/drawingml/2006/main">
            <a:off x="4762500" y="3278471"/>
            <a:ext cx="8763000" cy="4968308"/>
          </a:xfrm>
          <a:prstGeom xmlns:a="http://schemas.openxmlformats.org/drawingml/2006/main" prst="roundRect">
            <a:avLst>
              <a:gd name="adj" fmla="val 4598"/>
            </a:avLst>
          </a:prstGeom>
        </p:spPr>
      </p:pic>
      <p:sp>
        <p:nvSpPr>
          <p:cNvPr id="7" name="РЕБЁНОК">
            <a:extLst xmlns:a="http://schemas.openxmlformats.org/drawingml/2006/main">
              <a:ext uri="{FF2B5EF4-FFF2-40B4-BE49-F238E27FC236}">
                <a16:creationId xmlns:a16="http://schemas.microsoft.com/office/drawing/2014/main" id="{5C208623-67A8-4B41-AA47-85E9F799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90950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rPr>
              <a:t>РЕБЁНОК</a:t>
            </a:r>
          </a:p>
        </p:txBody>
      </p:sp>
      <p:sp>
        <p:nvSpPr>
          <p:cNvPr id="8" name="Слушает, выбирает, сообщает потребности.">
            <a:extLst xmlns:a="http://schemas.openxmlformats.org/drawingml/2006/main">
              <a:ext uri="{FF2B5EF4-FFF2-40B4-BE49-F238E27FC236}">
                <a16:creationId xmlns:a16="http://schemas.microsoft.com/office/drawing/2014/main" id="{023D44F9-5F6C-4977-8F27-4D7DCCD7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Слушает, выбирает,</a:t>
            </a:r>
          </a:p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сообщает потребности.</a:t>
            </a:r>
          </a:p>
        </p:txBody>
      </p:sp>
      <p:sp>
        <p:nvSpPr>
          <p:cNvPr id="9" name="РОДИТЕЛЬ">
            <a:extLst xmlns:a="http://schemas.openxmlformats.org/drawingml/2006/main">
              <a:ext uri="{FF2B5EF4-FFF2-40B4-BE49-F238E27FC236}">
                <a16:creationId xmlns:a16="http://schemas.microsoft.com/office/drawing/2014/main" id="{FB166B01-F2A4-4785-B3B5-378A7062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7909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rPr>
              <a:t>РОДИТЕЛЬ</a:t>
            </a:r>
          </a:p>
        </p:txBody>
      </p:sp>
      <p:sp>
        <p:nvSpPr>
          <p:cNvPr id="10" name="Задаёт цель и отмечает помощь.">
            <a:extLst xmlns:a="http://schemas.openxmlformats.org/drawingml/2006/main">
              <a:ext uri="{FF2B5EF4-FFF2-40B4-BE49-F238E27FC236}">
                <a16:creationId xmlns:a16="http://schemas.microsoft.com/office/drawing/2014/main" id="{E10701D7-0C8D-4BE6-BDE6-84068E62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8101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Задаёт цель</a:t>
            </a:r>
          </a:p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отмечает помощь.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728F4-88FA-4AE4-8FB6-D895BFF18FF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144000" y="8410575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dash"/>
          </a:ln>
        </p:spPr>
      </p:cxnSp>
      <p:sp>
        <p:nvSpPr>
          <p:cNvPr id="12" name="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F3BBFC7B-0333-4E0F-9474-96921B91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89916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СПЕЦИАЛИСТ</a:t>
            </a:r>
          </a:p>
        </p:txBody>
      </p:sp>
      <p:sp>
        <p:nvSpPr>
          <p:cNvPr id="13" name="Рекомендует цели и сопровождает семью вне при">
            <a:extLst xmlns:a="http://schemas.openxmlformats.org/drawingml/2006/main">
              <a:ext uri="{FF2B5EF4-FFF2-40B4-BE49-F238E27FC236}">
                <a16:creationId xmlns:a16="http://schemas.microsoft.com/office/drawing/2014/main" id="{F1CD9BD4-6AF5-4247-95AF-90D003F2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942975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Рекомендует цели и сопровождает семью вне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10954626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ÖYLE EXPERIENCE">
            <a:extLst xmlns:a="http://schemas.openxmlformats.org/drawingml/2006/main">
              <a:ext uri="{FF2B5EF4-FFF2-40B4-BE49-F238E27FC236}">
                <a16:creationId xmlns:a16="http://schemas.microsoft.com/office/drawing/2014/main" id="{F6B03C5E-CD0B-4D0B-B0ED-EE36377A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SÖYLE EXPERIENCE</a:t>
            </a:r>
          </a:p>
        </p:txBody>
      </p:sp>
      <p:sp>
        <p:nvSpPr>
          <p:cNvPr id="2" name="Всё начинается с одного шага">
            <a:extLst xmlns:a="http://schemas.openxmlformats.org/drawingml/2006/main">
              <a:ext uri="{FF2B5EF4-FFF2-40B4-BE49-F238E27FC236}">
                <a16:creationId xmlns:a16="http://schemas.microsoft.com/office/drawing/2014/main" id="{0ABFE85F-758C-4CDC-8713-135CFA3B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16859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Всё начинается с одного шага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512AC-4155-49A7-9DFF-0F1628E6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752725"/>
            <a:ext cx="16840200" cy="6867525"/>
          </a:xfrm>
          <a:prstGeom xmlns:a="http://schemas.openxmlformats.org/drawingml/2006/main" prst="roundRect">
            <a:avLst>
              <a:gd name="adj" fmla="val 49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22956-FF24-4638-BB57-6EB5E3A9EA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fa22c058149c1"/>
          <a:stretch xmlns:a="http://schemas.openxmlformats.org/drawingml/2006/main"/>
        </p:blipFill>
        <p:spPr>
          <a:xfrm xmlns:a="http://schemas.openxmlformats.org/drawingml/2006/main">
            <a:off x="811107" y="2838450"/>
            <a:ext cx="16665787" cy="6696075"/>
          </a:xfrm>
          <a:prstGeom xmlns:a="http://schemas.openxmlformats.org/drawingml/2006/main" prst="roundRect">
            <a:avLst>
              <a:gd name="adj" fmla="val 42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D33A2-BFE9-4D1C-BE96-F1D7462B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9715500"/>
            <a:ext cx="1828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6" name="Короткое занятие или сообщение — выбор остаёт">
            <a:extLst xmlns:a="http://schemas.openxmlformats.org/drawingml/2006/main">
              <a:ext uri="{FF2B5EF4-FFF2-40B4-BE49-F238E27FC236}">
                <a16:creationId xmlns:a16="http://schemas.microsoft.com/office/drawing/2014/main" id="{81BBC3B9-BA9F-40C6-A82F-B89DB52A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734550"/>
            <a:ext cx="1714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Короткое занятие или сообщение — выбор остаётся у ребёнка.</a:t>
            </a:r>
          </a:p>
        </p:txBody>
      </p:sp>
    </p:spTree>
    <p:extLst>
      <p:ext uri="{BB962C8B-B14F-4D97-AF65-F5344CB8AC3E}">
        <p14:creationId xmlns:p14="http://schemas.microsoft.com/office/powerpoint/2010/main" val="509197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ДЕТСКИЕ УПРАЖНЕНИЯ">
            <a:extLst xmlns:a="http://schemas.openxmlformats.org/drawingml/2006/main">
              <a:ext uri="{FF2B5EF4-FFF2-40B4-BE49-F238E27FC236}">
                <a16:creationId xmlns:a16="http://schemas.microsoft.com/office/drawing/2014/main" id="{7542C2F7-72A2-4A30-8775-571E5B69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ДЕТСКИЕ УПРАЖНЕНИЯ</a:t>
            </a:r>
          </a:p>
        </p:txBody>
      </p:sp>
      <p:sp>
        <p:nvSpPr>
          <p:cNvPr id="2" name="Послушать. Показать. Попробовать.">
            <a:extLst xmlns:a="http://schemas.openxmlformats.org/drawingml/2006/main">
              <a:ext uri="{FF2B5EF4-FFF2-40B4-BE49-F238E27FC236}">
                <a16:creationId xmlns:a16="http://schemas.microsoft.com/office/drawing/2014/main" id="{A7CFF93D-5B06-4975-9ED2-3B15B68E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28700"/>
            <a:ext cx="1685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Послушать. Показать. Попробовать.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3F30F-E933-4339-8DE4-3DC89A3B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647950"/>
            <a:ext cx="13458825" cy="6600825"/>
          </a:xfrm>
          <a:prstGeom xmlns:a="http://schemas.openxmlformats.org/drawingml/2006/main" prst="roundRect">
            <a:avLst>
              <a:gd name="adj" fmla="val 4618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E2808-153B-47C0-95F2-B7E1E964F5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28f352bad4178"/>
          <a:stretch xmlns:a="http://schemas.openxmlformats.org/drawingml/2006/main"/>
        </p:blipFill>
        <p:spPr>
          <a:xfrm xmlns:a="http://schemas.openxmlformats.org/drawingml/2006/main">
            <a:off x="714375" y="2733675"/>
            <a:ext cx="13287375" cy="6429375"/>
          </a:xfrm>
          <a:prstGeom xmlns:a="http://schemas.openxmlformats.org/drawingml/2006/main" prst="roundRect">
            <a:avLst>
              <a:gd name="adj" fmla="val 3852"/>
            </a:avLst>
          </a:prstGeom>
        </p:spPr>
      </p:pic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681C5-49A2-4DF6-9DB7-FC313D205CA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2382500" y="3048000"/>
            <a:ext cx="20002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9D86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BA43D-F687-463F-AC55-C7C91CF08DF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477500" y="6619875"/>
            <a:ext cx="39052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9D86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EFE64-0C8C-4962-AD03-B03D0B96C05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954000" y="9001125"/>
            <a:ext cx="142875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8" name="01 / АУДИОИНСТРУКЦИЯ">
            <a:extLst xmlns:a="http://schemas.openxmlformats.org/drawingml/2006/main">
              <a:ext uri="{FF2B5EF4-FFF2-40B4-BE49-F238E27FC236}">
                <a16:creationId xmlns:a16="http://schemas.microsoft.com/office/drawing/2014/main" id="{9AA20CFF-B7A3-45FD-BB24-C0410435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51460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01 / АУДИОИНСТРУКЦИЯ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AC45D-BF7C-4135-A55E-300E9ADD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0" y="2962275"/>
            <a:ext cx="3314700" cy="1333500"/>
          </a:xfrm>
          <a:prstGeom xmlns:a="http://schemas.openxmlformats.org/drawingml/2006/main" prst="roundRect">
            <a:avLst>
              <a:gd name="adj" fmla="val 9286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B1BCF-B2C4-470C-8BE1-4E541A7815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3efae01a24efc"/>
          <a:stretch xmlns:a="http://schemas.openxmlformats.org/drawingml/2006/main"/>
        </p:blipFill>
        <p:spPr>
          <a:xfrm xmlns:a="http://schemas.openxmlformats.org/drawingml/2006/main">
            <a:off x="14430375" y="3050304"/>
            <a:ext cx="3143250" cy="1157442"/>
          </a:xfrm>
          <a:prstGeom xmlns:a="http://schemas.openxmlformats.org/drawingml/2006/main" prst="roundRect">
            <a:avLst>
              <a:gd name="adj" fmla="val 5738"/>
            </a:avLst>
          </a:prstGeom>
        </p:spPr>
      </p:pic>
      <p:sp>
        <p:nvSpPr>
          <p:cNvPr id="11" name="Повтор и удобная скорость озвучивания">
            <a:extLst xmlns:a="http://schemas.openxmlformats.org/drawingml/2006/main">
              <a:ext uri="{FF2B5EF4-FFF2-40B4-BE49-F238E27FC236}">
                <a16:creationId xmlns:a16="http://schemas.microsoft.com/office/drawing/2014/main" id="{0D17218A-F140-4759-BF14-BF23949C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4476750"/>
            <a:ext cx="328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Повтор и удобная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скорость озвучивания</a:t>
            </a:r>
          </a:p>
        </p:txBody>
      </p:sp>
      <p:sp>
        <p:nvSpPr>
          <p:cNvPr id="12" name="02 / ВЫБОР">
            <a:extLst xmlns:a="http://schemas.openxmlformats.org/drawingml/2006/main">
              <a:ext uri="{FF2B5EF4-FFF2-40B4-BE49-F238E27FC236}">
                <a16:creationId xmlns:a16="http://schemas.microsoft.com/office/drawing/2014/main" id="{811BB8A7-C089-4130-B3B7-1806379C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54292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02 / ВЫБОР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BB413-5E95-48E6-AC35-8274D4E7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0" y="5810250"/>
            <a:ext cx="1981200" cy="19812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9EA05-386C-48EB-8209-D84A22E244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98eb5c4ac4d87"/>
          <a:stretch xmlns:a="http://schemas.openxmlformats.org/drawingml/2006/main"/>
        </p:blipFill>
        <p:spPr>
          <a:xfrm xmlns:a="http://schemas.openxmlformats.org/drawingml/2006/main">
            <a:off x="14430375" y="5895975"/>
            <a:ext cx="1809750" cy="180975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15" name="Ответ касанием и подсказка">
            <a:extLst xmlns:a="http://schemas.openxmlformats.org/drawingml/2006/main">
              <a:ext uri="{FF2B5EF4-FFF2-40B4-BE49-F238E27FC236}">
                <a16:creationId xmlns:a16="http://schemas.microsoft.com/office/drawing/2014/main" id="{1506184A-9691-4FBF-93DA-4F557D0F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25" y="6096000"/>
            <a:ext cx="1476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Ответ касанием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 подсказка</a:t>
            </a:r>
          </a:p>
        </p:txBody>
      </p:sp>
      <p:sp>
        <p:nvSpPr>
          <p:cNvPr id="16" name="03 / ПЕРЕРЫВ">
            <a:extLst xmlns:a="http://schemas.openxmlformats.org/drawingml/2006/main">
              <a:ext uri="{FF2B5EF4-FFF2-40B4-BE49-F238E27FC236}">
                <a16:creationId xmlns:a16="http://schemas.microsoft.com/office/drawing/2014/main" id="{6A6BF741-510F-481D-9BA2-71541D74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3724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03 / ПЕРЕРЫВ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F4C99-E219-45E0-B4B6-3272212D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0" y="8782050"/>
            <a:ext cx="2762250" cy="1123950"/>
          </a:xfrm>
          <a:prstGeom xmlns:a="http://schemas.openxmlformats.org/drawingml/2006/main" prst="roundRect">
            <a:avLst>
              <a:gd name="adj" fmla="val 12712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50DBA-3AE9-45FB-B76E-F3CCCEFBEF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00d0ab4934f82"/>
          <a:stretch xmlns:a="http://schemas.openxmlformats.org/drawingml/2006/main"/>
        </p:blipFill>
        <p:spPr>
          <a:xfrm xmlns:a="http://schemas.openxmlformats.org/drawingml/2006/main">
            <a:off x="14430375" y="8867775"/>
            <a:ext cx="2590800" cy="952500"/>
          </a:xfrm>
          <a:prstGeom xmlns:a="http://schemas.openxmlformats.org/drawingml/2006/main" prst="roundRect">
            <a:avLst>
              <a:gd name="adj" fmla="val 9000"/>
            </a:avLst>
          </a:prstGeom>
        </p:spPr>
      </p:pic>
    </p:spTree>
    <p:extLst>
      <p:ext uri="{BB962C8B-B14F-4D97-AF65-F5344CB8AC3E}">
        <p14:creationId xmlns:p14="http://schemas.microsoft.com/office/powerpoint/2010/main" val="14887913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76C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AC / АЛЬТЕРНАТИВНАЯ И ДОПОЛНИТЕЛЬНАЯ КОММУНИ">
            <a:extLst xmlns:a="http://schemas.openxmlformats.org/drawingml/2006/main">
              <a:ext uri="{FF2B5EF4-FFF2-40B4-BE49-F238E27FC236}">
                <a16:creationId xmlns:a16="http://schemas.microsoft.com/office/drawing/2014/main" id="{3470966C-6738-4E60-AD7A-F1ACB4BB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666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AAC / АЛЬТЕРНАТИВНАЯ И ДОПОЛНИТЕЛЬНАЯ КОММУНИКАЦИЯ</a:t>
            </a:r>
          </a:p>
        </p:txBody>
      </p:sp>
      <p:sp>
        <p:nvSpPr>
          <p:cNvPr id="2" name="Сказать. Сейчас.">
            <a:extLst xmlns:a="http://schemas.openxmlformats.org/drawingml/2006/main">
              <a:ext uri="{FF2B5EF4-FFF2-40B4-BE49-F238E27FC236}">
                <a16:creationId xmlns:a16="http://schemas.microsoft.com/office/drawing/2014/main" id="{B683FFD4-81B1-4369-9C90-7F207B8B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16954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Сказать. Сейчас.</a:t>
            </a:r>
          </a:p>
        </p:txBody>
      </p:sp>
      <p:sp>
        <p:nvSpPr>
          <p:cNvPr id="3" name="Просьба о помощи, отказ и перерыв — отдельный">
            <a:extLst xmlns:a="http://schemas.openxmlformats.org/drawingml/2006/main">
              <a:ext uri="{FF2B5EF4-FFF2-40B4-BE49-F238E27FC236}">
                <a16:creationId xmlns:a16="http://schemas.microsoft.com/office/drawing/2014/main" id="{3D28635E-21EB-4E1B-8EE1-9A105ADC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38475"/>
            <a:ext cx="1657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Просьба о помощи, отказ и перерыв — отдельный доступный путь.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4955B-8F2F-40D5-9E0F-8B341A69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4143375"/>
            <a:ext cx="16744950" cy="4286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834D3-CE79-42F3-BDFC-A02BD237BF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21680fdf5428d"/>
          <a:stretch xmlns:a="http://schemas.openxmlformats.org/drawingml/2006/main"/>
        </p:blipFill>
        <p:spPr>
          <a:xfrm xmlns:a="http://schemas.openxmlformats.org/drawingml/2006/main">
            <a:off x="857250" y="4229610"/>
            <a:ext cx="16573500" cy="4113779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BA8F7-138D-44A2-A814-EE8E53B2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525" y="8277225"/>
            <a:ext cx="9696450" cy="1933575"/>
          </a:xfrm>
          <a:prstGeom xmlns:a="http://schemas.openxmlformats.org/drawingml/2006/main" prst="roundRect">
            <a:avLst>
              <a:gd name="adj" fmla="val 118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53863-E624-4EC1-B9C3-8421BCFCFE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cb92dd7eb4fbd"/>
          <a:stretch xmlns:a="http://schemas.openxmlformats.org/drawingml/2006/main"/>
        </p:blipFill>
        <p:spPr>
          <a:xfrm xmlns:a="http://schemas.openxmlformats.org/drawingml/2006/main">
            <a:off x="7812076" y="8362950"/>
            <a:ext cx="9331348" cy="1762125"/>
          </a:xfrm>
          <a:prstGeom xmlns:a="http://schemas.openxmlformats.org/drawingml/2006/main" prst="roundRect">
            <a:avLst>
              <a:gd name="adj" fmla="val 9730"/>
            </a:avLst>
          </a:prstGeom>
        </p:spPr>
      </p:pic>
      <p:sp>
        <p:nvSpPr>
          <p:cNvPr id="8" name="Карточки. Фраза. Озвучивание.">
            <a:extLst xmlns:a="http://schemas.openxmlformats.org/drawingml/2006/main">
              <a:ext uri="{FF2B5EF4-FFF2-40B4-BE49-F238E27FC236}">
                <a16:creationId xmlns:a16="http://schemas.microsoft.com/office/drawing/2014/main" id="{76C324A6-2774-4730-A3FF-83B10BD7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70585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Карточки. Фраза.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Озвучивание.</a:t>
            </a:r>
          </a:p>
        </p:txBody>
      </p:sp>
    </p:spTree>
    <p:extLst>
      <p:ext uri="{BB962C8B-B14F-4D97-AF65-F5344CB8AC3E}">
        <p14:creationId xmlns:p14="http://schemas.microsoft.com/office/powerpoint/2010/main" val="3383113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ОДИТЕЛЬСКИЙ КАБИНЕТ">
            <a:extLst xmlns:a="http://schemas.openxmlformats.org/drawingml/2006/main">
              <a:ext uri="{FF2B5EF4-FFF2-40B4-BE49-F238E27FC236}">
                <a16:creationId xmlns:a16="http://schemas.microsoft.com/office/drawing/2014/main" id="{2A793623-3CFD-41DC-9CB6-1A7DCB6E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РОДИТЕЛЬСКИЙ КАБИНЕТ</a:t>
            </a:r>
          </a:p>
        </p:txBody>
      </p:sp>
      <p:sp>
        <p:nvSpPr>
          <p:cNvPr id="2" name="Цель видна. Поддержка учтена.">
            <a:extLst xmlns:a="http://schemas.openxmlformats.org/drawingml/2006/main">
              <a:ext uri="{FF2B5EF4-FFF2-40B4-BE49-F238E27FC236}">
                <a16:creationId xmlns:a16="http://schemas.microsoft.com/office/drawing/2014/main" id="{152068A3-8B79-420B-B266-09A9F8E3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38225"/>
            <a:ext cx="1685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Цель видна. Поддержка учтена.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27C72-1F95-40E2-8C28-E632C194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2752725"/>
            <a:ext cx="16744950" cy="331470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7C328-F1B8-47C5-B634-3801EB0076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8144aee3e449a"/>
          <a:stretch xmlns:a="http://schemas.openxmlformats.org/drawingml/2006/main"/>
        </p:blipFill>
        <p:spPr>
          <a:xfrm xmlns:a="http://schemas.openxmlformats.org/drawingml/2006/main">
            <a:off x="765362" y="2838450"/>
            <a:ext cx="16566776" cy="314325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3F67D-FF6B-47F8-94AF-13B4CDC6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6076950"/>
            <a:ext cx="9839325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92B10-0DD4-4AED-A0DA-C81A4DFAEA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da162a64b4f7a"/>
          <a:stretch xmlns:a="http://schemas.openxmlformats.org/drawingml/2006/main"/>
        </p:blipFill>
        <p:spPr>
          <a:xfrm xmlns:a="http://schemas.openxmlformats.org/drawingml/2006/main">
            <a:off x="1063228" y="6162675"/>
            <a:ext cx="9636919" cy="1352550"/>
          </a:xfrm>
          <a:prstGeom xmlns:a="http://schemas.openxmlformats.org/drawingml/2006/main" prst="roundRect">
            <a:avLst>
              <a:gd name="adj" fmla="val 1126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08C60-998B-439A-8992-2ACB0BE1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7572375"/>
            <a:ext cx="13125450" cy="1495425"/>
          </a:xfrm>
          <a:prstGeom xmlns:a="http://schemas.openxmlformats.org/drawingml/2006/main" prst="roundRect">
            <a:avLst>
              <a:gd name="adj" fmla="val 14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3ADDA-B4EB-409C-8202-71D3A250C4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518a6223d4525"/>
          <a:stretch xmlns:a="http://schemas.openxmlformats.org/drawingml/2006/main"/>
        </p:blipFill>
        <p:spPr>
          <a:xfrm xmlns:a="http://schemas.openxmlformats.org/drawingml/2006/main">
            <a:off x="4286250" y="7660958"/>
            <a:ext cx="12954000" cy="1318260"/>
          </a:xfrm>
          <a:prstGeom xmlns:a="http://schemas.openxmlformats.org/drawingml/2006/main" prst="roundRect">
            <a:avLst>
              <a:gd name="adj" fmla="val 11511"/>
            </a:avLst>
          </a:prstGeom>
        </p:spPr>
      </p:pic>
      <p:sp>
        <p:nvSpPr>
          <p:cNvPr id="9" name="Что хотим наблюдать дома">
            <a:extLst xmlns:a="http://schemas.openxmlformats.org/drawingml/2006/main">
              <a:ext uri="{FF2B5EF4-FFF2-40B4-BE49-F238E27FC236}">
                <a16:creationId xmlns:a16="http://schemas.microsoft.com/office/drawing/2014/main" id="{796B6B63-524A-41A6-9E43-B9FB9C04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53175"/>
            <a:ext cx="595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Что хотим</a:t>
            </a:r>
          </a:p>
          <a:p xmlns:a="http://schemas.openxmlformats.org/drawingml/2006/main">
            <a: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наблюдать дома</a:t>
            </a:r>
          </a:p>
        </p:txBody>
      </p:sp>
      <p:sp>
        <p:nvSpPr>
          <p:cNvPr id="10" name="Бытовое наблюдение хранится отдельно от игров">
            <a:extLst xmlns:a="http://schemas.openxmlformats.org/drawingml/2006/main">
              <a:ext uri="{FF2B5EF4-FFF2-40B4-BE49-F238E27FC236}">
                <a16:creationId xmlns:a16="http://schemas.microsoft.com/office/drawing/2014/main" id="{F6A57016-403C-4380-9A8A-3677A38D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82125"/>
            <a:ext cx="1685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Бытовое наблюдение хранится отдельно от игрового балла.</a:t>
            </a:r>
          </a:p>
        </p:txBody>
      </p:sp>
    </p:spTree>
    <p:extLst>
      <p:ext uri="{BB962C8B-B14F-4D97-AF65-F5344CB8AC3E}">
        <p14:creationId xmlns:p14="http://schemas.microsoft.com/office/powerpoint/2010/main" val="16226379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RULE-BASED PERSONALIZATION">
            <a:extLst xmlns:a="http://schemas.openxmlformats.org/drawingml/2006/main">
              <a:ext uri="{FF2B5EF4-FFF2-40B4-BE49-F238E27FC236}">
                <a16:creationId xmlns:a16="http://schemas.microsoft.com/office/drawing/2014/main" id="{80817A9A-A108-4732-9A5F-DE172992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190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RULE-BASED PERSONALIZATION</a:t>
            </a:r>
          </a:p>
        </p:txBody>
      </p:sp>
      <p:sp>
        <p:nvSpPr>
          <p:cNvPr id="2" name="Адаптация с понятной логикой">
            <a:extLst xmlns:a="http://schemas.openxmlformats.org/drawingml/2006/main">
              <a:ext uri="{FF2B5EF4-FFF2-40B4-BE49-F238E27FC236}">
                <a16:creationId xmlns:a16="http://schemas.microsoft.com/office/drawing/2014/main" id="{63D27434-0B6C-499A-AC2B-244A76CB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57275"/>
            <a:ext cx="1685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Адаптация с понятной логикой</a:t>
            </a:r>
          </a:p>
        </p:txBody>
      </p:sp>
      <p:sp>
        <p:nvSpPr>
          <p:cNvPr id="3" name="ПРИМЕР РАСЧЁТА / НЕ ДАННЫЕ РЕБЁНКА">
            <a:extLst xmlns:a="http://schemas.openxmlformats.org/drawingml/2006/main">
              <a:ext uri="{FF2B5EF4-FFF2-40B4-BE49-F238E27FC236}">
                <a16:creationId xmlns:a16="http://schemas.microsoft.com/office/drawing/2014/main" id="{96487F5D-99B1-426B-8CA7-0A91F92B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1685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ПРИМЕР РАСЧЁТА / НЕ ДАННЫЕ РЕБЁНКА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EF6C6-37BE-42BA-848E-BD697432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171825"/>
            <a:ext cx="5381625" cy="5686425"/>
          </a:xfrm>
          <a:prstGeom xmlns:a="http://schemas.openxmlformats.org/drawingml/2006/main" prst="roundRect">
            <a:avLst>
              <a:gd name="adj" fmla="val 4425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14288">
            <a:solidFill>
              <a:srgbClr val="31445E"/>
            </a:solidFill>
          </a:ln>
        </p:spPr>
      </p:sp>
      <p:sp>
        <p:nvSpPr>
          <p:cNvPr id="5" name="ОКНО: ДО 8 РЕЗУЛЬТАТОВ">
            <a:extLst xmlns:a="http://schemas.openxmlformats.org/drawingml/2006/main">
              <a:ext uri="{FF2B5EF4-FFF2-40B4-BE49-F238E27FC236}">
                <a16:creationId xmlns:a16="http://schemas.microsoft.com/office/drawing/2014/main" id="{7C486EED-A44E-4F8A-8D47-B9B33235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575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ОКНО: ДО 8 РЕЗУЛЬТАТОВ</a:t>
            </a:r>
          </a:p>
        </p:txBody>
      </p:sp>
      <p:sp>
        <p:nvSpPr>
          <p:cNvPr id="6" name="Завершённые попытки">
            <a:extLst xmlns:a="http://schemas.openxmlformats.org/drawingml/2006/main">
              <a:ext uri="{FF2B5EF4-FFF2-40B4-BE49-F238E27FC236}">
                <a16:creationId xmlns:a16="http://schemas.microsoft.com/office/drawing/2014/main" id="{4956BD0E-2F33-47BC-8A8D-229CB0C3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00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Завершённые попытки</a:t>
            </a:r>
          </a:p>
        </p:txBody>
      </p:sp>
      <p:sp>
        <p:nvSpPr>
          <p:cNvPr id="7" name="1: 80%">
            <a:extLst xmlns:a="http://schemas.openxmlformats.org/drawingml/2006/main">
              <a:ext uri="{FF2B5EF4-FFF2-40B4-BE49-F238E27FC236}">
                <a16:creationId xmlns:a16="http://schemas.microsoft.com/office/drawing/2014/main" id="{6F4EEA88-8ECD-4648-80B4-23CEBDA1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1: 80%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20164-B39F-4606-811C-400E4FA1472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9" name="2: 100%">
            <a:extLst xmlns:a="http://schemas.openxmlformats.org/drawingml/2006/main">
              <a:ext uri="{FF2B5EF4-FFF2-40B4-BE49-F238E27FC236}">
                <a16:creationId xmlns:a16="http://schemas.microsoft.com/office/drawing/2014/main" id="{AF97868E-9ACC-4E7D-A276-50069811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2: 100%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08BB3-EF8A-4257-8CD7-6DBAB18CFFC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24075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1" name="3: 60%">
            <a:extLst xmlns:a="http://schemas.openxmlformats.org/drawingml/2006/main">
              <a:ext uri="{FF2B5EF4-FFF2-40B4-BE49-F238E27FC236}">
                <a16:creationId xmlns:a16="http://schemas.microsoft.com/office/drawing/2014/main" id="{AF29B3D5-CFD2-429D-A3FE-C8219BD2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3: 60%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2C533-9B68-4D73-8B1D-4D5BAC51360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95650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3" name="4: 80%">
            <a:extLst xmlns:a="http://schemas.openxmlformats.org/drawingml/2006/main">
              <a:ext uri="{FF2B5EF4-FFF2-40B4-BE49-F238E27FC236}">
                <a16:creationId xmlns:a16="http://schemas.microsoft.com/office/drawing/2014/main" id="{C024E2BC-8801-4061-961A-07FB62AC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4: 80%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81453-8632-4D99-A95C-46B3596A7CD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67225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5" name="5: 100%">
            <a:extLst xmlns:a="http://schemas.openxmlformats.org/drawingml/2006/main">
              <a:ext uri="{FF2B5EF4-FFF2-40B4-BE49-F238E27FC236}">
                <a16:creationId xmlns:a16="http://schemas.microsoft.com/office/drawing/2014/main" id="{26FB7BFB-38CD-4999-B3FD-0DA25898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5: 100%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051A6-33F4-4912-92D2-5670B347538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7" name="6: 100%">
            <a:extLst xmlns:a="http://schemas.openxmlformats.org/drawingml/2006/main">
              <a:ext uri="{FF2B5EF4-FFF2-40B4-BE49-F238E27FC236}">
                <a16:creationId xmlns:a16="http://schemas.microsoft.com/office/drawing/2014/main" id="{E9122EEE-9430-4884-91C6-FAFB7454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6: 100%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02B4F-F8F7-4688-A849-B598D9F9E25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24075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9" name="7: 80%">
            <a:extLst xmlns:a="http://schemas.openxmlformats.org/drawingml/2006/main">
              <a:ext uri="{FF2B5EF4-FFF2-40B4-BE49-F238E27FC236}">
                <a16:creationId xmlns:a16="http://schemas.microsoft.com/office/drawing/2014/main" id="{D31E3126-3A6A-498A-8BD7-85993FC8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7: 80%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776F7F-BD99-4078-B03C-802C7E6CFE7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95650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21" name="8: 100%">
            <a:extLst xmlns:a="http://schemas.openxmlformats.org/drawingml/2006/main">
              <a:ext uri="{FF2B5EF4-FFF2-40B4-BE49-F238E27FC236}">
                <a16:creationId xmlns:a16="http://schemas.microsoft.com/office/drawing/2014/main" id="{0D5D9B67-526A-4E3E-B003-A56961EC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8: 100%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284483-B058-4ACB-822F-444DC3E6BD4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67225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</a:ln>
        </p:spPr>
      </p:cxnSp>
      <p:graphicFrame>
        <p:nvGraphicFramePr>
          <p:cNvPr id="23" name="Chart">
            <a:extLst xmlns:a="http://schemas.openxmlformats.org/drawingml/2006/main">
              <a:ext uri="{FF2B5EF4-FFF2-40B4-BE49-F238E27FC236}">
                <a16:creationId xmlns:a16="http://schemas.microsoft.com/office/drawing/2014/main" id="{2020FA91-8731-4252-AED9-3DF2EC09495B}"/>
              </a:ext>
            </a:extLst>
          </p:cNvPr>
          <p:cNvGraphicFramePr/>
          <p:nvPr/>
        </p:nvGraphicFramePr>
        <p:xfrm>
          <a:off xmlns:a="http://schemas.openxmlformats.org/drawingml/2006/main" x="923925" y="6172200"/>
          <a:ext xmlns:a="http://schemas.openxmlformats.org/drawingml/2006/main" cx="4857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e6a9dfd9354a90"/>
          </a:graphicData>
        </a:graphic>
      </p:graphicFrame>
      <p:sp>
        <p:nvSpPr>
          <p:cNvPr id="24" name="1.0">
            <a:extLst xmlns:a="http://schemas.openxmlformats.org/drawingml/2006/main">
              <a:ext uri="{FF2B5EF4-FFF2-40B4-BE49-F238E27FC236}">
                <a16:creationId xmlns:a16="http://schemas.microsoft.com/office/drawing/2014/main" id="{487AA6F6-EDD4-4149-988F-F51126BD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2200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1.0</a:t>
            </a:r>
          </a:p>
        </p:txBody>
      </p:sp>
      <p:sp>
        <p:nvSpPr>
          <p:cNvPr id="25" name="2.0">
            <a:extLst xmlns:a="http://schemas.openxmlformats.org/drawingml/2006/main">
              <a:ext uri="{FF2B5EF4-FFF2-40B4-BE49-F238E27FC236}">
                <a16:creationId xmlns:a16="http://schemas.microsoft.com/office/drawing/2014/main" id="{DF9C526F-2AE2-467C-9183-06C5545A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8220075"/>
            <a:ext cx="104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2.0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CEC458-C945-4C20-8873-389600BC07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38375" y="8429625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CBDD3"/>
            </a:solidFill>
            <a:prstDash val="soli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B41C34-250F-4709-8692-BD45CA31B3B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24575" y="5924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  <a:tailEnd type="arrow" w="med" len="med"/>
          </a:ln>
        </p:spPr>
      </p:cxnSp>
      <p:graphicFrame>
        <p:nvGraphicFramePr>
          <p:cNvPr id="28" name="Chart">
            <a:extLst xmlns:a="http://schemas.openxmlformats.org/drawingml/2006/main">
              <a:ext uri="{FF2B5EF4-FFF2-40B4-BE49-F238E27FC236}">
                <a16:creationId xmlns:a16="http://schemas.microsoft.com/office/drawing/2014/main" id="{CC971FA3-C811-4C61-A044-8F0A537B5817}"/>
              </a:ext>
            </a:extLst>
          </p:cNvPr>
          <p:cNvGraphicFramePr/>
          <p:nvPr/>
        </p:nvGraphicFramePr>
        <p:xfrm>
          <a:off xmlns:a="http://schemas.openxmlformats.org/drawingml/2006/main" x="6819900" y="3333750"/>
          <a:ext xmlns:a="http://schemas.openxmlformats.org/drawingml/2006/main" cx="2647950" cy="2590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32399e05d44700"/>
          </a:graphicData>
        </a:graphic>
      </p:graphicFrame>
      <p:sp>
        <p:nvSpPr>
          <p:cNvPr id="29" name="89%">
            <a:extLst xmlns:a="http://schemas.openxmlformats.org/drawingml/2006/main">
              <a:ext uri="{FF2B5EF4-FFF2-40B4-BE49-F238E27FC236}">
                <a16:creationId xmlns:a16="http://schemas.microsoft.com/office/drawing/2014/main" id="{D0BAE390-1BB6-4076-8C74-C3E9F6F3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448175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37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89%</a:t>
            </a:r>
          </a:p>
        </p:txBody>
      </p:sp>
      <p:graphicFrame>
        <p:nvGraphicFramePr>
          <p:cNvPr id="30" name="Chart">
            <a:extLst xmlns:a="http://schemas.openxmlformats.org/drawingml/2006/main">
              <a:ext uri="{FF2B5EF4-FFF2-40B4-BE49-F238E27FC236}">
                <a16:creationId xmlns:a16="http://schemas.microsoft.com/office/drawing/2014/main" id="{56ABFCCD-A393-40FA-8F80-249EE02D6E97}"/>
              </a:ext>
            </a:extLst>
          </p:cNvPr>
          <p:cNvGraphicFramePr/>
          <p:nvPr/>
        </p:nvGraphicFramePr>
        <p:xfrm>
          <a:off xmlns:a="http://schemas.openxmlformats.org/drawingml/2006/main" x="9696450" y="3333750"/>
          <a:ext xmlns:a="http://schemas.openxmlformats.org/drawingml/2006/main" cx="2647950" cy="2590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e414aafa9f421d"/>
          </a:graphicData>
        </a:graphic>
      </p:graphicFrame>
      <p:sp>
        <p:nvSpPr>
          <p:cNvPr id="31" name="83%">
            <a:extLst xmlns:a="http://schemas.openxmlformats.org/drawingml/2006/main">
              <a:ext uri="{FF2B5EF4-FFF2-40B4-BE49-F238E27FC236}">
                <a16:creationId xmlns:a16="http://schemas.microsoft.com/office/drawing/2014/main" id="{319BC391-A512-4619-8811-6ECCC5DB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448175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37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83%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D905EC-9BC9-4D15-A7FA-E8049D7F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6457950"/>
            <a:ext cx="55245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14288">
            <a:solidFill>
              <a:srgbClr val="31445E"/>
            </a:solidFill>
          </a:ln>
        </p:spPr>
      </p:sp>
      <p:sp>
        <p:nvSpPr>
          <p:cNvPr id="33" name="КОНСЕРВАТИВНЫЕ ПРАВИЛА">
            <a:extLst xmlns:a="http://schemas.openxmlformats.org/drawingml/2006/main">
              <a:ext uri="{FF2B5EF4-FFF2-40B4-BE49-F238E27FC236}">
                <a16:creationId xmlns:a16="http://schemas.microsoft.com/office/drawing/2014/main" id="{665E01EF-0EA6-4062-BF3F-356E0A57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6686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КОНСЕРВАТИВНЫЕ ПРАВИЛА</a:t>
            </a:r>
          </a:p>
        </p:txBody>
      </p:sp>
      <p:sp>
        <p:nvSpPr>
          <p:cNvPr id="34" name="1">
            <a:extLst xmlns:a="http://schemas.openxmlformats.org/drawingml/2006/main">
              <a:ext uri="{FF2B5EF4-FFF2-40B4-BE49-F238E27FC236}">
                <a16:creationId xmlns:a16="http://schemas.microsoft.com/office/drawing/2014/main" id="{E77B8E10-1F7E-4B44-A48C-DB5DE803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91375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4500" b="1">
                <a:solidFill>
                  <a:srgbClr val="ACBDD3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35" name="2">
            <a:extLst xmlns:a="http://schemas.openxmlformats.org/drawingml/2006/main">
              <a:ext uri="{FF2B5EF4-FFF2-40B4-BE49-F238E27FC236}">
                <a16:creationId xmlns:a16="http://schemas.microsoft.com/office/drawing/2014/main" id="{1592B65A-5C59-4228-B50A-DF04142A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7191375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4500" b="1">
                <a:solidFill>
                  <a:srgbClr val="ACBDD3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36" name="3">
            <a:extLst xmlns:a="http://schemas.openxmlformats.org/drawingml/2006/main">
              <a:ext uri="{FF2B5EF4-FFF2-40B4-BE49-F238E27FC236}">
                <a16:creationId xmlns:a16="http://schemas.microsoft.com/office/drawing/2014/main" id="{251F1AFC-C333-49F0-A945-BDAD8ED8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91375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4500" b="1">
                <a:solidFill>
                  <a:srgbClr val="F29D86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37" name="Старт">
            <a:extLst xmlns:a="http://schemas.openxmlformats.org/drawingml/2006/main">
              <a:ext uri="{FF2B5EF4-FFF2-40B4-BE49-F238E27FC236}">
                <a16:creationId xmlns:a16="http://schemas.microsoft.com/office/drawing/2014/main" id="{2B35CE78-B29B-4BAA-AF28-0C1F4925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8096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Старт</a:t>
            </a:r>
          </a:p>
        </p:txBody>
      </p:sp>
      <p:sp>
        <p:nvSpPr>
          <p:cNvPr id="38" name="≥3 результата 76% / 50%">
            <a:extLst xmlns:a="http://schemas.openxmlformats.org/drawingml/2006/main">
              <a:ext uri="{FF2B5EF4-FFF2-40B4-BE49-F238E27FC236}">
                <a16:creationId xmlns:a16="http://schemas.microsoft.com/office/drawing/2014/main" id="{2380980E-1555-49DD-AF0A-CCF393DF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8048625"/>
            <a:ext cx="1666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≥3 результата</a:t>
            </a:r>
          </a:p>
          <a:p xmlns:a="http://schemas.openxmlformats.org/drawingml/2006/main">
            <a: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76% / 50%</a:t>
            </a:r>
          </a:p>
        </p:txBody>
      </p:sp>
      <p:sp>
        <p:nvSpPr>
          <p:cNvPr id="39" name="≥6 результатов 88% / 80%">
            <a:extLst xmlns:a="http://schemas.openxmlformats.org/drawingml/2006/main">
              <a:ext uri="{FF2B5EF4-FFF2-40B4-BE49-F238E27FC236}">
                <a16:creationId xmlns:a16="http://schemas.microsoft.com/office/drawing/2014/main" id="{361379B1-4C66-4DDA-ADF3-E42C8B58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8048625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rPr>
              <a:t>≥6 результатов</a:t>
            </a:r>
          </a:p>
          <a:p xmlns:a="http://schemas.openxmlformats.org/drawingml/2006/main">
            <a: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rPr>
              <a:t>88% / 80%</a:t>
            </a:r>
          </a:p>
        </p:txBody>
      </p: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CA1519-B7AC-406C-88BF-191974DE3E6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430125" y="592455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686D9A-10D1-4872-B000-D13BF82F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0" y="3171825"/>
            <a:ext cx="4429125" cy="568642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276CEC"/>
          </a:solidFill>
          <a:ln xmlns:a="http://schemas.openxmlformats.org/drawingml/2006/main" w="0">
            <a:noFill/>
          </a:ln>
        </p:spPr>
      </p:sp>
      <p:sp>
        <p:nvSpPr>
          <p:cNvPr id="42" name="СЛЕДУЮЩЕЕ ЗАДАНИЕ">
            <a:extLst xmlns:a="http://schemas.openxmlformats.org/drawingml/2006/main">
              <a:ext uri="{FF2B5EF4-FFF2-40B4-BE49-F238E27FC236}">
                <a16:creationId xmlns:a16="http://schemas.microsoft.com/office/drawing/2014/main" id="{B9E852A0-BFE4-48B4-8287-22E4D1AF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524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СЛЕДУЮЩЕЕ ЗАДАНИЕ</a:t>
            </a:r>
          </a:p>
        </p:txBody>
      </p:sp>
      <p:sp>
        <p:nvSpPr>
          <p:cNvPr id="43" name="По цели и истории">
            <a:extLst xmlns:a="http://schemas.openxmlformats.org/drawingml/2006/main">
              <a:ext uri="{FF2B5EF4-FFF2-40B4-BE49-F238E27FC236}">
                <a16:creationId xmlns:a16="http://schemas.microsoft.com/office/drawing/2014/main" id="{E06EE955-C5AC-4C53-9539-1E28C426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248150"/>
            <a:ext cx="381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По цели</a:t>
            </a:r>
          </a:p>
          <a:p xmlns:a="http://schemas.openxmlformats.org/drawingml/2006/main">
            <a: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и истории</a:t>
            </a:r>
          </a:p>
        </p:txBody>
      </p:sp>
      <p:sp>
        <p:nvSpPr>
          <p:cNvPr id="44" name="Разрешённая версия  Без дублей в плане  Причи">
            <a:extLst xmlns:a="http://schemas.openxmlformats.org/drawingml/2006/main">
              <a:ext uri="{FF2B5EF4-FFF2-40B4-BE49-F238E27FC236}">
                <a16:creationId xmlns:a16="http://schemas.microsoft.com/office/drawing/2014/main" id="{652E05CA-7671-4654-899A-5480AB17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410325"/>
            <a:ext cx="37623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Разрешённая версия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Без дублей в плане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Причина сохранена</a:t>
            </a:r>
          </a:p>
        </p:txBody>
      </p:sp>
      <p:sp>
        <p:nvSpPr>
          <p:cNvPr id="45" name="Отказ и перерыв не считаются ошибкой. LLM и в">
            <a:extLst xmlns:a="http://schemas.openxmlformats.org/drawingml/2006/main">
              <a:ext uri="{FF2B5EF4-FFF2-40B4-BE49-F238E27FC236}">
                <a16:creationId xmlns:a16="http://schemas.microsoft.com/office/drawing/2014/main" id="{2DC028AA-5DD6-4446-AA2C-ECE1DF9A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382125"/>
            <a:ext cx="1685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Отказ и перерыв не считаются ошибкой. LLM и внешняя AI API не участвуют.</a:t>
            </a:r>
          </a:p>
        </p:txBody>
      </p:sp>
    </p:spTree>
    <p:extLst>
      <p:ext uri="{BB962C8B-B14F-4D97-AF65-F5344CB8AC3E}">
        <p14:creationId xmlns:p14="http://schemas.microsoft.com/office/powerpoint/2010/main" val="11330927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ЭКОСИСТЕМА И РАБОЧИЙ ПРОЦЕСС">
            <a:extLst xmlns:a="http://schemas.openxmlformats.org/drawingml/2006/main">
              <a:ext uri="{FF2B5EF4-FFF2-40B4-BE49-F238E27FC236}">
                <a16:creationId xmlns:a16="http://schemas.microsoft.com/office/drawing/2014/main" id="{14B27C25-01B6-464D-BA5D-DDD6BA73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ЭКОСИСТЕМА И РАБОЧИЙ ПРОЦЕСС</a:t>
            </a:r>
          </a:p>
        </p:txBody>
      </p:sp>
      <p:sp>
        <p:nvSpPr>
          <p:cNvPr id="2" name="Практика сохраняет контекст">
            <a:extLst xmlns:a="http://schemas.openxmlformats.org/drawingml/2006/main">
              <a:ext uri="{FF2B5EF4-FFF2-40B4-BE49-F238E27FC236}">
                <a16:creationId xmlns:a16="http://schemas.microsoft.com/office/drawing/2014/main" id="{25069E65-7F06-4F50-AB2F-7500F109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76325"/>
            <a:ext cx="1685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Практика сохраняет контекст</a:t>
            </a:r>
          </a:p>
        </p:txBody>
      </p:sp>
      <p:sp>
        <p:nvSpPr>
          <p:cNvPr id="3" name="В СЕМЬЕ">
            <a:extLst xmlns:a="http://schemas.openxmlformats.org/drawingml/2006/main">
              <a:ext uri="{FF2B5EF4-FFF2-40B4-BE49-F238E27FC236}">
                <a16:creationId xmlns:a16="http://schemas.microsoft.com/office/drawing/2014/main" id="{ED90D74B-5E1C-4195-8FE0-67C03742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В СЕМЬЕ</a:t>
            </a:r>
          </a:p>
        </p:txBody>
      </p:sp>
      <p:sp>
        <p:nvSpPr>
          <p:cNvPr id="4" name="В СИСТЕМЕ">
            <a:extLst xmlns:a="http://schemas.openxmlformats.org/drawingml/2006/main">
              <a:ext uri="{FF2B5EF4-FFF2-40B4-BE49-F238E27FC236}">
                <a16:creationId xmlns:a16="http://schemas.microsoft.com/office/drawing/2014/main" id="{CCC2807E-00BE-4AFE-B88B-71DF731D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9627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В СИСТЕМЕ</a:t>
            </a:r>
          </a:p>
        </p:txBody>
      </p:sp>
      <p:sp>
        <p:nvSpPr>
          <p:cNvPr id="5" name="Домашняя цель">
            <a:extLst xmlns:a="http://schemas.openxmlformats.org/drawingml/2006/main">
              <a:ext uri="{FF2B5EF4-FFF2-40B4-BE49-F238E27FC236}">
                <a16:creationId xmlns:a16="http://schemas.microsoft.com/office/drawing/2014/main" id="{F0CC3D42-22B3-4356-98F8-52CCDC93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4143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Домашняя цель</a:t>
            </a:r>
          </a:p>
        </p:txBody>
      </p:sp>
      <p:sp>
        <p:nvSpPr>
          <p:cNvPr id="6" name="Родитель выбирает действие, которое хочет наб">
            <a:extLst xmlns:a="http://schemas.openxmlformats.org/drawingml/2006/main">
              <a:ext uri="{FF2B5EF4-FFF2-40B4-BE49-F238E27FC236}">
                <a16:creationId xmlns:a16="http://schemas.microsoft.com/office/drawing/2014/main" id="{81CF8F78-4296-4BE3-BAD6-E05AF729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767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Родитель выбирает действие,</a:t>
            </a:r>
          </a:p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которое хочет наблюдать.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E5F4B-E417-4D24-8990-3F64912D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EC"/>
          </a:solidFill>
          <a:ln xmlns:a="http://schemas.openxmlformats.org/drawingml/2006/main" w="19050">
            <a:noFill/>
          </a:ln>
        </p:spPr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0ECD9-4209-45B4-A9B5-AA8544844A2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14675" y="5810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9" name="Версии">
            <a:extLst xmlns:a="http://schemas.openxmlformats.org/drawingml/2006/main">
              <a:ext uri="{FF2B5EF4-FFF2-40B4-BE49-F238E27FC236}">
                <a16:creationId xmlns:a16="http://schemas.microsoft.com/office/drawing/2014/main" id="{D6AC069F-3252-49A0-AC7B-61870F12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92467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Версии</a:t>
            </a:r>
          </a:p>
        </p:txBody>
      </p:sp>
      <p:sp>
        <p:nvSpPr>
          <p:cNvPr id="10" name="Цель + материал + правила">
            <a:extLst xmlns:a="http://schemas.openxmlformats.org/drawingml/2006/main">
              <a:ext uri="{FF2B5EF4-FFF2-40B4-BE49-F238E27FC236}">
                <a16:creationId xmlns:a16="http://schemas.microsoft.com/office/drawing/2014/main" id="{7B97777B-2B37-466D-99A8-E9506E31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858125"/>
            <a:ext cx="4191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Цель + материал + правила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BF537-8C9D-4100-88D6-C781EF95C7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143750" y="35337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BA89A-DFCD-4954-82AF-9DA4433C804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143750" y="73247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13" name="Практика">
            <a:extLst xmlns:a="http://schemas.openxmlformats.org/drawingml/2006/main">
              <a:ext uri="{FF2B5EF4-FFF2-40B4-BE49-F238E27FC236}">
                <a16:creationId xmlns:a16="http://schemas.microsoft.com/office/drawing/2014/main" id="{A8C953B8-F2C9-480F-9D14-507C36CC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4143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Практика</a:t>
            </a:r>
          </a:p>
        </p:txBody>
      </p:sp>
      <p:sp>
        <p:nvSpPr>
          <p:cNvPr id="14" name="Ребёнок выполняет задание доступным способом.">
            <a:extLst xmlns:a="http://schemas.openxmlformats.org/drawingml/2006/main">
              <a:ext uri="{FF2B5EF4-FFF2-40B4-BE49-F238E27FC236}">
                <a16:creationId xmlns:a16="http://schemas.microsoft.com/office/drawing/2014/main" id="{376EC854-7310-4E09-99FA-1035D479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767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Ребёнок выполняет задание</a:t>
            </a:r>
          </a:p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доступным способом.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79AA7-2ED0-457D-B086-6D9FB5F1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EC"/>
          </a:solidFill>
          <a:ln xmlns:a="http://schemas.openxmlformats.org/drawingml/2006/main" w="19050">
            <a:noFill/>
          </a:ln>
        </p:spPr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E425A-2978-4306-A576-F5565E2537C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53425" y="5810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17" name="Результат">
            <a:extLst xmlns:a="http://schemas.openxmlformats.org/drawingml/2006/main">
              <a:ext uri="{FF2B5EF4-FFF2-40B4-BE49-F238E27FC236}">
                <a16:creationId xmlns:a16="http://schemas.microsoft.com/office/drawing/2014/main" id="{86531201-4D61-4D28-BD33-69C5751E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92467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18" name="Ответ + помощь + статус">
            <a:extLst xmlns:a="http://schemas.openxmlformats.org/drawingml/2006/main">
              <a:ext uri="{FF2B5EF4-FFF2-40B4-BE49-F238E27FC236}">
                <a16:creationId xmlns:a16="http://schemas.microsoft.com/office/drawing/2014/main" id="{79A9708F-F8C0-4A27-B277-7113DEA6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58125"/>
            <a:ext cx="4191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Ответ + помощь + статус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80677-D79C-4F8A-B9B5-144785E7742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0" y="35337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4CD76-F25B-43AF-852F-3E8BFE2A160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0" y="73247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1" name="Наблюдение">
            <a:extLst xmlns:a="http://schemas.openxmlformats.org/drawingml/2006/main">
              <a:ext uri="{FF2B5EF4-FFF2-40B4-BE49-F238E27FC236}">
                <a16:creationId xmlns:a16="http://schemas.microsoft.com/office/drawing/2014/main" id="{AF227268-744B-4BC9-9AA3-82ACC902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048000"/>
            <a:ext cx="4143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Наблюдение</a:t>
            </a:r>
          </a:p>
        </p:txBody>
      </p:sp>
      <p:sp>
        <p:nvSpPr>
          <p:cNvPr id="22" name="Семья отмечает помощь и бытовой контекст.">
            <a:extLst xmlns:a="http://schemas.openxmlformats.org/drawingml/2006/main">
              <a:ext uri="{FF2B5EF4-FFF2-40B4-BE49-F238E27FC236}">
                <a16:creationId xmlns:a16="http://schemas.microsoft.com/office/drawing/2014/main" id="{5A9F3208-E826-441C-B861-CD57EAC1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0767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Семья отмечает помощь</a:t>
            </a:r>
          </a:p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и бытовой контекст.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A7C44B-B2D7-48C7-ADEF-1617980E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EC"/>
          </a:solidFill>
          <a:ln xmlns:a="http://schemas.openxmlformats.org/drawingml/2006/main" w="19050">
            <a:noFill/>
          </a:ln>
        </p:spPr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B3677F-6CF1-42A2-9680-E9AA677E962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92175" y="5810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5" name="Следующий план">
            <a:extLst xmlns:a="http://schemas.openxmlformats.org/drawingml/2006/main">
              <a:ext uri="{FF2B5EF4-FFF2-40B4-BE49-F238E27FC236}">
                <a16:creationId xmlns:a16="http://schemas.microsoft.com/office/drawing/2014/main" id="{82CA27FF-F29B-4E52-A428-746C9A5F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692467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Следующий план</a:t>
            </a:r>
          </a:p>
        </p:txBody>
      </p:sp>
      <p:sp>
        <p:nvSpPr>
          <p:cNvPr id="26" name="История + предпочтения">
            <a:extLst xmlns:a="http://schemas.openxmlformats.org/drawingml/2006/main">
              <a:ext uri="{FF2B5EF4-FFF2-40B4-BE49-F238E27FC236}">
                <a16:creationId xmlns:a16="http://schemas.microsoft.com/office/drawing/2014/main" id="{30064EA7-1179-48AF-B145-965E9417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858125"/>
            <a:ext cx="4191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История + предпочтения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29A924-844D-42D1-AB0E-2572B526D9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525750" y="881062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0DAC99-744E-49DD-B0DA-800DB118D5A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57625" y="9334500"/>
            <a:ext cx="11668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F7BFEA-7501-4CCA-8A60-05DF37ABAFD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857625" y="863917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30" name="НОВЫЙ ПЛАН УЧИТЫВАЕТ ПРЕДЫДУЩУЮ ПРАКТИКУ">
            <a:extLst xmlns:a="http://schemas.openxmlformats.org/drawingml/2006/main">
              <a:ext uri="{FF2B5EF4-FFF2-40B4-BE49-F238E27FC236}">
                <a16:creationId xmlns:a16="http://schemas.microsoft.com/office/drawing/2014/main" id="{6A18DE5C-FD18-47AD-9DF8-A3C0FC3D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9544050"/>
            <a:ext cx="1152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НОВЫЙ ПЛАН УЧИТЫВАЕТ ПРЕДЫДУЩУЮ ПРАКТИКУ</a:t>
            </a:r>
          </a:p>
        </p:txBody>
      </p:sp>
    </p:spTree>
    <p:extLst>
      <p:ext uri="{BB962C8B-B14F-4D97-AF65-F5344CB8AC3E}">
        <p14:creationId xmlns:p14="http://schemas.microsoft.com/office/powerpoint/2010/main" val="197290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ECHNOLOGY / ARCHITECTURE">
            <a:extLst xmlns:a="http://schemas.openxmlformats.org/drawingml/2006/main">
              <a:ext uri="{FF2B5EF4-FFF2-40B4-BE49-F238E27FC236}">
                <a16:creationId xmlns:a16="http://schemas.microsoft.com/office/drawing/2014/main" id="{810BB948-2755-494F-8B2B-180CFCA9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TECHNOLOGY / ARCHITECTURE</a:t>
            </a:r>
          </a:p>
        </p:txBody>
      </p:sp>
      <p:sp>
        <p:nvSpPr>
          <p:cNvPr id="2" name="Система с объяснимым ядром">
            <a:extLst xmlns:a="http://schemas.openxmlformats.org/drawingml/2006/main">
              <a:ext uri="{FF2B5EF4-FFF2-40B4-BE49-F238E27FC236}">
                <a16:creationId xmlns:a16="http://schemas.microsoft.com/office/drawing/2014/main" id="{79BC5BAE-FBFA-466C-9C1D-2D896148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1685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Система с объяснимым ядром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9AE8D-7D1F-483C-8197-CF4FC1C7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09875"/>
            <a:ext cx="4572000" cy="1285875"/>
          </a:xfrm>
          <a:prstGeom xmlns:a="http://schemas.openxmlformats.org/drawingml/2006/main" prst="roundRect">
            <a:avLst>
              <a:gd name="adj" fmla="val 16296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4" name="Ребёнок">
            <a:extLst xmlns:a="http://schemas.openxmlformats.org/drawingml/2006/main">
              <a:ext uri="{FF2B5EF4-FFF2-40B4-BE49-F238E27FC236}">
                <a16:creationId xmlns:a16="http://schemas.microsoft.com/office/drawing/2014/main" id="{93C1F24E-58D0-4AD2-BE04-8EFB6B3B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Ребёнок</a:t>
            </a:r>
          </a:p>
        </p:txBody>
      </p:sp>
      <p:sp>
        <p:nvSpPr>
          <p:cNvPr id="5" name="Упражнения и AAC">
            <a:extLst xmlns:a="http://schemas.openxmlformats.org/drawingml/2006/main">
              <a:ext uri="{FF2B5EF4-FFF2-40B4-BE49-F238E27FC236}">
                <a16:creationId xmlns:a16="http://schemas.microsoft.com/office/drawing/2014/main" id="{800F13FA-FA97-436E-B30D-C1A9B826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Упражнения и AAC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49B11-5236-4BD7-83BD-6CB9C08C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2809875"/>
            <a:ext cx="4572000" cy="1285875"/>
          </a:xfrm>
          <a:prstGeom xmlns:a="http://schemas.openxmlformats.org/drawingml/2006/main" prst="roundRect">
            <a:avLst>
              <a:gd name="adj" fmla="val 16296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7" name="Родитель">
            <a:extLst xmlns:a="http://schemas.openxmlformats.org/drawingml/2006/main">
              <a:ext uri="{FF2B5EF4-FFF2-40B4-BE49-F238E27FC236}">
                <a16:creationId xmlns:a16="http://schemas.microsoft.com/office/drawing/2014/main" id="{08C3F1BC-7602-4D37-997B-A8B53693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908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Родитель</a:t>
            </a:r>
          </a:p>
        </p:txBody>
      </p:sp>
      <p:sp>
        <p:nvSpPr>
          <p:cNvPr id="8" name="Цели и наблюдения">
            <a:extLst xmlns:a="http://schemas.openxmlformats.org/drawingml/2006/main">
              <a:ext uri="{FF2B5EF4-FFF2-40B4-BE49-F238E27FC236}">
                <a16:creationId xmlns:a16="http://schemas.microsoft.com/office/drawing/2014/main" id="{43FBDEF3-56BC-4312-94A6-EB17A823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Цели и наблюдения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573B4-B1E9-4CE0-B832-A90B8D2A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6125" y="2809875"/>
            <a:ext cx="4572000" cy="1285875"/>
          </a:xfrm>
          <a:prstGeom xmlns:a="http://schemas.openxmlformats.org/drawingml/2006/main" prst="roundRect">
            <a:avLst>
              <a:gd name="adj" fmla="val 16296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10" name="Администратор">
            <a:extLst xmlns:a="http://schemas.openxmlformats.org/drawingml/2006/main">
              <a:ext uri="{FF2B5EF4-FFF2-40B4-BE49-F238E27FC236}">
                <a16:creationId xmlns:a16="http://schemas.microsoft.com/office/drawing/2014/main" id="{60B7D1FC-F82D-4EA4-A006-B59508ED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908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Администратор</a:t>
            </a:r>
          </a:p>
        </p:txBody>
      </p:sp>
      <p:sp>
        <p:nvSpPr>
          <p:cNvPr id="11" name="Контент и проверки">
            <a:extLst xmlns:a="http://schemas.openxmlformats.org/drawingml/2006/main">
              <a:ext uri="{FF2B5EF4-FFF2-40B4-BE49-F238E27FC236}">
                <a16:creationId xmlns:a16="http://schemas.microsoft.com/office/drawing/2014/main" id="{ADD51814-31C1-4561-A3C3-2BCC46F7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5623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Контент и проверки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67450-14F4-4FF9-9B90-8377B7738F9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95625" y="41148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EBEFC-D7E4-4E29-948D-83F8A0AD02A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41148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40D21-90DC-4942-94B5-A20C3FDD8E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192125" y="41148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BCFC1-37B4-437B-A72C-19065AE70FD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95625" y="466725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A07B5-9C87-40A0-951A-EEBB1D688B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46672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81E8D8-A86A-4B69-8B6A-ECAD4201B1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971612abf408c"/>
          <a:stretch xmlns:a="http://schemas.openxmlformats.org/drawingml/2006/main"/>
        </p:blipFill>
        <p:spPr>
          <a:xfrm xmlns:a="http://schemas.openxmlformats.org/drawingml/2006/main">
            <a:off x="1095375" y="4267200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E57FC9-368C-472B-8C2B-34D3F3886C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868ce79f447af"/>
          <a:stretch xmlns:a="http://schemas.openxmlformats.org/drawingml/2006/main"/>
        </p:blipFill>
        <p:spPr>
          <a:xfrm xmlns:a="http://schemas.openxmlformats.org/drawingml/2006/main">
            <a:off x="1714500" y="426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Next.js 16 / React 19 / TypeScript">
            <a:extLst xmlns:a="http://schemas.openxmlformats.org/drawingml/2006/main">
              <a:ext uri="{FF2B5EF4-FFF2-40B4-BE49-F238E27FC236}">
                <a16:creationId xmlns:a16="http://schemas.microsoft.com/office/drawing/2014/main" id="{51C2DC28-185A-4EF4-BF66-D197D03E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196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Next.js 16 / React 19 / TypeScript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42691-56FB-41F5-848D-89B4F7BF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5105400"/>
            <a:ext cx="7429500" cy="952500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276CEC"/>
          </a:solidFill>
          <a:ln xmlns:a="http://schemas.openxmlformats.org/drawingml/2006/main" w="0">
            <a:noFill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CFADB-8DA8-4308-82A4-6F389763A3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b422e91f7437c"/>
          <a:stretch xmlns:a="http://schemas.openxmlformats.org/drawingml/2006/main"/>
        </p:blipFill>
        <p:spPr>
          <a:xfrm xmlns:a="http://schemas.openxmlformats.org/drawingml/2006/main">
            <a:off x="7762875" y="53149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22" name="FastAPI / Python / JSON API">
            <a:extLst xmlns:a="http://schemas.openxmlformats.org/drawingml/2006/main">
              <a:ext uri="{FF2B5EF4-FFF2-40B4-BE49-F238E27FC236}">
                <a16:creationId xmlns:a16="http://schemas.microsoft.com/office/drawing/2014/main" id="{4ACB16BC-255D-4CC3-BA30-38F419BA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36257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FastAPI / Python / JSON API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71633-7179-410F-B03F-70570A7D543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6057900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C641AA-D53B-4EED-9F32-09DABE2465E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81250" y="6619875"/>
            <a:ext cx="11334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D77288-394E-407A-BA06-99DD77E867D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76500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6CF331-0EC9-4A6C-B95E-2E5B07F6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27" name="Упражнения">
            <a:extLst xmlns:a="http://schemas.openxmlformats.org/drawingml/2006/main">
              <a:ext uri="{FF2B5EF4-FFF2-40B4-BE49-F238E27FC236}">
                <a16:creationId xmlns:a16="http://schemas.microsoft.com/office/drawing/2014/main" id="{FD3FAEF3-540A-4585-AD4B-8E506211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Упражнения</a:t>
            </a:r>
          </a:p>
        </p:txBody>
      </p:sp>
      <p:sp>
        <p:nvSpPr>
          <p:cNvPr id="28" name="Версии и механики">
            <a:extLst xmlns:a="http://schemas.openxmlformats.org/drawingml/2006/main">
              <a:ext uri="{FF2B5EF4-FFF2-40B4-BE49-F238E27FC236}">
                <a16:creationId xmlns:a16="http://schemas.microsoft.com/office/drawing/2014/main" id="{1D45E620-A9F5-4579-800B-BC3A8481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Версии и механики</a:t>
            </a:r>
          </a:p>
        </p:txBody>
      </p: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7442C3-EBA8-4986-A1CC-E86518CFBF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257925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1A1EDA-B740-4236-A261-44CADE35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31" name="Персонализация">
            <a:extLst xmlns:a="http://schemas.openxmlformats.org/drawingml/2006/main">
              <a:ext uri="{FF2B5EF4-FFF2-40B4-BE49-F238E27FC236}">
                <a16:creationId xmlns:a16="http://schemas.microsoft.com/office/drawing/2014/main" id="{B5B1E9AC-5EEA-4314-83BC-17FE09F7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Персонализация</a:t>
            </a:r>
          </a:p>
        </p:txBody>
      </p:sp>
      <p:sp>
        <p:nvSpPr>
          <p:cNvPr id="32" name="Детерминированные правила">
            <a:extLst xmlns:a="http://schemas.openxmlformats.org/drawingml/2006/main">
              <a:ext uri="{FF2B5EF4-FFF2-40B4-BE49-F238E27FC236}">
                <a16:creationId xmlns:a16="http://schemas.microsoft.com/office/drawing/2014/main" id="{52A9F517-2C42-483B-8247-F993DBF0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Детерминированные правила</a:t>
            </a:r>
          </a:p>
        </p:txBody>
      </p: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4F1883-C9C4-45AC-AF67-9DA05EB7CB6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39350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B7EF98-492B-41DF-A8D3-F3C16AAF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2475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35" name="Домашние цели">
            <a:extLst xmlns:a="http://schemas.openxmlformats.org/drawingml/2006/main">
              <a:ext uri="{FF2B5EF4-FFF2-40B4-BE49-F238E27FC236}">
                <a16:creationId xmlns:a16="http://schemas.microsoft.com/office/drawing/2014/main" id="{A0EAA4A5-9545-40DD-91C8-A0F3C791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Домашние цели</a:t>
            </a:r>
          </a:p>
        </p:txBody>
      </p:sp>
      <p:sp>
        <p:nvSpPr>
          <p:cNvPr id="36" name="Наблюдения и помощь">
            <a:extLst xmlns:a="http://schemas.openxmlformats.org/drawingml/2006/main">
              <a:ext uri="{FF2B5EF4-FFF2-40B4-BE49-F238E27FC236}">
                <a16:creationId xmlns:a16="http://schemas.microsoft.com/office/drawing/2014/main" id="{CDE9FEA7-F1CA-422C-AF90-5A999B5D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Наблюдения и помощь</a:t>
            </a:r>
          </a:p>
        </p:txBody>
      </p: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76ED05-DDE0-4ADC-87E3-455259B2BB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820775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BA6811-4338-4F6E-94D4-AF1EC130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3900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39" name="Коммуникация">
            <a:extLst xmlns:a="http://schemas.openxmlformats.org/drawingml/2006/main">
              <a:ext uri="{FF2B5EF4-FFF2-40B4-BE49-F238E27FC236}">
                <a16:creationId xmlns:a16="http://schemas.microsoft.com/office/drawing/2014/main" id="{93D5E1BB-3C42-41E9-8522-A2C80B50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Коммуникация</a:t>
            </a:r>
          </a:p>
        </p:txBody>
      </p:sp>
      <p:sp>
        <p:nvSpPr>
          <p:cNvPr id="40" name="AAC и озвучивание">
            <a:extLst xmlns:a="http://schemas.openxmlformats.org/drawingml/2006/main">
              <a:ext uri="{FF2B5EF4-FFF2-40B4-BE49-F238E27FC236}">
                <a16:creationId xmlns:a16="http://schemas.microsoft.com/office/drawing/2014/main" id="{096DA1FB-AC3D-4226-9DA4-DC104663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AAC и озвучивание</a:t>
            </a:r>
          </a:p>
        </p:txBody>
      </p: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2791DD-CF3E-4F61-AD94-15D05C29B06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839152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BA167F-95E9-48D1-A54E-B8E91ADC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8791575"/>
            <a:ext cx="7429500" cy="952500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D9EB2B-B422-415A-BA3D-3EE603C171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48f884041475d"/>
          <a:stretch xmlns:a="http://schemas.openxmlformats.org/drawingml/2006/main"/>
        </p:blipFill>
        <p:spPr>
          <a:xfrm xmlns:a="http://schemas.openxmlformats.org/drawingml/2006/main">
            <a:off x="7734300" y="8958492"/>
            <a:ext cx="590550" cy="609141"/>
          </a:xfrm>
          <a:prstGeom xmlns:a="http://schemas.openxmlformats.org/drawingml/2006/main" prst="rect">
            <a:avLst/>
          </a:prstGeom>
        </p:spPr>
      </p:pic>
      <p:sp>
        <p:nvSpPr>
          <p:cNvPr id="44" name="SQLite локально / PostgreSQL">
            <a:extLst xmlns:a="http://schemas.openxmlformats.org/drawingml/2006/main">
              <a:ext uri="{FF2B5EF4-FFF2-40B4-BE49-F238E27FC236}">
                <a16:creationId xmlns:a16="http://schemas.microsoft.com/office/drawing/2014/main" id="{BDC96C0A-5EC4-467F-BC58-98129643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991600"/>
            <a:ext cx="595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SQLite локально / PostgreSQL</a:t>
            </a:r>
          </a:p>
        </p:txBody>
      </p:sp>
      <p:sp>
        <p:nvSpPr>
          <p:cNvPr id="45" name="SQL, миграции и статические медиа">
            <a:extLst xmlns:a="http://schemas.openxmlformats.org/drawingml/2006/main">
              <a:ext uri="{FF2B5EF4-FFF2-40B4-BE49-F238E27FC236}">
                <a16:creationId xmlns:a16="http://schemas.microsoft.com/office/drawing/2014/main" id="{25B6D054-EBCC-400E-B43F-C8AF9C85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439275"/>
            <a:ext cx="595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SQL, миграции и статические медиа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F01154-55F1-468A-B478-AF4EAD2C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0" y="2800350"/>
            <a:ext cx="1381125" cy="6953250"/>
          </a:xfrm>
          <a:prstGeom xmlns:a="http://schemas.openxmlformats.org/drawingml/2006/main" prst="roundRect">
            <a:avLst>
              <a:gd name="adj" fmla="val 16552"/>
            </a:avLst>
          </a:prstGeom>
          <a:solidFill xmlns:a="http://schemas.openxmlformats.org/drawingml/2006/main">
            <a:srgbClr val="152D36"/>
          </a:solidFill>
          <a:ln xmlns:a="http://schemas.openxmlformats.org/drawingml/2006/main" w="14288">
            <a:solidFill>
              <a:srgbClr val="4B9F91"/>
            </a:solidFill>
          </a:ln>
        </p:spPr>
      </p:sp>
      <p:sp>
        <p:nvSpPr>
          <p:cNvPr id="47" name="ЗАЩИТА">
            <a:extLst xmlns:a="http://schemas.openxmlformats.org/drawingml/2006/main">
              <a:ext uri="{FF2B5EF4-FFF2-40B4-BE49-F238E27FC236}">
                <a16:creationId xmlns:a16="http://schemas.microsoft.com/office/drawing/2014/main" id="{823A886A-956F-41C5-B98B-75E854CA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25" y="30956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66CFB2"/>
                </a:solidFill>
                <a:latin typeface="Menlo"/>
                <a:ea typeface="Menlo"/>
                <a:cs typeface="Menlo"/>
              </a:rPr>
              <a:t>ЗАЩИТА</a:t>
            </a:r>
          </a:p>
        </p:txBody>
      </p:sp>
      <p:sp>
        <p:nvSpPr>
          <p:cNvPr id="48" name="Роли  Cookie  CSRF  Согласия  Изоляция">
            <a:extLst xmlns:a="http://schemas.openxmlformats.org/drawingml/2006/main">
              <a:ext uri="{FF2B5EF4-FFF2-40B4-BE49-F238E27FC236}">
                <a16:creationId xmlns:a16="http://schemas.microsoft.com/office/drawing/2014/main" id="{56A62DF3-1283-40F9-B9CE-10F36F6C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0150" y="3943350"/>
            <a:ext cx="1190625" cy="538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Роли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Cookie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CSRF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Согласия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Изоляция</a:t>
            </a:r>
          </a:p>
        </p:txBody>
      </p:sp>
    </p:spTree>
    <p:extLst>
      <p:ext uri="{BB962C8B-B14F-4D97-AF65-F5344CB8AC3E}">
        <p14:creationId xmlns:p14="http://schemas.microsoft.com/office/powerpoint/2010/main" val="18556117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A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ОТЛИЧИЯ ПОДХОДА">
            <a:extLst xmlns:a="http://schemas.openxmlformats.org/drawingml/2006/main">
              <a:ext uri="{FF2B5EF4-FFF2-40B4-BE49-F238E27FC236}">
                <a16:creationId xmlns:a16="http://schemas.microsoft.com/office/drawing/2014/main" id="{191910C1-CE6F-4526-9F40-A58F01E0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524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01726"/>
                </a:solidFill>
                <a:latin typeface="Menlo"/>
                <a:ea typeface="Menlo"/>
                <a:cs typeface="Menlo"/>
              </a:rPr>
              <a:t>ОТЛИЧИЯ ПОДХОДА</a:t>
            </a:r>
          </a:p>
        </p:txBody>
      </p:sp>
      <p:sp>
        <p:nvSpPr>
          <p:cNvPr id="2" name="ПОНЯТНО.">
            <a:extLst xmlns:a="http://schemas.openxmlformats.org/drawingml/2006/main">
              <a:ext uri="{FF2B5EF4-FFF2-40B4-BE49-F238E27FC236}">
                <a16:creationId xmlns:a16="http://schemas.microsoft.com/office/drawing/2014/main" id="{D1F46A65-D718-416E-9168-535813BC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000125"/>
            <a:ext cx="1714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ПОНЯТНО.</a:t>
            </a:r>
          </a:p>
        </p:txBody>
      </p:sp>
      <p:sp>
        <p:nvSpPr>
          <p:cNvPr id="3" name="И ребёнку. И взрослому рядом.">
            <a:extLst xmlns:a="http://schemas.openxmlformats.org/drawingml/2006/main">
              <a:ext uri="{FF2B5EF4-FFF2-40B4-BE49-F238E27FC236}">
                <a16:creationId xmlns:a16="http://schemas.microsoft.com/office/drawing/2014/main" id="{878F7368-5335-494A-9407-50DCE2C6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1676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ребёнку. И взрослому рядом.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F1B33-67D5-4FB3-830E-E38AF0708ED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4933950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0C9B7"/>
            </a:solidFill>
            <a:prstDash val="solid"/>
          </a:ln>
        </p:spPr>
      </p:cxnSp>
      <p:sp>
        <p:nvSpPr>
          <p:cNvPr id="5" name="Почему это задание">
            <a:extLst xmlns:a="http://schemas.openxmlformats.org/drawingml/2006/main">
              <a:ext uri="{FF2B5EF4-FFF2-40B4-BE49-F238E27FC236}">
                <a16:creationId xmlns:a16="http://schemas.microsoft.com/office/drawing/2014/main" id="{9C8FD4CF-ACA2-4332-AD50-4D7FC642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Почему это задание</a:t>
            </a:r>
          </a:p>
        </p:txBody>
      </p:sp>
      <p:sp>
        <p:nvSpPr>
          <p:cNvPr id="6" name="Причина подбора сохранена и доступна родителю">
            <a:extLst xmlns:a="http://schemas.openxmlformats.org/drawingml/2006/main">
              <a:ext uri="{FF2B5EF4-FFF2-40B4-BE49-F238E27FC236}">
                <a16:creationId xmlns:a16="http://schemas.microsoft.com/office/drawing/2014/main" id="{5012940C-0F37-4D62-8CCB-423E9AF4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Причина подбора сохранена</a:t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доступна родителю.</a:t>
            </a:r>
          </a:p>
        </p:txBody>
      </p:sp>
      <p:sp>
        <p:nvSpPr>
          <p:cNvPr id="7" name="Коммуникация без оценки">
            <a:extLst xmlns:a="http://schemas.openxmlformats.org/drawingml/2006/main">
              <a:ext uri="{FF2B5EF4-FFF2-40B4-BE49-F238E27FC236}">
                <a16:creationId xmlns:a16="http://schemas.microsoft.com/office/drawing/2014/main" id="{CA2EF860-289F-4456-967A-7712B2C7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534025"/>
            <a:ext cx="7667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Коммуникация без оценки</a:t>
            </a:r>
          </a:p>
        </p:txBody>
      </p:sp>
      <p:sp>
        <p:nvSpPr>
          <p:cNvPr id="8" name="Свободный AAC-режим доступен отдельно от заня">
            <a:extLst xmlns:a="http://schemas.openxmlformats.org/drawingml/2006/main">
              <a:ext uri="{FF2B5EF4-FFF2-40B4-BE49-F238E27FC236}">
                <a16:creationId xmlns:a16="http://schemas.microsoft.com/office/drawing/2014/main" id="{9FDBC938-2BB6-490C-97B1-ACFF918E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7667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Свободный AAC-режим доступен</a:t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отдельно от занятий.</a:t>
            </a:r>
          </a:p>
        </p:txBody>
      </p:sp>
      <p:sp>
        <p:nvSpPr>
          <p:cNvPr id="9" name="Наблюдения отдельно">
            <a:extLst xmlns:a="http://schemas.openxmlformats.org/drawingml/2006/main">
              <a:ext uri="{FF2B5EF4-FFF2-40B4-BE49-F238E27FC236}">
                <a16:creationId xmlns:a16="http://schemas.microsoft.com/office/drawing/2014/main" id="{98AA0074-29A5-426B-8562-469E9961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Наблюдения отдельно</a:t>
            </a:r>
          </a:p>
        </p:txBody>
      </p:sp>
      <p:sp>
        <p:nvSpPr>
          <p:cNvPr id="10" name="Бытовой опыт не становится игровым баллом.">
            <a:extLst xmlns:a="http://schemas.openxmlformats.org/drawingml/2006/main">
              <a:ext uri="{FF2B5EF4-FFF2-40B4-BE49-F238E27FC236}">
                <a16:creationId xmlns:a16="http://schemas.microsoft.com/office/drawing/2014/main" id="{500571F8-26D8-4E72-B846-69284A0D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820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Бытовой опыт не становится игровым баллом.</a:t>
            </a:r>
          </a:p>
        </p:txBody>
      </p:sp>
      <p:sp>
        <p:nvSpPr>
          <p:cNvPr id="11" name="Можно остановиться">
            <a:extLst xmlns:a="http://schemas.openxmlformats.org/drawingml/2006/main">
              <a:ext uri="{FF2B5EF4-FFF2-40B4-BE49-F238E27FC236}">
                <a16:creationId xmlns:a16="http://schemas.microsoft.com/office/drawing/2014/main" id="{10BF5DF2-B1FD-43E5-89FF-ACB15F5C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096250"/>
            <a:ext cx="766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Можно остановиться</a:t>
            </a:r>
          </a:p>
        </p:txBody>
      </p:sp>
      <p:sp>
        <p:nvSpPr>
          <p:cNvPr id="12" name="Отказ и перерыв — отдельные исходы.">
            <a:extLst xmlns:a="http://schemas.openxmlformats.org/drawingml/2006/main">
              <a:ext uri="{FF2B5EF4-FFF2-40B4-BE49-F238E27FC236}">
                <a16:creationId xmlns:a16="http://schemas.microsoft.com/office/drawing/2014/main" id="{33123378-A053-4152-B0E2-34326879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982075"/>
            <a:ext cx="7667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Отказ и перерыв — отдельные исходы.</a:t>
            </a:r>
          </a:p>
        </p:txBody>
      </p:sp>
    </p:spTree>
    <p:extLst>
      <p:ext uri="{BB962C8B-B14F-4D97-AF65-F5344CB8AC3E}">
        <p14:creationId xmlns:p14="http://schemas.microsoft.com/office/powerpoint/2010/main" val="6523429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ТЕКУЩЕЕ СОСТОЯНИЕ / 18.10.2026">
            <a:extLst xmlns:a="http://schemas.openxmlformats.org/drawingml/2006/main">
              <a:ext uri="{FF2B5EF4-FFF2-40B4-BE49-F238E27FC236}">
                <a16:creationId xmlns:a16="http://schemas.microsoft.com/office/drawing/2014/main" id="{AC08A10A-5E77-4990-B46C-46623353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ТЕКУЩЕЕ СОСТОЯНИЕ / 18.10.2026</a:t>
            </a:r>
          </a:p>
        </p:txBody>
      </p:sp>
      <p:sp>
        <p:nvSpPr>
          <p:cNvPr id="2" name="Масштаб уже есть. Следующий этап — проверка.">
            <a:extLst xmlns:a="http://schemas.openxmlformats.org/drawingml/2006/main">
              <a:ext uri="{FF2B5EF4-FFF2-40B4-BE49-F238E27FC236}">
                <a16:creationId xmlns:a16="http://schemas.microsoft.com/office/drawing/2014/main" id="{B75F1563-5C7C-4B2D-BCD8-67948E71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57275"/>
            <a:ext cx="1685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Масштаб уже есть.</a:t>
            </a:r>
          </a:p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Следующий этап — проверка.</a:t>
            </a:r>
          </a:p>
        </p:txBody>
      </p:sp>
      <p:sp>
        <p:nvSpPr>
          <p:cNvPr id="3" name="ЕСТЬ В MVP">
            <a:extLst xmlns:a="http://schemas.openxmlformats.org/drawingml/2006/main">
              <a:ext uri="{FF2B5EF4-FFF2-40B4-BE49-F238E27FC236}">
                <a16:creationId xmlns:a16="http://schemas.microsoft.com/office/drawing/2014/main" id="{5898E421-9463-4AC3-AA84-2D1E6C90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ЕСТЬ В MVP</a:t>
            </a:r>
          </a:p>
        </p:txBody>
      </p:sp>
      <p:sp>
        <p:nvSpPr>
          <p:cNvPr id="4" name="ПРОВЕРИТЬ ДО ПИЛОТА">
            <a:extLst xmlns:a="http://schemas.openxmlformats.org/drawingml/2006/main">
              <a:ext uri="{FF2B5EF4-FFF2-40B4-BE49-F238E27FC236}">
                <a16:creationId xmlns:a16="http://schemas.microsoft.com/office/drawing/2014/main" id="{C2F958AF-0B34-4200-8442-DFA18FCB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242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ПРОВЕРИТЬ ДО ПИЛОТА</a:t>
            </a:r>
          </a:p>
        </p:txBody>
      </p:sp>
      <p:sp>
        <p:nvSpPr>
          <p:cNvPr id="5" name="ЗАПЛАНИРОВАНО">
            <a:extLst xmlns:a="http://schemas.openxmlformats.org/drawingml/2006/main">
              <a:ext uri="{FF2B5EF4-FFF2-40B4-BE49-F238E27FC236}">
                <a16:creationId xmlns:a16="http://schemas.microsoft.com/office/drawing/2014/main" id="{2B15D839-3C48-44BE-82D7-DFEF6110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7242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ЗАПЛАНИРОВАНО</a:t>
            </a:r>
          </a:p>
        </p:txBody>
      </p:sp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128286EC-C86B-4814-8519-CF4F85B1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6245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74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  <p:sp>
        <p:nvSpPr>
          <p:cNvPr id="7" name="заданий в локальном демо">
            <a:extLst xmlns:a="http://schemas.openxmlformats.org/drawingml/2006/main">
              <a:ext uri="{FF2B5EF4-FFF2-40B4-BE49-F238E27FC236}">
                <a16:creationId xmlns:a16="http://schemas.microsoft.com/office/drawing/2014/main" id="{B3206E84-1D2E-41CB-9A82-612D638D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заданий в локальном демо</a:t>
            </a:r>
          </a:p>
        </p:txBody>
      </p:sp>
      <p:sp>
        <p:nvSpPr>
          <p:cNvPr id="8" name="64">
            <a:extLst xmlns:a="http://schemas.openxmlformats.org/drawingml/2006/main">
              <a:ext uri="{FF2B5EF4-FFF2-40B4-BE49-F238E27FC236}">
                <a16:creationId xmlns:a16="http://schemas.microsoft.com/office/drawing/2014/main" id="{90DB9E58-F46F-47E6-8AA1-BAECEDB2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15025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74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64</a:t>
            </a:r>
          </a:p>
        </p:txBody>
      </p:sp>
      <p:sp>
        <p:nvSpPr>
          <p:cNvPr id="9" name="базовые AAC-карточки">
            <a:extLst xmlns:a="http://schemas.openxmlformats.org/drawingml/2006/main">
              <a:ext uri="{FF2B5EF4-FFF2-40B4-BE49-F238E27FC236}">
                <a16:creationId xmlns:a16="http://schemas.microsoft.com/office/drawing/2014/main" id="{9BFDB01F-6CF3-4A1E-829C-1560CEA8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2457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базовые AAC-карточки</a:t>
            </a:r>
          </a:p>
        </p:txBody>
      </p:sp>
      <p:sp>
        <p:nvSpPr>
          <p:cNvPr id="10" name="101">
            <a:extLst xmlns:a="http://schemas.openxmlformats.org/drawingml/2006/main">
              <a:ext uri="{FF2B5EF4-FFF2-40B4-BE49-F238E27FC236}">
                <a16:creationId xmlns:a16="http://schemas.microsoft.com/office/drawing/2014/main" id="{09F34873-6A11-4218-8AFC-C13E8A9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746760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74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101</a:t>
            </a:r>
          </a:p>
        </p:txBody>
      </p:sp>
      <p:sp>
        <p:nvSpPr>
          <p:cNvPr id="11" name="автотест прошёл сейчас">
            <a:extLst xmlns:a="http://schemas.openxmlformats.org/drawingml/2006/main">
              <a:ext uri="{FF2B5EF4-FFF2-40B4-BE49-F238E27FC236}">
                <a16:creationId xmlns:a16="http://schemas.microsoft.com/office/drawing/2014/main" id="{24526531-E3C6-4E1F-8659-44DC92F2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677150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автотест прошёл сейчас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63517-5315-4FDC-8B6C-885DFD24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3225" y="4381500"/>
            <a:ext cx="5267325" cy="43815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B5E9B-6F67-4AAC-A998-A36B4C6140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22b1a44e4417a"/>
          <a:stretch xmlns:a="http://schemas.openxmlformats.org/drawingml/2006/main"/>
        </p:blipFill>
        <p:spPr>
          <a:xfrm xmlns:a="http://schemas.openxmlformats.org/drawingml/2006/main">
            <a:off x="6838950" y="4468147"/>
            <a:ext cx="5095875" cy="4208206"/>
          </a:xfrm>
          <a:prstGeom xmlns:a="http://schemas.openxmlformats.org/drawingml/2006/main" prst="roundRect">
            <a:avLst>
              <a:gd name="adj" fmla="val 3167"/>
            </a:avLst>
          </a:prstGeom>
        </p:spPr>
      </p:pic>
      <p:sp>
        <p:nvSpPr>
          <p:cNvPr id="14" name="Строгий методический каталог пуст. Нужны такж">
            <a:extLst xmlns:a="http://schemas.openxmlformats.org/drawingml/2006/main">
              <a:ext uri="{FF2B5EF4-FFF2-40B4-BE49-F238E27FC236}">
                <a16:creationId xmlns:a16="http://schemas.microsoft.com/office/drawing/2014/main" id="{221718B4-D17C-4E85-9B14-E54DF35B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8896350"/>
            <a:ext cx="5715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Строгий методический каталог пуст.</a:t>
            </a:r>
          </a:p>
          <a:p xmlns:a="http://schemas.openxmlformats.org/drawingml/2006/main">
            <a: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Нужны также проверка данных,</a:t>
            </a:r>
          </a:p>
          <a:p xmlns:a="http://schemas.openxmlformats.org/drawingml/2006/main">
            <a: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устройств и развёртывания.</a:t>
            </a:r>
          </a:p>
        </p:txBody>
      </p:sp>
      <p:sp>
        <p:nvSpPr>
          <p:cNvPr id="15" name="Кабинет специалиста  Организации и биллинг  К">
            <a:extLst xmlns:a="http://schemas.openxmlformats.org/drawingml/2006/main">
              <a:ext uri="{FF2B5EF4-FFF2-40B4-BE49-F238E27FC236}">
                <a16:creationId xmlns:a16="http://schemas.microsoft.com/office/drawing/2014/main" id="{242293BA-35C0-469F-8EC3-59B909EA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572000"/>
            <a:ext cx="4429125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Кабинет специалиста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Организации и биллинг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Казахская локализация</a:t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после отдельной проверки</a:t>
            </a:r>
          </a:p>
        </p:txBody>
      </p:sp>
      <p:sp>
        <p:nvSpPr>
          <p:cNvPr id="16" name="Сейчас: внутреннее техническое демо. Реальный">
            <a:extLst xmlns:a="http://schemas.openxmlformats.org/drawingml/2006/main">
              <a:ext uri="{FF2B5EF4-FFF2-40B4-BE49-F238E27FC236}">
                <a16:creationId xmlns:a16="http://schemas.microsoft.com/office/drawing/2014/main" id="{F232C786-D05A-4205-A456-FF1D86AD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72600"/>
            <a:ext cx="552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Сейчас: внутреннее техническое демо.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Реальный пилот с детьми пока не готов.</a:t>
            </a:r>
          </a:p>
        </p:txBody>
      </p:sp>
    </p:spTree>
    <p:extLst>
      <p:ext uri="{BB962C8B-B14F-4D97-AF65-F5344CB8AC3E}">
        <p14:creationId xmlns:p14="http://schemas.microsoft.com/office/powerpoint/2010/main" val="9001820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2B SAAS / B2B2C / БИЗНЕС-ГИПОТЕЗА">
            <a:extLst xmlns:a="http://schemas.openxmlformats.org/drawingml/2006/main">
              <a:ext uri="{FF2B5EF4-FFF2-40B4-BE49-F238E27FC236}">
                <a16:creationId xmlns:a16="http://schemas.microsoft.com/office/drawing/2014/main" id="{B9B3290A-047C-4582-898E-83212AED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B2B SAAS / B2B2C / БИЗНЕС-ГИПОТЕЗА</a:t>
            </a:r>
          </a:p>
        </p:txBody>
      </p:sp>
      <p:sp>
        <p:nvSpPr>
          <p:cNvPr id="2" name="Центр платит. Семья получает доступ.">
            <a:extLst xmlns:a="http://schemas.openxmlformats.org/drawingml/2006/main">
              <a:ext uri="{FF2B5EF4-FFF2-40B4-BE49-F238E27FC236}">
                <a16:creationId xmlns:a16="http://schemas.microsoft.com/office/drawing/2014/main" id="{770DFE64-CADE-4E1A-B479-20C58C7B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76325"/>
            <a:ext cx="1685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Центр платит.</a:t>
            </a:r>
          </a:p>
          <a:p xmlns:a="http://schemas.openxmlformats.org/drawingml/2006/main">
            <a: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Семья получает доступ.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EF08A-4BF2-439F-BA0A-901A86BB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933825"/>
            <a:ext cx="4095750" cy="328612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A2B43"/>
          </a:solidFill>
          <a:ln xmlns:a="http://schemas.openxmlformats.org/drawingml/2006/main" w="14288">
            <a:solidFill>
              <a:srgbClr val="3A516D"/>
            </a:solidFill>
          </a:ln>
        </p:spPr>
      </p:sp>
      <p:sp>
        <p:nvSpPr>
          <p:cNvPr id="4" name="ПОКУПАТЕЛЬ И ПЛАТЕЛЬЩИК">
            <a:extLst xmlns:a="http://schemas.openxmlformats.org/drawingml/2006/main">
              <a:ext uri="{FF2B5EF4-FFF2-40B4-BE49-F238E27FC236}">
                <a16:creationId xmlns:a16="http://schemas.microsoft.com/office/drawing/2014/main" id="{5B5908C0-2989-436F-AC04-E4B4EAA8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005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ПОКУПАТЕЛЬ И ПЛАТЕЛЬЩИК</a:t>
            </a:r>
          </a:p>
        </p:txBody>
      </p:sp>
      <p:sp>
        <p:nvSpPr>
          <p:cNvPr id="5" name="ЦЕНТР">
            <a:extLst xmlns:a="http://schemas.openxmlformats.org/drawingml/2006/main">
              <a:ext uri="{FF2B5EF4-FFF2-40B4-BE49-F238E27FC236}">
                <a16:creationId xmlns:a16="http://schemas.microsoft.com/office/drawing/2014/main" id="{E14E5846-7CF9-4276-9120-AA2B9C02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ЦЕНТР</a:t>
            </a:r>
          </a:p>
        </p:txBody>
      </p:sp>
      <p:sp>
        <p:nvSpPr>
          <p:cNvPr id="6" name="Руководитель выбирает сервис и бюджет.">
            <a:extLst xmlns:a="http://schemas.openxmlformats.org/drawingml/2006/main">
              <a:ext uri="{FF2B5EF4-FFF2-40B4-BE49-F238E27FC236}">
                <a16:creationId xmlns:a16="http://schemas.microsoft.com/office/drawing/2014/main" id="{8C2A690A-3AA6-4110-BC8A-B9BF3818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15025"/>
            <a:ext cx="352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Руководитель выбирает</a:t>
            </a:r>
          </a:p>
          <a:p xmlns:a="http://schemas.openxmlformats.org/drawingml/2006/main">
            <a: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сервис и бюджет.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A62E6-63D1-4789-81E4-6CDED041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3933825"/>
            <a:ext cx="4095750" cy="2143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76CEC"/>
          </a:solidFill>
          <a:ln xmlns:a="http://schemas.openxmlformats.org/drawingml/2006/main" w="0">
            <a:noFill/>
          </a:ln>
        </p:spPr>
      </p:sp>
      <p:sp>
        <p:nvSpPr>
          <p:cNvPr id="8" name="Söyle">
            <a:extLst xmlns:a="http://schemas.openxmlformats.org/drawingml/2006/main">
              <a:ext uri="{FF2B5EF4-FFF2-40B4-BE49-F238E27FC236}">
                <a16:creationId xmlns:a16="http://schemas.microsoft.com/office/drawing/2014/main" id="{B02FDA63-4ADF-4AAB-B55C-13824347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3148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9" name="Подписка организации">
            <a:extLst xmlns:a="http://schemas.openxmlformats.org/drawingml/2006/main">
              <a:ext uri="{FF2B5EF4-FFF2-40B4-BE49-F238E27FC236}">
                <a16:creationId xmlns:a16="http://schemas.microsoft.com/office/drawing/2014/main" id="{61C4D6A9-DBB3-41CA-896B-F139E937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286375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Подписка организации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E1700-5A57-414A-91E8-8B19B81D487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4610100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11" name="ДЕНЬГИ">
            <a:extLst xmlns:a="http://schemas.openxmlformats.org/drawingml/2006/main">
              <a:ext uri="{FF2B5EF4-FFF2-40B4-BE49-F238E27FC236}">
                <a16:creationId xmlns:a16="http://schemas.microsoft.com/office/drawing/2014/main" id="{5F44F6C6-37F9-475D-9FA6-555FEAF3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1052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ДЕНЬГИ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A3DB0-E454-40EF-ABC0-BC135701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0" y="5410200"/>
            <a:ext cx="3667125" cy="1952625"/>
          </a:xfrm>
          <a:prstGeom xmlns:a="http://schemas.openxmlformats.org/drawingml/2006/main" prst="roundRect">
            <a:avLst>
              <a:gd name="adj" fmla="val 13171"/>
            </a:avLst>
          </a:prstGeom>
          <a:solidFill xmlns:a="http://schemas.openxmlformats.org/drawingml/2006/main">
            <a:srgbClr val="1A2B43"/>
          </a:solidFill>
          <a:ln xmlns:a="http://schemas.openxmlformats.org/drawingml/2006/main" w="14288">
            <a:solidFill>
              <a:srgbClr val="3A516D"/>
            </a:solidFill>
          </a:ln>
        </p:spPr>
      </p:sp>
      <p:sp>
        <p:nvSpPr>
          <p:cNvPr id="13" name="СЕМЬЯ">
            <a:extLst xmlns:a="http://schemas.openxmlformats.org/drawingml/2006/main">
              <a:ext uri="{FF2B5EF4-FFF2-40B4-BE49-F238E27FC236}">
                <a16:creationId xmlns:a16="http://schemas.microsoft.com/office/drawing/2014/main" id="{277D4E92-02A1-4EAF-A166-94278A49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7054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СЕМЬЯ</a:t>
            </a:r>
          </a:p>
        </p:txBody>
      </p:sp>
      <p:sp>
        <p:nvSpPr>
          <p:cNvPr id="14" name="Ребёнок и родитель">
            <a:extLst xmlns:a="http://schemas.openxmlformats.org/drawingml/2006/main">
              <a:ext uri="{FF2B5EF4-FFF2-40B4-BE49-F238E27FC236}">
                <a16:creationId xmlns:a16="http://schemas.microsoft.com/office/drawing/2014/main" id="{ACF07410-86F1-44F6-8D8A-1449B0EF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6667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Ребёнок и родитель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469EA-9567-413F-B307-41387EBCAA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572875" y="5486400"/>
            <a:ext cx="2143125" cy="5810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6CFB2"/>
            </a:solidFill>
            <a:prstDash val="solid"/>
            <a:tailEnd type="arrow" w="med" len="med"/>
          </a:ln>
        </p:spPr>
      </p:cxnSp>
      <p:sp>
        <p:nvSpPr>
          <p:cNvPr id="16" name="Доступ к практике и коммуникации">
            <a:extLst xmlns:a="http://schemas.openxmlformats.org/drawingml/2006/main">
              <a:ext uri="{FF2B5EF4-FFF2-40B4-BE49-F238E27FC236}">
                <a16:creationId xmlns:a16="http://schemas.microsoft.com/office/drawing/2014/main" id="{F0274DB6-27A7-4CFB-9B1B-E7BE047C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21957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rPr>
              <a:t>Доступ к практике</a:t>
            </a:r>
          </a:p>
          <a:p xmlns:a="http://schemas.openxmlformats.org/drawingml/2006/main">
            <a: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rPr>
              <a:t>и коммуникации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04FDE-28F3-48F1-9A33-F5419043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7772400"/>
            <a:ext cx="4095750" cy="1381125"/>
          </a:xfrm>
          <a:prstGeom xmlns:a="http://schemas.openxmlformats.org/drawingml/2006/main" prst="roundRect">
            <a:avLst>
              <a:gd name="adj" fmla="val 16552"/>
            </a:avLst>
          </a:prstGeom>
          <a:solidFill xmlns:a="http://schemas.openxmlformats.org/drawingml/2006/main">
            <a:srgbClr val="1A2B43"/>
          </a:solidFill>
          <a:ln xmlns:a="http://schemas.openxmlformats.org/drawingml/2006/main" w="14288">
            <a:solidFill>
              <a:srgbClr val="3A516D"/>
            </a:solidFill>
          </a:ln>
        </p:spPr>
      </p:sp>
      <p:sp>
        <p:nvSpPr>
          <p:cNvPr id="18" name="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24F9D9A1-DF17-4EDA-A5A8-972B72B3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801052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9" name="Будущий кабинет">
            <a:extLst xmlns:a="http://schemas.openxmlformats.org/drawingml/2006/main">
              <a:ext uri="{FF2B5EF4-FFF2-40B4-BE49-F238E27FC236}">
                <a16:creationId xmlns:a16="http://schemas.microsoft.com/office/drawing/2014/main" id="{4DB416F6-9F93-465E-BAA1-AFF8F16A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8620125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Будущий кабинет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DBE62-3E55-47A1-A5F1-9693782040F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448800" y="6181725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dash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3DB0E3-E9BC-4C6A-AD6D-DCFC2E87479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1572875" y="6962775"/>
            <a:ext cx="2143125" cy="14382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dash"/>
            <a:tailEnd type="arrow" w="med" len="med"/>
          </a:ln>
        </p:spPr>
      </p:cxnSp>
      <p:sp>
        <p:nvSpPr>
          <p:cNvPr id="22" name="ПРОДУКТОВЫЙ ПОТОК">
            <a:extLst xmlns:a="http://schemas.openxmlformats.org/drawingml/2006/main">
              <a:ext uri="{FF2B5EF4-FFF2-40B4-BE49-F238E27FC236}">
                <a16:creationId xmlns:a16="http://schemas.microsoft.com/office/drawing/2014/main" id="{81D336A2-EB1F-4846-B11F-D405060B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15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6CFB2"/>
                </a:solidFill>
                <a:latin typeface="Menlo"/>
                <a:ea typeface="Menlo"/>
                <a:cs typeface="Menlo"/>
              </a:rPr>
              <a:t>ПРОДУКТОВЫЙ ПОТОК</a:t>
            </a:r>
          </a:p>
        </p:txBody>
      </p:sp>
      <p:sp>
        <p:nvSpPr>
          <p:cNvPr id="23" name="За что платят: организация домашней практики,">
            <a:extLst xmlns:a="http://schemas.openxmlformats.org/drawingml/2006/main">
              <a:ext uri="{FF2B5EF4-FFF2-40B4-BE49-F238E27FC236}">
                <a16:creationId xmlns:a16="http://schemas.microsoft.com/office/drawing/2014/main" id="{11BDF036-5CFC-409E-BA8B-59D9AF76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58150"/>
            <a:ext cx="5953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За что платят: организация домашней практики,</a:t>
            </a:r>
          </a:p>
          <a:p xmlns:a="http://schemas.openxmlformats.org/drawingml/2006/main">
            <a: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обновление материалов и поддержка.</a:t>
            </a:r>
          </a:p>
        </p:txBody>
      </p:sp>
      <p:sp>
        <p:nvSpPr>
          <p:cNvPr id="24" name="Семейный продукт работает сейчас. Организацио">
            <a:extLst xmlns:a="http://schemas.openxmlformats.org/drawingml/2006/main">
              <a:ext uri="{FF2B5EF4-FFF2-40B4-BE49-F238E27FC236}">
                <a16:creationId xmlns:a16="http://schemas.microsoft.com/office/drawing/2014/main" id="{326BA292-32B6-45D5-9125-C8D57369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58350"/>
            <a:ext cx="1685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Семейный продукт работает сейчас. Организационный контур и назначения требуют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10769619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VENUE MODEL / ГИПОТЕЗА ДЛЯ ТЕСТИРОВАНИЯ">
            <a:extLst xmlns:a="http://schemas.openxmlformats.org/drawingml/2006/main">
              <a:ext uri="{FF2B5EF4-FFF2-40B4-BE49-F238E27FC236}">
                <a16:creationId xmlns:a16="http://schemas.microsoft.com/office/drawing/2014/main" id="{17EDDE9A-A5BB-4662-A0C7-1C912AD2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REVENUE MODEL / ГИПОТЕЗА ДЛЯ ТЕСТИРОВАНИЯ</a:t>
            </a:r>
          </a:p>
        </p:txBody>
      </p:sp>
      <p:sp>
        <p:nvSpPr>
          <p:cNvPr id="2" name="База за центр. Масштаб — за профили.">
            <a:extLst xmlns:a="http://schemas.openxmlformats.org/drawingml/2006/main">
              <a:ext uri="{FF2B5EF4-FFF2-40B4-BE49-F238E27FC236}">
                <a16:creationId xmlns:a16="http://schemas.microsoft.com/office/drawing/2014/main" id="{E26556D5-0007-4235-831F-BB6EF217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76325"/>
            <a:ext cx="1685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База за центр. Масштаб — за профили.</a:t>
            </a:r>
          </a:p>
        </p:txBody>
      </p:sp>
      <p:sp>
        <p:nvSpPr>
          <p:cNvPr id="3" name="20 000 KZT + 1 000 KZT × max(0, A − 10)">
            <a:extLst xmlns:a="http://schemas.openxmlformats.org/drawingml/2006/main">
              <a:ext uri="{FF2B5EF4-FFF2-40B4-BE49-F238E27FC236}">
                <a16:creationId xmlns:a16="http://schemas.microsoft.com/office/drawing/2014/main" id="{210D5918-CE1B-4FA7-8CE5-CCCE1731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685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4050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20 000 KZT + 1 000 KZT × max(0, A − 10)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1724759-37A9-4F7E-9FE2-26539D7046D1}"/>
              </a:ext>
            </a:extLst>
          </p:cNvPr>
          <p:cNvGraphicFramePr/>
          <p:nvPr/>
        </p:nvGraphicFramePr>
        <p:xfrm>
          <a:off xmlns:a="http://schemas.openxmlformats.org/drawingml/2006/main" x="762000" y="3676650"/>
          <a:ext xmlns:a="http://schemas.openxmlformats.org/drawingml/2006/main" cx="10191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cfc4ac37ac4822"/>
          </a:graphicData>
        </a:graphic>
      </p:graphicFrame>
      <p:sp>
        <p:nvSpPr>
          <p:cNvPr id="5" name="КАБИНЕТ / 8 профилей">
            <a:extLst xmlns:a="http://schemas.openxmlformats.org/drawingml/2006/main">
              <a:ext uri="{FF2B5EF4-FFF2-40B4-BE49-F238E27FC236}">
                <a16:creationId xmlns:a16="http://schemas.microsoft.com/office/drawing/2014/main" id="{2D0EA12E-41DA-4B59-9C71-49C5356F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7528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КАБИНЕТ / 8 профилей</a:t>
            </a:r>
          </a:p>
        </p:txBody>
      </p:sp>
      <p:sp>
        <p:nvSpPr>
          <p:cNvPr id="6" name="20 000 KZT">
            <a:extLst xmlns:a="http://schemas.openxmlformats.org/drawingml/2006/main">
              <a:ext uri="{FF2B5EF4-FFF2-40B4-BE49-F238E27FC236}">
                <a16:creationId xmlns:a16="http://schemas.microsoft.com/office/drawing/2014/main" id="{25F24E68-93FE-42DD-8582-0BD2A6F3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19100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6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20 000 KZT</a:t>
            </a:r>
          </a:p>
        </p:txBody>
      </p:sp>
      <p:sp>
        <p:nvSpPr>
          <p:cNvPr id="7" name="ЦЕНТР / 30 профилей">
            <a:extLst xmlns:a="http://schemas.openxmlformats.org/drawingml/2006/main">
              <a:ext uri="{FF2B5EF4-FFF2-40B4-BE49-F238E27FC236}">
                <a16:creationId xmlns:a16="http://schemas.microsoft.com/office/drawing/2014/main" id="{6EE552D6-96E6-47C1-8DE0-898BB00A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1339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ЦЕНТР / 30 профилей</a:t>
            </a:r>
          </a:p>
        </p:txBody>
      </p:sp>
      <p:sp>
        <p:nvSpPr>
          <p:cNvPr id="8" name="40 000 KZT">
            <a:extLst xmlns:a="http://schemas.openxmlformats.org/drawingml/2006/main">
              <a:ext uri="{FF2B5EF4-FFF2-40B4-BE49-F238E27FC236}">
                <a16:creationId xmlns:a16="http://schemas.microsoft.com/office/drawing/2014/main" id="{72141DA1-C830-4098-86BB-A54C20D1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572125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6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40 000 KZT</a:t>
            </a:r>
          </a:p>
        </p:txBody>
      </p:sp>
      <p:sp>
        <p:nvSpPr>
          <p:cNvPr id="9" name="ОРГАНИЗАЦИЯ / 80 профилей">
            <a:extLst xmlns:a="http://schemas.openxmlformats.org/drawingml/2006/main">
              <a:ext uri="{FF2B5EF4-FFF2-40B4-BE49-F238E27FC236}">
                <a16:creationId xmlns:a16="http://schemas.microsoft.com/office/drawing/2014/main" id="{43467817-CAE9-4F53-844C-09763A13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5151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ОРГАНИЗАЦИЯ / 80 профилей</a:t>
            </a:r>
          </a:p>
        </p:txBody>
      </p:sp>
      <p:sp>
        <p:nvSpPr>
          <p:cNvPr id="10" name="90 000 KZT">
            <a:extLst xmlns:a="http://schemas.openxmlformats.org/drawingml/2006/main">
              <a:ext uri="{FF2B5EF4-FFF2-40B4-BE49-F238E27FC236}">
                <a16:creationId xmlns:a16="http://schemas.microsoft.com/office/drawing/2014/main" id="{EF413FF8-8F95-44AE-BF63-4A975DAD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9532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6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90 000 KZT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345A9-6212-4304-AED7-978037BB0C2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8258175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ED8E5"/>
            </a:solidFill>
            <a:prstDash val="solid"/>
          </a:ln>
        </p:spPr>
      </p:cxnSp>
      <p:sp>
        <p:nvSpPr>
          <p:cNvPr id="12" name="Центр">
            <a:extLst xmlns:a="http://schemas.openxmlformats.org/drawingml/2006/main">
              <a:ext uri="{FF2B5EF4-FFF2-40B4-BE49-F238E27FC236}">
                <a16:creationId xmlns:a16="http://schemas.microsoft.com/office/drawing/2014/main" id="{55D62FED-C1FE-4F71-B07C-2C03BDE6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010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Центр</a:t>
            </a:r>
          </a:p>
        </p:txBody>
      </p:sp>
      <p:sp>
        <p:nvSpPr>
          <p:cNvPr id="13" name="Просто, но один платёж не отражает масштаб.">
            <a:extLst xmlns:a="http://schemas.openxmlformats.org/drawingml/2006/main">
              <a:ext uri="{FF2B5EF4-FFF2-40B4-BE49-F238E27FC236}">
                <a16:creationId xmlns:a16="http://schemas.microsoft.com/office/drawing/2014/main" id="{13572443-1FF9-494E-83B2-F0EBF83B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9162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Просто, но один платёж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не отражает масштаб.</a:t>
            </a:r>
          </a:p>
        </p:txBody>
      </p:sp>
      <p:sp>
        <p:nvSpPr>
          <p:cNvPr id="14" name="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00F3D02E-406B-45D0-B893-22B7845A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6010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5" name="Плата за место может мешать совместной работе">
            <a:extLst xmlns:a="http://schemas.openxmlformats.org/drawingml/2006/main">
              <a:ext uri="{FF2B5EF4-FFF2-40B4-BE49-F238E27FC236}">
                <a16:creationId xmlns:a16="http://schemas.microsoft.com/office/drawing/2014/main" id="{3CEE91C1-55BD-4D8D-875A-E977BB65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19162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Плата за место может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мешать совместной работе.</a:t>
            </a:r>
          </a:p>
        </p:txBody>
      </p:sp>
      <p:sp>
        <p:nvSpPr>
          <p:cNvPr id="16" name="Смешанная модель — для старта">
            <a:extLst xmlns:a="http://schemas.openxmlformats.org/drawingml/2006/main">
              <a:ext uri="{FF2B5EF4-FFF2-40B4-BE49-F238E27FC236}">
                <a16:creationId xmlns:a16="http://schemas.microsoft.com/office/drawing/2014/main" id="{2AFC2C84-2976-449C-B2AD-5D953B14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6010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Смешанная модель — для старта</a:t>
            </a:r>
          </a:p>
        </p:txBody>
      </p:sp>
      <p:sp>
        <p:nvSpPr>
          <p:cNvPr id="17" name="База покрывает сопровождение. Профили связыва">
            <a:extLst xmlns:a="http://schemas.openxmlformats.org/drawingml/2006/main">
              <a:ext uri="{FF2B5EF4-FFF2-40B4-BE49-F238E27FC236}">
                <a16:creationId xmlns:a16="http://schemas.microsoft.com/office/drawing/2014/main" id="{BFDD29B5-BF04-4B51-BE77-AAB20E1B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919162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База покрывает сопровождение.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Профили связывают цену с масштабом.</a:t>
            </a:r>
          </a:p>
        </p:txBody>
      </p:sp>
    </p:spTree>
    <p:extLst>
      <p:ext uri="{BB962C8B-B14F-4D97-AF65-F5344CB8AC3E}">
        <p14:creationId xmlns:p14="http://schemas.microsoft.com/office/powerpoint/2010/main" val="16843320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CONOMICS / СЦЕНАРИИ, НЕ ПРОДАЖИ">
            <a:extLst xmlns:a="http://schemas.openxmlformats.org/drawingml/2006/main">
              <a:ext uri="{FF2B5EF4-FFF2-40B4-BE49-F238E27FC236}">
                <a16:creationId xmlns:a16="http://schemas.microsoft.com/office/drawing/2014/main" id="{8300D6C4-6717-4786-A765-1F7BDB4E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ECONOMICS / СЦЕНАРИИ, НЕ ПРОДАЖИ</a:t>
            </a:r>
          </a:p>
        </p:txBody>
      </p:sp>
      <p:sp>
        <p:nvSpPr>
          <p:cNvPr id="2" name="Одна модель. Три масштаба.">
            <a:extLst xmlns:a="http://schemas.openxmlformats.org/drawingml/2006/main">
              <a:ext uri="{FF2B5EF4-FFF2-40B4-BE49-F238E27FC236}">
                <a16:creationId xmlns:a16="http://schemas.microsoft.com/office/drawing/2014/main" id="{20A1FDC6-4ED0-43F7-8D98-7F58523D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57275"/>
            <a:ext cx="1685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Одна модель. Три масштаба.</a:t>
            </a:r>
          </a:p>
        </p:txBody>
      </p:sp>
      <p:sp>
        <p:nvSpPr>
          <p:cNvPr id="3" name="MRR ≠ ПРИБЫЛЬ">
            <a:extLst xmlns:a="http://schemas.openxmlformats.org/drawingml/2006/main">
              <a:ext uri="{FF2B5EF4-FFF2-40B4-BE49-F238E27FC236}">
                <a16:creationId xmlns:a16="http://schemas.microsoft.com/office/drawing/2014/main" id="{E64A43E2-8F9A-4C20-952E-A57998E1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095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MRR ≠ ПРИБЫЛЬ</a:t>
            </a:r>
          </a:p>
        </p:txBody>
      </p:sp>
      <p:sp>
        <p:nvSpPr>
          <p:cNvPr id="4" name="MRR ПРИ 30 ОРГАНИЗАЦИЯХ">
            <a:extLst xmlns:a="http://schemas.openxmlformats.org/drawingml/2006/main">
              <a:ext uri="{FF2B5EF4-FFF2-40B4-BE49-F238E27FC236}">
                <a16:creationId xmlns:a16="http://schemas.microsoft.com/office/drawing/2014/main" id="{93915C81-F4D2-4580-9B4D-26F92D66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MRR ПРИ 30 ОРГАНИЗАЦИЯХ</a:t>
            </a:r>
          </a:p>
        </p:txBody>
      </p:sp>
      <p:sp>
        <p:nvSpPr>
          <p:cNvPr id="5" name="1 380 000">
            <a:extLst xmlns:a="http://schemas.openxmlformats.org/drawingml/2006/main">
              <a:ext uri="{FF2B5EF4-FFF2-40B4-BE49-F238E27FC236}">
                <a16:creationId xmlns:a16="http://schemas.microsoft.com/office/drawing/2014/main" id="{C032C177-B3EA-4449-860C-743A9E2B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766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86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1 380 000</a:t>
            </a:r>
          </a:p>
        </p:txBody>
      </p:sp>
      <p:sp>
        <p:nvSpPr>
          <p:cNvPr id="6" name="KZT / месяц">
            <a:extLst xmlns:a="http://schemas.openxmlformats.org/drawingml/2006/main">
              <a:ext uri="{FF2B5EF4-FFF2-40B4-BE49-F238E27FC236}">
                <a16:creationId xmlns:a16="http://schemas.microsoft.com/office/drawing/2014/main" id="{0AD29097-308F-4924-989B-E2BF11E7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KZT / месяц</a:t>
            </a:r>
          </a:p>
        </p:txBody>
      </p:sp>
      <p:sp>
        <p:nvSpPr>
          <p:cNvPr id="7" name="30 × 46 000 KZT">
            <a:extLst xmlns:a="http://schemas.openxmlformats.org/drawingml/2006/main">
              <a:ext uri="{FF2B5EF4-FFF2-40B4-BE49-F238E27FC236}">
                <a16:creationId xmlns:a16="http://schemas.microsoft.com/office/drawing/2014/main" id="{7E372A2C-4DCC-43E6-8652-1291EBB8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438900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3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30 × 46 000 KZT</a:t>
            </a:r>
          </a:p>
        </p:txBody>
      </p:sp>
      <p:sp>
        <p:nvSpPr>
          <p:cNvPr id="8" name="Одинаковый состав клиентов: 20% кабинеты / 60">
            <a:extLst xmlns:a="http://schemas.openxmlformats.org/drawingml/2006/main">
              <a:ext uri="{FF2B5EF4-FFF2-40B4-BE49-F238E27FC236}">
                <a16:creationId xmlns:a16="http://schemas.microsoft.com/office/drawing/2014/main" id="{2512C113-E4CE-4763-9CB4-B44F4A97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210425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Одинаковый состав клиентов:</a:t>
            </a:r>
          </a:p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20% кабинеты / 60% центры / 20% организации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7F194F52-ED56-4090-8DB1-665183111968}"/>
              </a:ext>
            </a:extLst>
          </p:cNvPr>
          <p:cNvGraphicFramePr/>
          <p:nvPr/>
        </p:nvGraphicFramePr>
        <p:xfrm>
          <a:off xmlns:a="http://schemas.openxmlformats.org/drawingml/2006/main" x="9201150" y="2809875"/>
          <a:ext xmlns:a="http://schemas.openxmlformats.org/drawingml/2006/main" cx="8382000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3760c6b90e4757"/>
          </a:graphicData>
        </a:graphic>
      </p:graphicFrame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F7CBE-BC82-4BFF-90F7-439343D24E3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8515350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ED8E5"/>
            </a:solidFill>
            <a:prstDash val="solid"/>
          </a:ln>
        </p:spPr>
      </p:cxnSp>
      <p:sp>
        <p:nvSpPr>
          <p:cNvPr id="11" name="Постоянные затраты">
            <a:extLst xmlns:a="http://schemas.openxmlformats.org/drawingml/2006/main">
              <a:ext uri="{FF2B5EF4-FFF2-40B4-BE49-F238E27FC236}">
                <a16:creationId xmlns:a16="http://schemas.microsoft.com/office/drawing/2014/main" id="{9AC9782C-66C5-410B-BA2F-BFF559E0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487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Постоянные затраты</a:t>
            </a:r>
          </a:p>
        </p:txBody>
      </p:sp>
      <p:sp>
        <p:nvSpPr>
          <p:cNvPr id="12" name="Разработка, методическая работа, базовая инфр">
            <a:extLst xmlns:a="http://schemas.openxmlformats.org/drawingml/2006/main">
              <a:ext uri="{FF2B5EF4-FFF2-40B4-BE49-F238E27FC236}">
                <a16:creationId xmlns:a16="http://schemas.microsoft.com/office/drawing/2014/main" id="{BDE30818-E3C4-45F8-AA42-32995284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297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Разработка, методическая работа, базовая инфраструктура</a:t>
            </a:r>
          </a:p>
        </p:txBody>
      </p:sp>
      <p:sp>
        <p:nvSpPr>
          <p:cNvPr id="13" name="Зависят от масштаба">
            <a:extLst xmlns:a="http://schemas.openxmlformats.org/drawingml/2006/main">
              <a:ext uri="{FF2B5EF4-FFF2-40B4-BE49-F238E27FC236}">
                <a16:creationId xmlns:a16="http://schemas.microsoft.com/office/drawing/2014/main" id="{175FF5F3-2D36-4969-AC75-1BC94C8D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84872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Зависят от масштаба</a:t>
            </a:r>
          </a:p>
        </p:txBody>
      </p:sp>
      <p:sp>
        <p:nvSpPr>
          <p:cNvPr id="14" name="Хранение, поддержка, подключение и привлечени">
            <a:extLst xmlns:a="http://schemas.openxmlformats.org/drawingml/2006/main">
              <a:ext uri="{FF2B5EF4-FFF2-40B4-BE49-F238E27FC236}">
                <a16:creationId xmlns:a16="http://schemas.microsoft.com/office/drawing/2014/main" id="{8B0D93F5-183E-4DF6-847E-B8AA2D0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94297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Хранение, поддержка, подключение и привлечение центров</a:t>
            </a:r>
          </a:p>
        </p:txBody>
      </p:sp>
    </p:spTree>
    <p:extLst>
      <p:ext uri="{BB962C8B-B14F-4D97-AF65-F5344CB8AC3E}">
        <p14:creationId xmlns:p14="http://schemas.microsoft.com/office/powerpoint/2010/main" val="6932569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-TO-MARKET / ПЛАН ВНЕДРЕНИЯ">
            <a:extLst xmlns:a="http://schemas.openxmlformats.org/drawingml/2006/main">
              <a:ext uri="{FF2B5EF4-FFF2-40B4-BE49-F238E27FC236}">
                <a16:creationId xmlns:a16="http://schemas.microsoft.com/office/drawing/2014/main" id="{503B5E4C-6E69-46FB-83D7-87903E07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GO-TO-MARKET / ПЛАН ВНЕДРЕНИЯ</a:t>
            </a:r>
          </a:p>
        </p:txBody>
      </p:sp>
      <p:sp>
        <p:nvSpPr>
          <p:cNvPr id="2" name="Один центр. Проверяемый запуск.">
            <a:extLst xmlns:a="http://schemas.openxmlformats.org/drawingml/2006/main">
              <a:ext uri="{FF2B5EF4-FFF2-40B4-BE49-F238E27FC236}">
                <a16:creationId xmlns:a16="http://schemas.microsoft.com/office/drawing/2014/main" id="{30F934FE-2D10-4CB8-B8DD-75A6287C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1685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Один центр.</a:t>
            </a:r>
          </a:p>
          <a:p xmlns:a="http://schemas.openxmlformats.org/drawingml/2006/main">
            <a: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Проверяемый запуск.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26F77AA0-2C5A-4B8C-937D-094C86A8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4" name="Готовность">
            <a:extLst xmlns:a="http://schemas.openxmlformats.org/drawingml/2006/main">
              <a:ext uri="{FF2B5EF4-FFF2-40B4-BE49-F238E27FC236}">
                <a16:creationId xmlns:a16="http://schemas.microsoft.com/office/drawing/2014/main" id="{7008A49D-9D5A-4573-989F-75A774ED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484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Готовность</a:t>
            </a:r>
          </a:p>
        </p:txBody>
      </p:sp>
      <p:sp>
        <p:nvSpPr>
          <p:cNvPr id="5" name="Методика, данные, устройства и доступность.">
            <a:extLst xmlns:a="http://schemas.openxmlformats.org/drawingml/2006/main">
              <a:ext uri="{FF2B5EF4-FFF2-40B4-BE49-F238E27FC236}">
                <a16:creationId xmlns:a16="http://schemas.microsoft.com/office/drawing/2014/main" id="{108D461D-9B0C-41D3-B22A-C2B7BD32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10475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Методика, данные,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устройства и доступность.</a:t>
            </a:r>
          </a:p>
        </p:txBody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E45A9-AEC8-43B9-8231-21E0CB90013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81500" y="73152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3D1A1-71EA-44FD-9481-24D6568DEFE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953000" y="641032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8A1FF-E61D-4911-93C0-6009DBB3E87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641032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4C778182-658A-4FC4-95B1-504E1714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482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Пилот">
            <a:extLst xmlns:a="http://schemas.openxmlformats.org/drawingml/2006/main">
              <a:ext uri="{FF2B5EF4-FFF2-40B4-BE49-F238E27FC236}">
                <a16:creationId xmlns:a16="http://schemas.microsoft.com/office/drawing/2014/main" id="{CA801B2E-5A20-498F-9A0B-614CFC59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743575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Пилот</a:t>
            </a:r>
          </a:p>
        </p:txBody>
      </p:sp>
      <p:sp>
        <p:nvSpPr>
          <p:cNvPr id="11" name="Выполнимость сценариев и время специалиста.">
            <a:extLst xmlns:a="http://schemas.openxmlformats.org/drawingml/2006/main">
              <a:ext uri="{FF2B5EF4-FFF2-40B4-BE49-F238E27FC236}">
                <a16:creationId xmlns:a16="http://schemas.microsoft.com/office/drawing/2014/main" id="{3A72FF9A-BB30-4963-983E-1E0B23AA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705600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Выполнимость сценариев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и время специалиста.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E0D82-4089-4F64-9704-C1AB4317CF6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715375" y="64103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0DD5C-0D1A-47BF-9647-255A7F57889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286875" y="5505450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EFF7E-4F98-49FC-A8B3-7275B287A1D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286875" y="55054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FBA42DC0-105A-49E0-AE5F-FCFB00B5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433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6" name="Платный запуск">
            <a:extLst xmlns:a="http://schemas.openxmlformats.org/drawingml/2006/main">
              <a:ext uri="{FF2B5EF4-FFF2-40B4-BE49-F238E27FC236}">
                <a16:creationId xmlns:a16="http://schemas.microsoft.com/office/drawing/2014/main" id="{58966E5C-5F1F-4BFE-B585-71DC7266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3870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Платный запуск</a:t>
            </a:r>
          </a:p>
        </p:txBody>
      </p:sp>
      <p:sp>
        <p:nvSpPr>
          <p:cNvPr id="17" name="Готовность платить и повторное использование.">
            <a:extLst xmlns:a="http://schemas.openxmlformats.org/drawingml/2006/main">
              <a:ext uri="{FF2B5EF4-FFF2-40B4-BE49-F238E27FC236}">
                <a16:creationId xmlns:a16="http://schemas.microsoft.com/office/drawing/2014/main" id="{0B4C2B9C-16BF-4E3C-BC35-89E0077C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800725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Готовность платить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и повторное использование.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1EC0E-DEA3-436D-8604-480FEB67EF6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049250" y="55054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3FB263-DE79-4CF8-8513-D2DE33A2659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3620750" y="46005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01CBB-1283-45A2-9741-787FCDD0A1E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620750" y="46005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1" name="04">
            <a:extLst xmlns:a="http://schemas.openxmlformats.org/drawingml/2006/main">
              <a:ext uri="{FF2B5EF4-FFF2-40B4-BE49-F238E27FC236}">
                <a16:creationId xmlns:a16="http://schemas.microsoft.com/office/drawing/2014/main" id="{3A6651D6-491F-461D-AC6A-3E1F2B2B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30384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2" name="Расширение">
            <a:extLst xmlns:a="http://schemas.openxmlformats.org/drawingml/2006/main">
              <a:ext uri="{FF2B5EF4-FFF2-40B4-BE49-F238E27FC236}">
                <a16:creationId xmlns:a16="http://schemas.microsoft.com/office/drawing/2014/main" id="{52C20F17-1C1D-4AB9-BCCE-124E7A5A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3933825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Расширение</a:t>
            </a:r>
          </a:p>
        </p:txBody>
      </p:sp>
      <p:sp>
        <p:nvSpPr>
          <p:cNvPr id="23" name="Поддержка, организации и проверенные языки.">
            <a:extLst xmlns:a="http://schemas.openxmlformats.org/drawingml/2006/main">
              <a:ext uri="{FF2B5EF4-FFF2-40B4-BE49-F238E27FC236}">
                <a16:creationId xmlns:a16="http://schemas.microsoft.com/office/drawing/2014/main" id="{F6D4149B-676D-4147-988D-9A4704DC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4895850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Поддержка, организации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и проверенные языки.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989EB1-F405-4551-80E6-C8243C26CD4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8867775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45E"/>
            </a:solidFill>
            <a:prstDash val="solid"/>
          </a:ln>
        </p:spPr>
      </p:cxnSp>
      <p:sp>
        <p:nvSpPr>
          <p:cNvPr id="25" name="ПОДКЛЮЧЕНИЕ ОДНОГО ЦЕНТРА">
            <a:extLst xmlns:a="http://schemas.openxmlformats.org/drawingml/2006/main">
              <a:ext uri="{FF2B5EF4-FFF2-40B4-BE49-F238E27FC236}">
                <a16:creationId xmlns:a16="http://schemas.microsoft.com/office/drawing/2014/main" id="{2E44B8C1-622E-44F0-BDB6-7FFE1BC1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220200"/>
            <a:ext cx="1676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ПОДКЛЮЧЕНИЕ ОДНОГО ЦЕНТРА</a:t>
            </a:r>
          </a:p>
        </p:txBody>
      </p:sp>
      <p:sp>
        <p:nvSpPr>
          <p:cNvPr id="26" name="Ответственный специалист → согласованный спис">
            <a:extLst xmlns:a="http://schemas.openxmlformats.org/drawingml/2006/main">
              <a:ext uri="{FF2B5EF4-FFF2-40B4-BE49-F238E27FC236}">
                <a16:creationId xmlns:a16="http://schemas.microsoft.com/office/drawing/2014/main" id="{3B5BEDCC-AB47-406B-BF67-BB8AA040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48825"/>
            <a:ext cx="1685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Ответственный специалист → согласованный список семей → обучение → совместный разбор практики</a:t>
            </a:r>
          </a:p>
        </p:txBody>
      </p:sp>
    </p:spTree>
    <p:extLst>
      <p:ext uri="{BB962C8B-B14F-4D97-AF65-F5344CB8AC3E}">
        <p14:creationId xmlns:p14="http://schemas.microsoft.com/office/powerpoint/2010/main" val="13569382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76C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ÖYLE / EVERY VOICE MATTERS">
            <a:extLst xmlns:a="http://schemas.openxmlformats.org/drawingml/2006/main">
              <a:ext uri="{FF2B5EF4-FFF2-40B4-BE49-F238E27FC236}">
                <a16:creationId xmlns:a16="http://schemas.microsoft.com/office/drawing/2014/main" id="{BC9F434C-883D-4B70-8F2C-E16703CF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"/>
            <a:ext cx="1524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SÖYLE / EVERY VOICE MATTERS</a:t>
            </a:r>
          </a:p>
        </p:txBody>
      </p:sp>
      <p:sp>
        <p:nvSpPr>
          <p:cNvPr id="2" name="Быть услышанным.">
            <a:extLst xmlns:a="http://schemas.openxmlformats.org/drawingml/2006/main">
              <a:ext uri="{FF2B5EF4-FFF2-40B4-BE49-F238E27FC236}">
                <a16:creationId xmlns:a16="http://schemas.microsoft.com/office/drawing/2014/main" id="{A1FAFF66-0203-4464-BA55-EC70E46E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19200"/>
            <a:ext cx="16954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Быть</a:t>
            </a:r>
          </a:p>
          <a:p xmlns:a="http://schemas.openxmlformats.org/drawingml/2006/main">
            <a: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услышанным.</a:t>
            </a:r>
          </a:p>
        </p:txBody>
      </p:sp>
      <p:sp>
        <p:nvSpPr>
          <p:cNvPr id="3" name="Коммуникация и домашняя практика рядом с семь">
            <a:extLst xmlns:a="http://schemas.openxmlformats.org/drawingml/2006/main">
              <a:ext uri="{FF2B5EF4-FFF2-40B4-BE49-F238E27FC236}">
                <a16:creationId xmlns:a16="http://schemas.microsoft.com/office/drawing/2014/main" id="{CB3F280D-2D12-4970-A6DE-A1C233E2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676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Коммуникация и домашняя практика рядом с семьёй.</a:t>
            </a:r>
          </a:p>
        </p:txBody>
      </p:sp>
      <p:sp>
        <p:nvSpPr>
          <p:cNvPr id="4" name="Вспомогательная система. Не заменяет логопеда">
            <a:extLst xmlns:a="http://schemas.openxmlformats.org/drawingml/2006/main">
              <a:ext uri="{FF2B5EF4-FFF2-40B4-BE49-F238E27FC236}">
                <a16:creationId xmlns:a16="http://schemas.microsoft.com/office/drawing/2014/main" id="{73DEC194-EF77-45D0-BD1E-D7433AC7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0275"/>
            <a:ext cx="1676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Вспомогательная система. Не заменяет логопеда или медицинскую помощь.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72580-83D2-49AF-89FF-4136FD70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" y="6391275"/>
            <a:ext cx="15030450" cy="3857625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9C00F-7C93-42B9-8BCE-E3C162C02E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d30c5e7484a6b"/>
          <a:stretch xmlns:a="http://schemas.openxmlformats.org/drawingml/2006/main"/>
        </p:blipFill>
        <p:spPr>
          <a:xfrm xmlns:a="http://schemas.openxmlformats.org/drawingml/2006/main">
            <a:off x="1718612" y="6477000"/>
            <a:ext cx="14850777" cy="3686175"/>
          </a:xfrm>
          <a:prstGeom xmlns:a="http://schemas.openxmlformats.org/drawingml/2006/main" prst="roundRect">
            <a:avLst>
              <a:gd name="adj" fmla="val 6977"/>
            </a:avLst>
          </a:prstGeom>
        </p:spPr>
      </p:pic>
    </p:spTree>
    <p:extLst>
      <p:ext uri="{BB962C8B-B14F-4D97-AF65-F5344CB8AC3E}">
        <p14:creationId xmlns:p14="http://schemas.microsoft.com/office/powerpoint/2010/main" val="268688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19125" dist="228600" dir="5400000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2026-10-18T17:59:42.9630000Z</dcterms:created>
  <dcterms:modified xsi:type="dcterms:W3CDTF">2026-10-18T17:59:42.9630000Z</dcterms:modified>
</coreProperties>
</file>